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333"/>
                </a:solidFill>
                <a:latin typeface="+mj-lt"/>
              </a:defRPr>
            </a:pPr>
            <a:r>
              <a:rPr sz="1600" b="0" i="0" u="none" strike="noStrike">
                <a:solidFill>
                  <a:srgbClr val="1B2333"/>
                </a:solidFill>
                <a:latin typeface="+mj-lt"/>
              </a:rPr>
              <a:t>HI-Small (0,18 % illicites)</a:t>
            </a:r>
          </a:p>
        </c:rich>
      </c:tx>
      <c:layout/>
      <c:overlay val="0"/>
    </c:title>
    <c:autoTitleDeleted val="0"/>
    <c:plotArea>
      <c:layout/>
      <c:barChart>
        <c:barDir val="bar"/>
        <c:grouping val="stacked"/>
        <c:varyColors val="0"/>
        <c:ser>
          <c:idx val="0"/>
          <c:order val="0"/>
          <c:tx>
            <c:strRef>
              <c:f>Sheet1!$B$1</c:f>
              <c:strCache>
                <c:ptCount val="1"/>
                <c:pt idx="0">
                  <c:v>Modèles appris</c:v>
                </c:pt>
              </c:strCache>
            </c:strRef>
          </c:tx>
          <c:spPr>
            <a:solidFill>
              <a:srgbClr val="00A99D"/>
            </a:solidFill>
            <a:effectLst/>
          </c:spPr>
          <c:invertIfNegative val="0"/>
          <c:dLbls>
            <c:numFmt formatCode="0.000;-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Rég. logistique</c:v>
                  </c:pt>
                  <c:pt idx="1">
                    <c:v>GCN</c:v>
                  </c:pt>
                  <c:pt idx="2">
                    <c:v>GAT</c:v>
                  </c:pt>
                  <c:pt idx="3">
                    <c:v>XGBoost</c:v>
                  </c:pt>
                  <c:pt idx="4">
                    <c:v>HistGB</c:v>
                  </c:pt>
                  <c:pt idx="5">
                    <c:v>Forêt aléatoire</c:v>
                  </c:pt>
                  <c:pt idx="6">
                    <c:v>Motifs (règles)</c:v>
                  </c:pt>
                  <c:pt idx="7">
                    <c:v>GraphSAGE</c:v>
                  </c:pt>
                </c:lvl>
              </c:multiLvlStrCache>
            </c:multiLvlStrRef>
          </c:cat>
          <c:val>
            <c:numRef>
              <c:f>Sheet1!$B$2:$B$9</c:f>
              <c:numCache>
                <c:formatCode>General</c:formatCode>
                <c:ptCount val="8"/>
                <c:pt idx="0">
                  <c:v>0.294170107324845</c:v>
                </c:pt>
                <c:pt idx="1">
                  <c:v>0.3738948490218283</c:v>
                </c:pt>
                <c:pt idx="2">
                  <c:v>0.4470990823684044</c:v>
                </c:pt>
                <c:pt idx="3">
                  <c:v>0.47358813085077006</c:v>
                </c:pt>
                <c:pt idx="4">
                  <c:v>0.4758290215460221</c:v>
                </c:pt>
                <c:pt idx="5">
                  <c:v>0.499020026988468</c:v>
                </c:pt>
                <c:pt idx="6">
                  <c:v>0</c:v>
                </c:pt>
                <c:pt idx="7">
                  <c:v>0.5313052554701629</c:v>
                </c:pt>
              </c:numCache>
            </c:numRef>
          </c:val>
        </c:ser>
        <c:ser>
          <c:idx val="1"/>
          <c:order val="1"/>
          <c:tx>
            <c:strRef>
              <c:f>Sheet1!$C$1</c:f>
              <c:strCache>
                <c:ptCount val="1"/>
                <c:pt idx="0">
                  <c:v>Règles</c:v>
                </c:pt>
              </c:strCache>
            </c:strRef>
          </c:tx>
          <c:spPr>
            <a:solidFill>
              <a:srgbClr val="F2545B"/>
            </a:solidFill>
            <a:effectLst/>
          </c:spPr>
          <c:invertIfNegative val="0"/>
          <c:dLbls>
            <c:numFmt formatCode="0.000;-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Rég. logistique</c:v>
                  </c:pt>
                  <c:pt idx="1">
                    <c:v>GCN</c:v>
                  </c:pt>
                  <c:pt idx="2">
                    <c:v>GAT</c:v>
                  </c:pt>
                  <c:pt idx="3">
                    <c:v>XGBoost</c:v>
                  </c:pt>
                  <c:pt idx="4">
                    <c:v>HistGB</c:v>
                  </c:pt>
                  <c:pt idx="5">
                    <c:v>Forêt aléatoire</c:v>
                  </c:pt>
                  <c:pt idx="6">
                    <c:v>Motifs (règles)</c:v>
                  </c:pt>
                  <c:pt idx="7">
                    <c:v>GraphSAGE</c:v>
                  </c:pt>
                </c:lvl>
              </c:multiLvlStrCache>
            </c:multiLvlStrRef>
          </c:cat>
          <c:val>
            <c:numRef>
              <c:f>Sheet1!$C$2:$C$9</c:f>
              <c:numCache>
                <c:formatCode>General</c:formatCode>
                <c:ptCount val="8"/>
                <c:pt idx="0">
                  <c:v>0</c:v>
                </c:pt>
                <c:pt idx="1">
                  <c:v>0</c:v>
                </c:pt>
                <c:pt idx="2">
                  <c:v>0</c:v>
                </c:pt>
                <c:pt idx="3">
                  <c:v>0</c:v>
                </c:pt>
                <c:pt idx="4">
                  <c:v>0</c:v>
                </c:pt>
                <c:pt idx="5">
                  <c:v>0</c:v>
                </c:pt>
                <c:pt idx="6">
                  <c:v>0.5031823547936786</c:v>
                </c:pt>
                <c:pt idx="7">
                  <c:v>0</c:v>
                </c:pt>
              </c:numCache>
            </c:numRef>
          </c:val>
        </c:ser>
        <c:dLbls>
          <c:numFmt formatCode="0.000;-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9525" cap="flat">
              <a:solidFill>
                <a:srgbClr val="E1E6E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333"/>
                </a:solidFill>
                <a:latin typeface="+mj-lt"/>
              </a:defRPr>
            </a:pPr>
            <a:r>
              <a:rPr sz="1600" b="0" i="0" u="none" strike="noStrike">
                <a:solidFill>
                  <a:srgbClr val="1B2333"/>
                </a:solidFill>
                <a:latin typeface="+mj-lt"/>
              </a:rPr>
              <a:t>LI-Small (0,07 % illicites)</a:t>
            </a:r>
          </a:p>
        </c:rich>
      </c:tx>
      <c:layout/>
      <c:overlay val="0"/>
    </c:title>
    <c:autoTitleDeleted val="0"/>
    <c:plotArea>
      <c:layout/>
      <c:barChart>
        <c:barDir val="bar"/>
        <c:grouping val="stacked"/>
        <c:varyColors val="0"/>
        <c:ser>
          <c:idx val="0"/>
          <c:order val="0"/>
          <c:tx>
            <c:strRef>
              <c:f>Sheet1!$B$1</c:f>
              <c:strCache>
                <c:ptCount val="1"/>
                <c:pt idx="0">
                  <c:v>Modèles appris</c:v>
                </c:pt>
              </c:strCache>
            </c:strRef>
          </c:tx>
          <c:spPr>
            <a:solidFill>
              <a:srgbClr val="00A99D"/>
            </a:solidFill>
            <a:effectLst/>
          </c:spPr>
          <c:invertIfNegative val="0"/>
          <c:dLbls>
            <c:numFmt formatCode="0.000;-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Rég. logistique</c:v>
                  </c:pt>
                  <c:pt idx="1">
                    <c:v>GCN</c:v>
                  </c:pt>
                  <c:pt idx="2">
                    <c:v>XGBoost</c:v>
                  </c:pt>
                  <c:pt idx="3">
                    <c:v>HistGB</c:v>
                  </c:pt>
                  <c:pt idx="4">
                    <c:v>GAT</c:v>
                  </c:pt>
                  <c:pt idx="5">
                    <c:v>GraphSAGE</c:v>
                  </c:pt>
                  <c:pt idx="6">
                    <c:v>Motifs (règles)</c:v>
                  </c:pt>
                  <c:pt idx="7">
                    <c:v>Forêt aléatoire</c:v>
                  </c:pt>
                </c:lvl>
              </c:multiLvlStrCache>
            </c:multiLvlStrRef>
          </c:cat>
          <c:val>
            <c:numRef>
              <c:f>Sheet1!$B$2:$B$9</c:f>
              <c:numCache>
                <c:formatCode>General</c:formatCode>
                <c:ptCount val="8"/>
                <c:pt idx="0">
                  <c:v>0.031961900860042</c:v>
                </c:pt>
                <c:pt idx="1">
                  <c:v>0.07387351913525057</c:v>
                </c:pt>
                <c:pt idx="2">
                  <c:v>0.07772090788865531</c:v>
                </c:pt>
                <c:pt idx="3">
                  <c:v>0.10632318391903367</c:v>
                </c:pt>
                <c:pt idx="4">
                  <c:v>0.11003164593814618</c:v>
                </c:pt>
                <c:pt idx="5">
                  <c:v>0.17640590227835298</c:v>
                </c:pt>
                <c:pt idx="6">
                  <c:v>0</c:v>
                </c:pt>
                <c:pt idx="7">
                  <c:v>0.1906257845083834</c:v>
                </c:pt>
              </c:numCache>
            </c:numRef>
          </c:val>
        </c:ser>
        <c:ser>
          <c:idx val="1"/>
          <c:order val="1"/>
          <c:tx>
            <c:strRef>
              <c:f>Sheet1!$C$1</c:f>
              <c:strCache>
                <c:ptCount val="1"/>
                <c:pt idx="0">
                  <c:v>Règles</c:v>
                </c:pt>
              </c:strCache>
            </c:strRef>
          </c:tx>
          <c:spPr>
            <a:solidFill>
              <a:srgbClr val="F2545B"/>
            </a:solidFill>
            <a:effectLst/>
          </c:spPr>
          <c:invertIfNegative val="0"/>
          <c:dLbls>
            <c:numFmt formatCode="0.000;-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Rég. logistique</c:v>
                  </c:pt>
                  <c:pt idx="1">
                    <c:v>GCN</c:v>
                  </c:pt>
                  <c:pt idx="2">
                    <c:v>XGBoost</c:v>
                  </c:pt>
                  <c:pt idx="3">
                    <c:v>HistGB</c:v>
                  </c:pt>
                  <c:pt idx="4">
                    <c:v>GAT</c:v>
                  </c:pt>
                  <c:pt idx="5">
                    <c:v>GraphSAGE</c:v>
                  </c:pt>
                  <c:pt idx="6">
                    <c:v>Motifs (règles)</c:v>
                  </c:pt>
                  <c:pt idx="7">
                    <c:v>Forêt aléatoire</c:v>
                  </c:pt>
                </c:lvl>
              </c:multiLvlStrCache>
            </c:multiLvlStrRef>
          </c:cat>
          <c:val>
            <c:numRef>
              <c:f>Sheet1!$C$2:$C$9</c:f>
              <c:numCache>
                <c:formatCode>General</c:formatCode>
                <c:ptCount val="8"/>
                <c:pt idx="0">
                  <c:v>0</c:v>
                </c:pt>
                <c:pt idx="1">
                  <c:v>0</c:v>
                </c:pt>
                <c:pt idx="2">
                  <c:v>0</c:v>
                </c:pt>
                <c:pt idx="3">
                  <c:v>0</c:v>
                </c:pt>
                <c:pt idx="4">
                  <c:v>0</c:v>
                </c:pt>
                <c:pt idx="5">
                  <c:v>0</c:v>
                </c:pt>
                <c:pt idx="6">
                  <c:v>0.1885601726898129</c:v>
                </c:pt>
                <c:pt idx="7">
                  <c:v>0</c:v>
                </c:pt>
              </c:numCache>
            </c:numRef>
          </c:val>
        </c:ser>
        <c:dLbls>
          <c:numFmt formatCode="0.000;-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9525" cap="flat">
              <a:solidFill>
                <a:srgbClr val="E1E6E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333"/>
                </a:solidFill>
                <a:latin typeface="+mj-lt"/>
              </a:defRPr>
            </a:pPr>
            <a:r>
              <a:rPr sz="1600" b="0" i="0" u="none" strike="noStrike">
                <a:solidFill>
                  <a:srgbClr val="1B2333"/>
                </a:solidFill>
                <a:latin typeface="+mj-lt"/>
              </a:rPr>
              <a:t>PR-AUC test · IBM HI-Small</a:t>
            </a:r>
          </a:p>
        </c:rich>
      </c:tx>
      <c:layout/>
      <c:overlay val="0"/>
    </c:title>
    <c:autoTitleDeleted val="0"/>
    <c:plotArea>
      <c:layout/>
      <c:barChart>
        <c:barDir val="col"/>
        <c:grouping val="clustered"/>
        <c:varyColors val="0"/>
        <c:ser>
          <c:idx val="0"/>
          <c:order val="0"/>
          <c:tx>
            <c:strRef>
              <c:f>Sheet1!$B$1</c:f>
              <c:strCache>
                <c:ptCount val="1"/>
                <c:pt idx="0">
                  <c:v>Modèle seul</c:v>
                </c:pt>
              </c:strCache>
            </c:strRef>
          </c:tx>
          <c:spPr>
            <a:solidFill>
              <a:srgbClr val="9AA7BD"/>
            </a:solidFill>
            <a:effectLst/>
          </c:spPr>
          <c:invertIfNegative val="0"/>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Forêt aléatoire</c:v>
                  </c:pt>
                  <c:pt idx="1">
                    <c:v>HistGB</c:v>
                  </c:pt>
                  <c:pt idx="2">
                    <c:v>GraphSAGE</c:v>
                  </c:pt>
                </c:lvl>
              </c:multiLvlStrCache>
            </c:multiLvlStrRef>
          </c:cat>
          <c:val>
            <c:numRef>
              <c:f>Sheet1!$B$2:$B$4</c:f>
              <c:numCache>
                <c:formatCode>General</c:formatCode>
                <c:ptCount val="3"/>
                <c:pt idx="0">
                  <c:v>0.519191201556582</c:v>
                </c:pt>
                <c:pt idx="1">
                  <c:v>0.4840182241694832</c:v>
                </c:pt>
                <c:pt idx="2">
                  <c:v>0.5040902291239077</c:v>
                </c:pt>
              </c:numCache>
            </c:numRef>
          </c:val>
        </c:ser>
        <c:ser>
          <c:idx val="1"/>
          <c:order val="1"/>
          <c:tx>
            <c:strRef>
              <c:f>Sheet1!$C$1</c:f>
              <c:strCache>
                <c:ptCount val="1"/>
                <c:pt idx="0">
                  <c:v>Motifs seuls</c:v>
                </c:pt>
              </c:strCache>
            </c:strRef>
          </c:tx>
          <c:spPr>
            <a:solidFill>
              <a:srgbClr val="F2545B"/>
            </a:solidFill>
            <a:effectLst/>
          </c:spPr>
          <c:invertIfNegative val="0"/>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Forêt aléatoire</c:v>
                  </c:pt>
                  <c:pt idx="1">
                    <c:v>HistGB</c:v>
                  </c:pt>
                  <c:pt idx="2">
                    <c:v>GraphSAGE</c:v>
                  </c:pt>
                </c:lvl>
              </c:multiLvlStrCache>
            </c:multiLvlStrRef>
          </c:cat>
          <c:val>
            <c:numRef>
              <c:f>Sheet1!$C$2:$C$4</c:f>
              <c:numCache>
                <c:formatCode>General</c:formatCode>
                <c:ptCount val="3"/>
                <c:pt idx="0">
                  <c:v>0.5031823547936786</c:v>
                </c:pt>
                <c:pt idx="1">
                  <c:v>0.5031823547936786</c:v>
                </c:pt>
                <c:pt idx="2">
                  <c:v>0.5031823547936786</c:v>
                </c:pt>
              </c:numCache>
            </c:numRef>
          </c:val>
        </c:ser>
        <c:ser>
          <c:idx val="2"/>
          <c:order val="2"/>
          <c:tx>
            <c:strRef>
              <c:f>Sheet1!$D$1</c:f>
              <c:strCache>
                <c:ptCount val="1"/>
                <c:pt idx="0">
                  <c:v>Hybride</c:v>
                </c:pt>
              </c:strCache>
            </c:strRef>
          </c:tx>
          <c:spPr>
            <a:solidFill>
              <a:srgbClr val="00A99D"/>
            </a:solidFill>
            <a:effectLst/>
          </c:spPr>
          <c:invertIfNegative val="0"/>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Forêt aléatoire</c:v>
                  </c:pt>
                  <c:pt idx="1">
                    <c:v>HistGB</c:v>
                  </c:pt>
                  <c:pt idx="2">
                    <c:v>GraphSAGE</c:v>
                  </c:pt>
                </c:lvl>
              </c:multiLvlStrCache>
            </c:multiLvlStrRef>
          </c:cat>
          <c:val>
            <c:numRef>
              <c:f>Sheet1!$D$2:$D$4</c:f>
              <c:numCache>
                <c:formatCode>General</c:formatCode>
                <c:ptCount val="3"/>
                <c:pt idx="0">
                  <c:v>0.6144112616655207</c:v>
                </c:pt>
                <c:pt idx="1">
                  <c:v>0.6406504988398848</c:v>
                </c:pt>
                <c:pt idx="2">
                  <c:v>0.640986633213547</c:v>
                </c:pt>
              </c:numCache>
            </c:numRef>
          </c:val>
        </c:ser>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75"/>
          <c:min val="0"/>
        </c:scaling>
        <c:delete val="0"/>
        <c:axPos val="l"/>
        <c:majorGridlines>
          <c:spPr>
            <a:ln w="9525" cap="flat">
              <a:solidFill>
                <a:srgbClr val="E1E6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333"/>
                </a:solidFill>
                <a:latin typeface="+mj-lt"/>
              </a:defRPr>
            </a:pPr>
            <a:r>
              <a:rPr sz="1600" b="0" i="0" u="none" strike="noStrike">
                <a:solidFill>
                  <a:srgbClr val="1B2333"/>
                </a:solidFill>
                <a:latin typeface="+mj-lt"/>
              </a:rPr>
              <a:t>PR-AUC test · pas de temps 35–49</a:t>
            </a:r>
          </a:p>
        </c:rich>
      </c:tx>
      <c:layout/>
      <c:overlay val="0"/>
    </c:title>
    <c:autoTitleDeleted val="0"/>
    <c:plotArea>
      <c:layout/>
      <c:barChart>
        <c:barDir val="col"/>
        <c:grouping val="clustered"/>
        <c:varyColors val="0"/>
        <c:ser>
          <c:idx val="0"/>
          <c:order val="0"/>
          <c:tx>
            <c:strRef>
              <c:f>Sheet1!$B$1</c:f>
              <c:strCache>
                <c:ptCount val="1"/>
                <c:pt idx="0">
                  <c:v>PR-AUC</c:v>
                </c:pt>
              </c:strCache>
            </c:strRef>
          </c:tx>
          <c:spPr>
            <a:solidFill>
              <a:srgbClr val="F5B700"/>
            </a:solidFill>
            <a:effectLst/>
          </c:spPr>
          <c:invertIfNegative val="0"/>
          <c:dLbls>
            <c:numFmt formatCode="0.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cat>
            <c:multiLvlStrRef>
              <c:f>Sheet1!$A$2:$A$8</c:f>
              <c:multiLvlStrCache>
                <c:ptCount val="7"/>
                <c:lvl>
                  <c:pt idx="0">
                    <c:v>HistGB</c:v>
                  </c:pt>
                  <c:pt idx="1">
                    <c:v>XGBoost</c:v>
                  </c:pt>
                  <c:pt idx="2">
                    <c:v>Forêt aléatoire</c:v>
                  </c:pt>
                  <c:pt idx="3">
                    <c:v>GraphSAGE</c:v>
                  </c:pt>
                  <c:pt idx="4">
                    <c:v>GAT</c:v>
                  </c:pt>
                  <c:pt idx="5">
                    <c:v>GCN</c:v>
                  </c:pt>
                  <c:pt idx="6">
                    <c:v>Rég. logistique</c:v>
                  </c:pt>
                </c:lvl>
              </c:multiLvlStrCache>
            </c:multiLvlStrRef>
          </c:cat>
          <c:val>
            <c:numRef>
              <c:f>Sheet1!$B$2:$B$8</c:f>
              <c:numCache>
                <c:formatCode>General</c:formatCode>
                <c:ptCount val="7"/>
                <c:pt idx="0">
                  <c:v>0.7898600030996206</c:v>
                </c:pt>
                <c:pt idx="1">
                  <c:v>0.7883312329980416</c:v>
                </c:pt>
                <c:pt idx="2">
                  <c:v>0.7864230274242345</c:v>
                </c:pt>
                <c:pt idx="3">
                  <c:v>0.4972331499847466</c:v>
                </c:pt>
                <c:pt idx="4">
                  <c:v>0.3514873292531289</c:v>
                </c:pt>
                <c:pt idx="5">
                  <c:v>0.3004450294578483</c:v>
                </c:pt>
                <c:pt idx="6">
                  <c:v>0.2091307806010545</c:v>
                </c:pt>
              </c:numCache>
            </c:numRef>
          </c:val>
        </c:ser>
        <c:dLbls>
          <c:numFmt formatCode="0.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6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AML-GraphMiner, une boîte à outils open source qui détecte le blanchiment d'argent dans des graphes de transactions et explique chaque alerte. Le graphe à droite illustre l'idée : le blanchiment se cache dans des structures — ici un cycle en rouge — au milieu de transactions ordinaires.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Selon l'ONUDC, environ 1 600 milliards de dollars ont été blanchis en 2009, 2,7 % du PIB mondial. Mais à l'échelle d'une banque, c'est une aiguille dans une botte de foin : 0,10 % des transactions du jeu IBM HI-Small, sur plus de 5 millions. Les systèmes à règles noient les analystes sous les fausses alertes ; les réseaux de neurones sur graphes sont prometteurs mais peu reproductibles et peu explicables. Or le GAFI et la BCEAO exigent des décisions justifiables.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cahier des charges fixe six objectifs : ingérer les données et construire les graphes, détecter les motifs classiques, entraîner trois GNN, expliquer les alertes, évaluer rigoureusement face aux modèles de référence, et fournir des interfaces : API REST, ligne de commande et, en plus, une interface web d'investigation.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est organisé en six couches ; chacune ne dépend que de celles du dessous. Les dépendances lourdes, PyTorch ou FastAPI, sont optionnelles : le cœur tourne sur un simple portable. Tous les détecteurs partagent la même interface — fit, score, save, load — ce qui permet de les servir, de les comparer et de les combiner.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jeux publics : IBM HI-Small et LI-Small, des transactions bancaires simulées avec leurs motifs de blanchiment annotés, et Elliptic, un graphe Bitcoin. L'analyse exploratoire a révélé des indices décisifs, par exemple que le blanchiment passe presque toujours par des virements 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des résultats comparables, le découpage est temporel : 60 % pour apprendre, 20 % pour régler, 20 % pour mesurer, une seule fois. Les caractéristiques n'utilisent jamais le futur — des tests unitaires le vérifient en modifiant les données futures — et chaque modèle est entraîné sur trois graines.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scanner détecte sept structures sans aucun apprentissage : collecte (fan-in), dispersion (fan-out), cycles, scatter-gather, gather-scatter, relais — le motif « stack » d'IBM — et communautés de comptes relais. Chaque alerte garde ses preuves : comptes, transactions, montants convertis en dollars. Le pourcentage indique la part des transactions de chaque motif annoté retrouvée par son propre détecteur sur le test HI-Small.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jalon J2 demandait une PR-AUC supérieure à 0,5 avec les seuls motifs. Au départ : 0,005. Le diagnostic a montré que les motifs IBM changent de devise à chaque saut et durent plusieurs jours : conversion des montants et contexte historique, puis restriction aux virements ACH : 0,340. Ensuite, fans plus longs et exclusions : 0,399. Enfin un détecteur de relais et une précision calibrée par tranche de score : 0,503, avec un intervalle de confiance de 0,479 à 0,526 — l'objectif est atteint, de justesse. Tous les réglages ont été choisis sur la validation ; 36 % du blanchiment n'appartient à aucun motif, ce qui plafonne toute approche à base de règles.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HI-Small, GraphSAGE obtient 0,531 en moyenne sur trois graines, juste devant les motifs (0,503) et la forêt aléatoire (0,499). Sur LI-Small, beaucoup plus difficile avec 0,07 % de transactions illicites, la forêt aléatoire mène (0,191), les motifs suivent de près (0,189), devant HistGB, GCN et GAT.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approches sont complémentaires. Un modèle déjà entraîné est combiné aux motifs par une régression logistique à trois coefficients, apprise sur la validation. Sur HI-Small, chaque combinaison dépasse ses deux parties : jusqu'à 0,641 avec HistGB ou GraphSAGE. Sur LI-Small, la forêt aléatoire passe de 0,191 à 0,236. Ces modèles viennent de Kaggle, sans réentraînement, sur une seule graine.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Elliptic, les modèles à base d'arbres atteignent environ 0,79 alors que le meilleur GNN reste à 0,497. C'est une raison de plus pour toujours comparer les familles de modèles sous le même protocole, ce que fait l'outil.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alerte est expliquée. Pour les motifs, la preuve est exacte : ici un cycle de trois comptes. Pour les modèles, six méthodes sont disponibles. Point important : l'outil mesure l'effet réel du voisinage. Pour GraphSAGE, retirer les transactions voisines ne change presque pas le score, ce qui explique pourquoi PGExplainer rend des masques vides : c'est la bonne réponse, et Captum devient alors la vue la plus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mêmes fonctions sont accessibles par une interface web d'investigation, la ligne de commande amlgm, une API REST documentée en OpenAPI 3.1 et une image Docker. La qualité est contrôlée par 475 tests automatiques, 98 % du code couvert, et une intégration continue sur Linux, Windows et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 : les jalons J1 à J3 sont atteints, J2 de justesse. Les livrables techniques sont prêts ; restent les étapes de publication qui demandent les comptes personnels : dépôt public et DOI, PyPI, documentation en ligne, modèles sur Hugging Face, déploiement de l'API, soumission de l'article et rédaction du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Limites : les données IBM sont simulées ; certains réglages, comme la restriction aux virements ACH, sont propres au simulateur ; et 36 % du blanchiment n'appartient à aucun motif. Perspectives : des GNN temporels et hétérogènes, l'apprentissage fédéré entre banques, et surtout une validation sur des données réelles.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Je peux faire une démonstration en direct avec la commande affichée : elle ouvre l'interface d'investigation sur des données synthétiques, sans aucune préparation.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1.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p:bgPr>
    </p:bg>
    <p:spTree>
      <p:nvGrpSpPr>
        <p:cNvPr id="1" name=""/>
        <p:cNvGrpSpPr/>
        <p:nvPr/>
      </p:nvGrpSpPr>
      <p:grpSpPr>
        <a:xfrm>
          <a:off x="0" y="0"/>
          <a:ext cx="0" cy="0"/>
          <a:chOff x="0" y="0"/>
          <a:chExt cx="0" cy="0"/>
        </a:xfrm>
      </p:grpSpPr>
      <p:sp>
        <p:nvSpPr>
          <p:cNvPr id="2" name="a1_net_e0"/>
          <p:cNvSpPr/>
          <p:nvPr/>
        </p:nvSpPr>
        <p:spPr>
          <a:xfrm flipV="1">
            <a:off x="8201088" y="1169516"/>
            <a:ext cx="1392244" cy="205672"/>
          </a:xfrm>
          <a:prstGeom prst="line">
            <a:avLst/>
          </a:prstGeom>
          <a:noFill/>
          <a:ln w="22225">
            <a:solidFill>
              <a:srgbClr val="8A95A8"/>
            </a:solidFill>
            <a:prstDash val="solid"/>
            <a:tailEnd type="triangle"/>
          </a:ln>
        </p:spPr>
      </p:sp>
      <p:sp>
        <p:nvSpPr>
          <p:cNvPr id="3" name="a1_net_e1"/>
          <p:cNvSpPr/>
          <p:nvPr/>
        </p:nvSpPr>
        <p:spPr>
          <a:xfrm>
            <a:off x="9794284" y="1208437"/>
            <a:ext cx="1226308" cy="828156"/>
          </a:xfrm>
          <a:prstGeom prst="line">
            <a:avLst/>
          </a:prstGeom>
          <a:noFill/>
          <a:ln w="22225">
            <a:solidFill>
              <a:srgbClr val="8A95A8"/>
            </a:solidFill>
            <a:prstDash val="solid"/>
            <a:tailEnd type="triangle"/>
          </a:ln>
        </p:spPr>
      </p:sp>
      <p:sp>
        <p:nvSpPr>
          <p:cNvPr id="4" name="a1_net_e2"/>
          <p:cNvSpPr/>
          <p:nvPr/>
        </p:nvSpPr>
        <p:spPr>
          <a:xfrm>
            <a:off x="8802373" y="3079646"/>
            <a:ext cx="1598254" cy="419743"/>
          </a:xfrm>
          <a:prstGeom prst="line">
            <a:avLst/>
          </a:prstGeom>
          <a:noFill/>
          <a:ln w="22225">
            <a:solidFill>
              <a:srgbClr val="8A95A8"/>
            </a:solidFill>
            <a:prstDash val="solid"/>
            <a:tailEnd type="triangle"/>
          </a:ln>
        </p:spPr>
      </p:sp>
      <p:sp>
        <p:nvSpPr>
          <p:cNvPr id="5" name="a1_net_e3"/>
          <p:cNvSpPr/>
          <p:nvPr/>
        </p:nvSpPr>
        <p:spPr>
          <a:xfrm flipH="1">
            <a:off x="9385376" y="3606368"/>
            <a:ext cx="1065252" cy="1258934"/>
          </a:xfrm>
          <a:prstGeom prst="line">
            <a:avLst/>
          </a:prstGeom>
          <a:noFill/>
          <a:ln w="22225">
            <a:solidFill>
              <a:srgbClr val="8A95A8"/>
            </a:solidFill>
            <a:prstDash val="solid"/>
            <a:tailEnd type="triangle"/>
          </a:ln>
        </p:spPr>
      </p:sp>
      <p:sp>
        <p:nvSpPr>
          <p:cNvPr id="6" name="a1_net_e4"/>
          <p:cNvSpPr/>
          <p:nvPr/>
        </p:nvSpPr>
        <p:spPr>
          <a:xfrm flipH="1" flipV="1">
            <a:off x="8741040" y="3167401"/>
            <a:ext cx="537130" cy="1692774"/>
          </a:xfrm>
          <a:prstGeom prst="line">
            <a:avLst/>
          </a:prstGeom>
          <a:noFill/>
          <a:ln w="22225">
            <a:solidFill>
              <a:srgbClr val="8A95A8"/>
            </a:solidFill>
            <a:prstDash val="solid"/>
            <a:tailEnd type="triangle"/>
          </a:ln>
        </p:spPr>
      </p:sp>
      <p:sp>
        <p:nvSpPr>
          <p:cNvPr id="7" name="a1_net_e5"/>
          <p:cNvSpPr/>
          <p:nvPr/>
        </p:nvSpPr>
        <p:spPr>
          <a:xfrm flipV="1">
            <a:off x="7757212" y="3151245"/>
            <a:ext cx="879374" cy="1247112"/>
          </a:xfrm>
          <a:prstGeom prst="line">
            <a:avLst/>
          </a:prstGeom>
          <a:noFill/>
          <a:ln w="22225">
            <a:solidFill>
              <a:srgbClr val="8A95A8"/>
            </a:solidFill>
            <a:prstDash val="solid"/>
            <a:tailEnd type="triangle"/>
          </a:ln>
        </p:spPr>
      </p:sp>
      <p:sp>
        <p:nvSpPr>
          <p:cNvPr id="8" name="a1_net_e6"/>
          <p:cNvSpPr/>
          <p:nvPr/>
        </p:nvSpPr>
        <p:spPr>
          <a:xfrm flipH="1">
            <a:off x="10022696" y="2139987"/>
            <a:ext cx="1002824" cy="395052"/>
          </a:xfrm>
          <a:prstGeom prst="line">
            <a:avLst/>
          </a:prstGeom>
          <a:noFill/>
          <a:ln w="22225">
            <a:solidFill>
              <a:srgbClr val="8A95A8"/>
            </a:solidFill>
            <a:prstDash val="solid"/>
            <a:tailEnd type="triangle"/>
          </a:ln>
        </p:spPr>
      </p:sp>
      <p:sp>
        <p:nvSpPr>
          <p:cNvPr id="9" name="a1_net_e7"/>
          <p:cNvSpPr/>
          <p:nvPr/>
        </p:nvSpPr>
        <p:spPr>
          <a:xfrm>
            <a:off x="9965991" y="2663534"/>
            <a:ext cx="485914" cy="765683"/>
          </a:xfrm>
          <a:prstGeom prst="line">
            <a:avLst/>
          </a:prstGeom>
          <a:noFill/>
          <a:ln w="22225">
            <a:solidFill>
              <a:srgbClr val="8A95A8"/>
            </a:solidFill>
            <a:prstDash val="solid"/>
            <a:tailEnd type="triangle"/>
          </a:ln>
        </p:spPr>
      </p:sp>
      <p:sp>
        <p:nvSpPr>
          <p:cNvPr id="10" name="a1_net_e8"/>
          <p:cNvSpPr/>
          <p:nvPr/>
        </p:nvSpPr>
        <p:spPr>
          <a:xfrm>
            <a:off x="9409176" y="4956048"/>
            <a:ext cx="1792224" cy="914"/>
          </a:xfrm>
          <a:prstGeom prst="line">
            <a:avLst/>
          </a:prstGeom>
          <a:noFill/>
          <a:ln w="22225">
            <a:solidFill>
              <a:srgbClr val="8A95A8"/>
            </a:solidFill>
            <a:prstDash val="solid"/>
            <a:tailEnd type="triangle"/>
          </a:ln>
        </p:spPr>
      </p:sp>
      <p:sp>
        <p:nvSpPr>
          <p:cNvPr id="11" name="a1_net_e9"/>
          <p:cNvSpPr/>
          <p:nvPr/>
        </p:nvSpPr>
        <p:spPr>
          <a:xfrm>
            <a:off x="9724974" y="1251742"/>
            <a:ext cx="170522" cy="1209158"/>
          </a:xfrm>
          <a:prstGeom prst="line">
            <a:avLst/>
          </a:prstGeom>
          <a:noFill/>
          <a:ln w="22225">
            <a:solidFill>
              <a:srgbClr val="8A95A8"/>
            </a:solidFill>
            <a:prstDash val="solid"/>
            <a:tailEnd type="triangle"/>
          </a:ln>
        </p:spPr>
      </p:sp>
      <p:sp>
        <p:nvSpPr>
          <p:cNvPr id="12" name="a1_net_n0"/>
          <p:cNvSpPr/>
          <p:nvPr/>
        </p:nvSpPr>
        <p:spPr>
          <a:xfrm>
            <a:off x="8001000" y="1289304"/>
            <a:ext cx="201168" cy="201168"/>
          </a:xfrm>
          <a:prstGeom prst="ellipse">
            <a:avLst/>
          </a:prstGeom>
          <a:solidFill>
            <a:srgbClr val="4C9BE8"/>
          </a:solidFill>
          <a:ln w="19050">
            <a:solidFill>
              <a:srgbClr val="FFFFFF"/>
            </a:solidFill>
            <a:prstDash val="solid"/>
          </a:ln>
        </p:spPr>
      </p:sp>
      <p:sp>
        <p:nvSpPr>
          <p:cNvPr id="13" name="a1_net_n1"/>
          <p:cNvSpPr/>
          <p:nvPr/>
        </p:nvSpPr>
        <p:spPr>
          <a:xfrm>
            <a:off x="9610344" y="1051560"/>
            <a:ext cx="201168" cy="201168"/>
          </a:xfrm>
          <a:prstGeom prst="ellipse">
            <a:avLst/>
          </a:prstGeom>
          <a:solidFill>
            <a:srgbClr val="4C9BE8"/>
          </a:solidFill>
          <a:ln w="19050">
            <a:solidFill>
              <a:srgbClr val="FFFFFF"/>
            </a:solidFill>
            <a:prstDash val="solid"/>
          </a:ln>
        </p:spPr>
      </p:sp>
      <p:sp>
        <p:nvSpPr>
          <p:cNvPr id="14" name="a1_net_n2"/>
          <p:cNvSpPr/>
          <p:nvPr/>
        </p:nvSpPr>
        <p:spPr>
          <a:xfrm>
            <a:off x="11018520" y="2002536"/>
            <a:ext cx="201168" cy="201168"/>
          </a:xfrm>
          <a:prstGeom prst="ellipse">
            <a:avLst/>
          </a:prstGeom>
          <a:solidFill>
            <a:srgbClr val="4C9BE8"/>
          </a:solidFill>
          <a:ln w="19050">
            <a:solidFill>
              <a:srgbClr val="FFFFFF"/>
            </a:solidFill>
            <a:prstDash val="solid"/>
          </a:ln>
        </p:spPr>
      </p:sp>
      <p:sp>
        <p:nvSpPr>
          <p:cNvPr id="15" name="a1_net_n3"/>
          <p:cNvSpPr/>
          <p:nvPr/>
        </p:nvSpPr>
        <p:spPr>
          <a:xfrm>
            <a:off x="8604504" y="2953512"/>
            <a:ext cx="201168" cy="201168"/>
          </a:xfrm>
          <a:prstGeom prst="ellipse">
            <a:avLst/>
          </a:prstGeom>
          <a:solidFill>
            <a:srgbClr val="F2545B"/>
          </a:solidFill>
          <a:ln w="19050">
            <a:solidFill>
              <a:srgbClr val="FFFFFF"/>
            </a:solidFill>
            <a:prstDash val="solid"/>
          </a:ln>
        </p:spPr>
      </p:sp>
      <p:sp>
        <p:nvSpPr>
          <p:cNvPr id="16" name="a1_net_n4"/>
          <p:cNvSpPr/>
          <p:nvPr/>
        </p:nvSpPr>
        <p:spPr>
          <a:xfrm>
            <a:off x="10415016" y="3429000"/>
            <a:ext cx="201168" cy="201168"/>
          </a:xfrm>
          <a:prstGeom prst="ellipse">
            <a:avLst/>
          </a:prstGeom>
          <a:solidFill>
            <a:srgbClr val="F2545B"/>
          </a:solidFill>
          <a:ln w="19050">
            <a:solidFill>
              <a:srgbClr val="FFFFFF"/>
            </a:solidFill>
            <a:prstDash val="solid"/>
          </a:ln>
        </p:spPr>
      </p:sp>
      <p:sp>
        <p:nvSpPr>
          <p:cNvPr id="17" name="a1_net_n5"/>
          <p:cNvSpPr/>
          <p:nvPr/>
        </p:nvSpPr>
        <p:spPr>
          <a:xfrm>
            <a:off x="9208008" y="4855464"/>
            <a:ext cx="201168" cy="201168"/>
          </a:xfrm>
          <a:prstGeom prst="ellipse">
            <a:avLst/>
          </a:prstGeom>
          <a:solidFill>
            <a:srgbClr val="F2545B"/>
          </a:solidFill>
          <a:ln w="19050">
            <a:solidFill>
              <a:srgbClr val="FFFFFF"/>
            </a:solidFill>
            <a:prstDash val="solid"/>
          </a:ln>
        </p:spPr>
      </p:sp>
      <p:sp>
        <p:nvSpPr>
          <p:cNvPr id="18" name="a1_net_n6"/>
          <p:cNvSpPr/>
          <p:nvPr/>
        </p:nvSpPr>
        <p:spPr>
          <a:xfrm>
            <a:off x="7598664" y="4379976"/>
            <a:ext cx="201168" cy="201168"/>
          </a:xfrm>
          <a:prstGeom prst="ellipse">
            <a:avLst/>
          </a:prstGeom>
          <a:solidFill>
            <a:srgbClr val="4C9BE8"/>
          </a:solidFill>
          <a:ln w="19050">
            <a:solidFill>
              <a:srgbClr val="FFFFFF"/>
            </a:solidFill>
            <a:prstDash val="solid"/>
          </a:ln>
        </p:spPr>
      </p:sp>
      <p:sp>
        <p:nvSpPr>
          <p:cNvPr id="19" name="a1_net_n7"/>
          <p:cNvSpPr/>
          <p:nvPr/>
        </p:nvSpPr>
        <p:spPr>
          <a:xfrm>
            <a:off x="11219688" y="4855464"/>
            <a:ext cx="201168" cy="201168"/>
          </a:xfrm>
          <a:prstGeom prst="ellipse">
            <a:avLst/>
          </a:prstGeom>
          <a:solidFill>
            <a:srgbClr val="4C9BE8"/>
          </a:solidFill>
          <a:ln w="19050">
            <a:solidFill>
              <a:srgbClr val="FFFFFF"/>
            </a:solidFill>
            <a:prstDash val="solid"/>
          </a:ln>
        </p:spPr>
      </p:sp>
      <p:sp>
        <p:nvSpPr>
          <p:cNvPr id="20" name="a1_net_n8"/>
          <p:cNvSpPr/>
          <p:nvPr/>
        </p:nvSpPr>
        <p:spPr>
          <a:xfrm>
            <a:off x="9811512" y="2478024"/>
            <a:ext cx="201168" cy="201168"/>
          </a:xfrm>
          <a:prstGeom prst="ellipse">
            <a:avLst/>
          </a:prstGeom>
          <a:solidFill>
            <a:srgbClr val="F5B700"/>
          </a:solidFill>
          <a:ln w="19050">
            <a:solidFill>
              <a:srgbClr val="FFFFFF"/>
            </a:solidFill>
            <a:prstDash val="solid"/>
          </a:ln>
        </p:spPr>
      </p:sp>
      <p:sp>
        <p:nvSpPr>
          <p:cNvPr id="21" name="a2_title"/>
          <p:cNvSpPr txBox="1"/>
          <p:nvPr/>
        </p:nvSpPr>
        <p:spPr>
          <a:xfrm>
            <a:off x="640080" y="1554480"/>
            <a:ext cx="676656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AML-GraphMiner</a:t>
            </a:r>
            <a:endParaRPr lang="en-US" sz="5400" dirty="0"/>
          </a:p>
        </p:txBody>
      </p:sp>
      <p:sp>
        <p:nvSpPr>
          <p:cNvPr id="22" name="a3_sub"/>
          <p:cNvSpPr txBox="1"/>
          <p:nvPr/>
        </p:nvSpPr>
        <p:spPr>
          <a:xfrm>
            <a:off x="640080" y="2606040"/>
            <a:ext cx="6583680" cy="914400"/>
          </a:xfrm>
          <a:prstGeom prst="rect">
            <a:avLst/>
          </a:prstGeom>
          <a:noFill/>
          <a:ln/>
        </p:spPr>
        <p:txBody>
          <a:bodyPr wrap="square" lIns="0" tIns="0" rIns="0" bIns="0" rtlCol="0" anchor="ctr"/>
          <a:lstStyle/>
          <a:p>
            <a:pPr indent="0" marL="0">
              <a:buNone/>
            </a:pPr>
            <a:r>
              <a:rPr lang="en-US" sz="2400" dirty="0">
                <a:solidFill>
                  <a:srgbClr val="7FE3D8"/>
                </a:solidFill>
                <a:latin typeface="Calibri" pitchFamily="34" charset="0"/>
                <a:ea typeface="Calibri" pitchFamily="34" charset="-122"/>
                <a:cs typeface="Calibri" pitchFamily="34" charset="-120"/>
              </a:rPr>
              <a:t>Détection explicable du blanchiment d'argent sur graphes de transactions</a:t>
            </a:r>
            <a:endParaRPr lang="en-US" sz="2400" dirty="0"/>
          </a:p>
        </p:txBody>
      </p:sp>
      <p:sp>
        <p:nvSpPr>
          <p:cNvPr id="23" name="a4_who"/>
          <p:cNvSpPr txBox="1"/>
          <p:nvPr/>
        </p:nvSpPr>
        <p:spPr>
          <a:xfrm>
            <a:off x="640080" y="4206240"/>
            <a:ext cx="6766560" cy="1097280"/>
          </a:xfrm>
          <a:prstGeom prst="rect">
            <a:avLst/>
          </a:prstGeom>
          <a:noFill/>
          <a:ln/>
        </p:spPr>
        <p:txBody>
          <a:bodyPr wrap="square" lIns="0" tIns="0" rIns="0" bIns="0" rtlCol="0" anchor="ctr"/>
          <a:lstStyle/>
          <a:p>
            <a:pPr indent="0" marL="0">
              <a:spcAft>
                <a:spcPts val="400"/>
              </a:spcAft>
              <a:buNone/>
            </a:pPr>
            <a:r>
              <a:rPr lang="en-US" sz="1500" dirty="0">
                <a:solidFill>
                  <a:srgbClr val="C9D3E6"/>
                </a:solidFill>
                <a:latin typeface="Calibri" pitchFamily="34" charset="0"/>
                <a:ea typeface="Calibri" pitchFamily="34" charset="-122"/>
                <a:cs typeface="Calibri" pitchFamily="34" charset="-120"/>
              </a:rPr>
              <a:t>Projet de fin d'études — Master</a:t>
            </a:r>
            <a:endParaRPr lang="en-US" sz="1500" dirty="0"/>
          </a:p>
          <a:p>
            <a:pPr indent="0" marL="0">
              <a:spcAft>
                <a:spcPts val="400"/>
              </a:spcAft>
              <a:buNone/>
            </a:pPr>
            <a:r>
              <a:rPr lang="en-US" sz="1500" dirty="0">
                <a:solidFill>
                  <a:srgbClr val="C9D3E6"/>
                </a:solidFill>
                <a:latin typeface="Calibri" pitchFamily="34" charset="0"/>
                <a:ea typeface="Calibri" pitchFamily="34" charset="-122"/>
                <a:cs typeface="Calibri" pitchFamily="34" charset="-120"/>
              </a:rPr>
              <a:t>Unité de recherche Al-Khawarizmi · FST · Université de Nouakchott</a:t>
            </a:r>
            <a:endParaRPr lang="en-US" sz="1500" dirty="0"/>
          </a:p>
          <a:p>
            <a:pPr indent="0" marL="0">
              <a:spcAft>
                <a:spcPts val="400"/>
              </a:spcAft>
              <a:buNone/>
            </a:pPr>
            <a:r>
              <a:rPr lang="en-US" sz="1500" dirty="0">
                <a:solidFill>
                  <a:srgbClr val="C9D3E6"/>
                </a:solidFill>
                <a:latin typeface="Calibri" pitchFamily="34" charset="0"/>
                <a:ea typeface="Calibri" pitchFamily="34" charset="-122"/>
                <a:cs typeface="Calibri" pitchFamily="34" charset="-120"/>
              </a:rPr>
              <a:t>[Nom de l'étudiant] · Encadrant : Mohamedou El Ghotob Cheikh Tourad</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par>
                          <p:cTn id="62" fill="hold">
                            <p:stCondLst>
                              <p:cond delay="350"/>
                            </p:stCondLst>
                            <p:childTnLst>
                              <p:par>
                                <p:cTn id="63" presetID="10" presetClass="entr" presetSubtype="0" fill="hold" grpId="0"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childTnLst>
                          </p:cTn>
                        </p:par>
                        <p:par>
                          <p:cTn id="66" fill="hold">
                            <p:stCondLst>
                              <p:cond delay="700"/>
                            </p:stCondLst>
                            <p:childTnLst>
                              <p:par>
                                <p:cTn id="67" presetID="10"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childTnLst>
                          </p:cTn>
                        </p:par>
                        <p:par>
                          <p:cTn id="70" fill="hold">
                            <p:stCondLst>
                              <p:cond delay="1050"/>
                            </p:stCondLst>
                            <p:childTnLst>
                              <p:par>
                                <p:cTn id="71" presetID="10" presetClass="entr" presetSubtype="0"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Un problème massif… et très rare</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2</a:t>
            </a:r>
            <a:endParaRPr lang="en-US" sz="1100" dirty="0"/>
          </a:p>
        </p:txBody>
      </p:sp>
      <p:sp>
        <p:nvSpPr>
          <p:cNvPr id="4" name="a1_card"/>
          <p:cNvSpPr/>
          <p:nvPr/>
        </p:nvSpPr>
        <p:spPr>
          <a:xfrm>
            <a:off x="640080" y="1463040"/>
            <a:ext cx="3383280" cy="3840480"/>
          </a:xfrm>
          <a:prstGeom prst="roundRect">
            <a:avLst>
              <a:gd name="adj" fmla="val 3243"/>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 name="a1_ic_disc"/>
          <p:cNvSpPr/>
          <p:nvPr/>
        </p:nvSpPr>
        <p:spPr>
          <a:xfrm>
            <a:off x="1874520" y="1737360"/>
            <a:ext cx="914400" cy="914400"/>
          </a:xfrm>
          <a:prstGeom prst="ellipse">
            <a:avLst/>
          </a:prstGeom>
          <a:solidFill>
            <a:srgbClr val="F2545B"/>
          </a:solidFill>
          <a:ln w="12700">
            <a:solidFill>
              <a:srgbClr val="F2545B"/>
            </a:solidFill>
            <a:prstDash val="solid"/>
          </a:ln>
        </p:spPr>
      </p:sp>
      <p:pic>
        <p:nvPicPr>
          <p:cNvPr id="6" name="a1_ic_icon" descr="preencoded.png">    </p:cNvPr>
          <p:cNvPicPr>
            <a:picLocks noChangeAspect="1"/>
          </p:cNvPicPr>
          <p:nvPr/>
        </p:nvPicPr>
        <p:blipFill>
          <a:blip r:embed="rId1"/>
          <a:stretch>
            <a:fillRect/>
          </a:stretch>
        </p:blipFill>
        <p:spPr>
          <a:xfrm>
            <a:off x="2093976" y="1956816"/>
            <a:ext cx="475488" cy="475488"/>
          </a:xfrm>
          <a:prstGeom prst="rect">
            <a:avLst/>
          </a:prstGeom>
        </p:spPr>
      </p:pic>
      <p:sp>
        <p:nvSpPr>
          <p:cNvPr id="7" name="a1_num"/>
          <p:cNvSpPr txBox="1"/>
          <p:nvPr/>
        </p:nvSpPr>
        <p:spPr>
          <a:xfrm>
            <a:off x="822960" y="2834640"/>
            <a:ext cx="3017520" cy="1005840"/>
          </a:xfrm>
          <a:prstGeom prst="rect">
            <a:avLst/>
          </a:prstGeom>
          <a:noFill/>
          <a:ln/>
        </p:spPr>
        <p:txBody>
          <a:bodyPr wrap="square" lIns="0" tIns="0" rIns="0" bIns="0" rtlCol="0" anchor="ctr"/>
          <a:lstStyle/>
          <a:p>
            <a:pPr algn="ctr" indent="0" marL="0">
              <a:buNone/>
            </a:pPr>
            <a:r>
              <a:rPr lang="en-US" sz="4000" b="1" dirty="0">
                <a:solidFill>
                  <a:srgbClr val="F2545B"/>
                </a:solidFill>
                <a:latin typeface="Cambria" pitchFamily="34" charset="0"/>
                <a:ea typeface="Cambria" pitchFamily="34" charset="-122"/>
                <a:cs typeface="Cambria" pitchFamily="34" charset="-120"/>
              </a:rPr>
              <a:t>1 600 Md $</a:t>
            </a:r>
            <a:endParaRPr lang="en-US" sz="4000" dirty="0"/>
          </a:p>
        </p:txBody>
      </p:sp>
      <p:sp>
        <p:nvSpPr>
          <p:cNvPr id="8" name="a1_lab"/>
          <p:cNvSpPr txBox="1"/>
          <p:nvPr/>
        </p:nvSpPr>
        <p:spPr>
          <a:xfrm>
            <a:off x="914400" y="3931920"/>
            <a:ext cx="2834640" cy="100584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blanchis dans le monde en 2009 (ONUDC)</a:t>
            </a:r>
            <a:endParaRPr lang="en-US" sz="1600" dirty="0"/>
          </a:p>
        </p:txBody>
      </p:sp>
      <p:sp>
        <p:nvSpPr>
          <p:cNvPr id="9" name="a2_card"/>
          <p:cNvSpPr/>
          <p:nvPr/>
        </p:nvSpPr>
        <p:spPr>
          <a:xfrm>
            <a:off x="4389120" y="1463040"/>
            <a:ext cx="3383280" cy="3840480"/>
          </a:xfrm>
          <a:prstGeom prst="roundRect">
            <a:avLst>
              <a:gd name="adj" fmla="val 3243"/>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0" name="a2_ic_disc"/>
          <p:cNvSpPr/>
          <p:nvPr/>
        </p:nvSpPr>
        <p:spPr>
          <a:xfrm>
            <a:off x="5623560" y="1737360"/>
            <a:ext cx="914400" cy="914400"/>
          </a:xfrm>
          <a:prstGeom prst="ellipse">
            <a:avLst/>
          </a:prstGeom>
          <a:solidFill>
            <a:srgbClr val="F5B700"/>
          </a:solidFill>
          <a:ln w="12700">
            <a:solidFill>
              <a:srgbClr val="F5B700"/>
            </a:solidFill>
            <a:prstDash val="solid"/>
          </a:ln>
        </p:spPr>
      </p:sp>
      <p:pic>
        <p:nvPicPr>
          <p:cNvPr id="11" name="a2_ic_icon" descr="preencoded.png">    </p:cNvPr>
          <p:cNvPicPr>
            <a:picLocks noChangeAspect="1"/>
          </p:cNvPicPr>
          <p:nvPr/>
        </p:nvPicPr>
        <p:blipFill>
          <a:blip r:embed="rId2"/>
          <a:stretch>
            <a:fillRect/>
          </a:stretch>
        </p:blipFill>
        <p:spPr>
          <a:xfrm>
            <a:off x="5843016" y="1956816"/>
            <a:ext cx="475488" cy="475488"/>
          </a:xfrm>
          <a:prstGeom prst="rect">
            <a:avLst/>
          </a:prstGeom>
        </p:spPr>
      </p:pic>
      <p:sp>
        <p:nvSpPr>
          <p:cNvPr id="12" name="a2_num"/>
          <p:cNvSpPr txBox="1"/>
          <p:nvPr/>
        </p:nvSpPr>
        <p:spPr>
          <a:xfrm>
            <a:off x="4572000" y="2834640"/>
            <a:ext cx="3017520" cy="1005840"/>
          </a:xfrm>
          <a:prstGeom prst="rect">
            <a:avLst/>
          </a:prstGeom>
          <a:noFill/>
          <a:ln/>
        </p:spPr>
        <p:txBody>
          <a:bodyPr wrap="square" lIns="0" tIns="0" rIns="0" bIns="0" rtlCol="0" anchor="ctr"/>
          <a:lstStyle/>
          <a:p>
            <a:pPr algn="ctr" indent="0" marL="0">
              <a:buNone/>
            </a:pPr>
            <a:r>
              <a:rPr lang="en-US" sz="4000" b="1" dirty="0">
                <a:solidFill>
                  <a:srgbClr val="F5B700"/>
                </a:solidFill>
                <a:latin typeface="Cambria" pitchFamily="34" charset="0"/>
                <a:ea typeface="Cambria" pitchFamily="34" charset="-122"/>
                <a:cs typeface="Cambria" pitchFamily="34" charset="-120"/>
              </a:rPr>
              <a:t>0,10 %</a:t>
            </a:r>
            <a:endParaRPr lang="en-US" sz="4000" dirty="0"/>
          </a:p>
        </p:txBody>
      </p:sp>
      <p:sp>
        <p:nvSpPr>
          <p:cNvPr id="13" name="a2_lab"/>
          <p:cNvSpPr txBox="1"/>
          <p:nvPr/>
        </p:nvSpPr>
        <p:spPr>
          <a:xfrm>
            <a:off x="4663440" y="3931920"/>
            <a:ext cx="2834640" cy="100584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des transactions sont illicites (IBM HI-Small)</a:t>
            </a:r>
            <a:endParaRPr lang="en-US" sz="1600" dirty="0"/>
          </a:p>
        </p:txBody>
      </p:sp>
      <p:sp>
        <p:nvSpPr>
          <p:cNvPr id="14" name="a3_card"/>
          <p:cNvSpPr/>
          <p:nvPr/>
        </p:nvSpPr>
        <p:spPr>
          <a:xfrm>
            <a:off x="8138160" y="1463040"/>
            <a:ext cx="3383280" cy="3840480"/>
          </a:xfrm>
          <a:prstGeom prst="roundRect">
            <a:avLst>
              <a:gd name="adj" fmla="val 3243"/>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5" name="a3_ic_disc"/>
          <p:cNvSpPr/>
          <p:nvPr/>
        </p:nvSpPr>
        <p:spPr>
          <a:xfrm>
            <a:off x="9372600" y="1737360"/>
            <a:ext cx="914400" cy="914400"/>
          </a:xfrm>
          <a:prstGeom prst="ellipse">
            <a:avLst/>
          </a:prstGeom>
          <a:solidFill>
            <a:srgbClr val="00A99D"/>
          </a:solidFill>
          <a:ln w="12700">
            <a:solidFill>
              <a:srgbClr val="00A99D"/>
            </a:solidFill>
            <a:prstDash val="solid"/>
          </a:ln>
        </p:spPr>
      </p:sp>
      <p:pic>
        <p:nvPicPr>
          <p:cNvPr id="16" name="a3_ic_icon" descr="preencoded.png">    </p:cNvPr>
          <p:cNvPicPr>
            <a:picLocks noChangeAspect="1"/>
          </p:cNvPicPr>
          <p:nvPr/>
        </p:nvPicPr>
        <p:blipFill>
          <a:blip r:embed="rId3"/>
          <a:stretch>
            <a:fillRect/>
          </a:stretch>
        </p:blipFill>
        <p:spPr>
          <a:xfrm>
            <a:off x="9592056" y="1956816"/>
            <a:ext cx="475488" cy="475488"/>
          </a:xfrm>
          <a:prstGeom prst="rect">
            <a:avLst/>
          </a:prstGeom>
        </p:spPr>
      </p:pic>
      <p:sp>
        <p:nvSpPr>
          <p:cNvPr id="17" name="a3_num"/>
          <p:cNvSpPr txBox="1"/>
          <p:nvPr/>
        </p:nvSpPr>
        <p:spPr>
          <a:xfrm>
            <a:off x="8321040" y="2834640"/>
            <a:ext cx="3017520" cy="1005840"/>
          </a:xfrm>
          <a:prstGeom prst="rect">
            <a:avLst/>
          </a:prstGeom>
          <a:noFill/>
          <a:ln/>
        </p:spPr>
        <p:txBody>
          <a:bodyPr wrap="square" lIns="0" tIns="0" rIns="0" bIns="0" rtlCol="0" anchor="ctr"/>
          <a:lstStyle/>
          <a:p>
            <a:pPr algn="ctr" indent="0" marL="0">
              <a:buNone/>
            </a:pPr>
            <a:r>
              <a:rPr lang="en-US" sz="4000" b="1" dirty="0">
                <a:solidFill>
                  <a:srgbClr val="00A99D"/>
                </a:solidFill>
                <a:latin typeface="Cambria" pitchFamily="34" charset="0"/>
                <a:ea typeface="Cambria" pitchFamily="34" charset="-122"/>
                <a:cs typeface="Cambria" pitchFamily="34" charset="-120"/>
              </a:rPr>
              <a:t>5,1 M</a:t>
            </a:r>
            <a:endParaRPr lang="en-US" sz="4000" dirty="0"/>
          </a:p>
        </p:txBody>
      </p:sp>
      <p:sp>
        <p:nvSpPr>
          <p:cNvPr id="18" name="a3_lab"/>
          <p:cNvSpPr txBox="1"/>
          <p:nvPr/>
        </p:nvSpPr>
        <p:spPr>
          <a:xfrm>
            <a:off x="8412480" y="3931920"/>
            <a:ext cx="2834640" cy="100584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transactions à analyser pour un seul jeu de données</a:t>
            </a:r>
            <a:endParaRPr lang="en-US" sz="1600" dirty="0"/>
          </a:p>
        </p:txBody>
      </p:sp>
      <p:sp>
        <p:nvSpPr>
          <p:cNvPr id="19" name="a4_tag"/>
          <p:cNvSpPr txBox="1"/>
          <p:nvPr/>
        </p:nvSpPr>
        <p:spPr>
          <a:xfrm>
            <a:off x="640080" y="5715000"/>
            <a:ext cx="10972800" cy="457200"/>
          </a:xfrm>
          <a:prstGeom prst="rect">
            <a:avLst/>
          </a:prstGeom>
          <a:noFill/>
          <a:ln/>
        </p:spPr>
        <p:txBody>
          <a:bodyPr wrap="square" lIns="0" tIns="0" rIns="0" bIns="0" rtlCol="0" anchor="ctr"/>
          <a:lstStyle/>
          <a:p>
            <a:pPr indent="0" marL="0">
              <a:buNone/>
            </a:pPr>
            <a:r>
              <a:rPr lang="en-US" sz="1800" i="1" dirty="0">
                <a:solidFill>
                  <a:srgbClr val="16305C"/>
                </a:solidFill>
                <a:latin typeface="Calibri" pitchFamily="34" charset="0"/>
                <a:ea typeface="Calibri" pitchFamily="34" charset="-122"/>
                <a:cs typeface="Calibri" pitchFamily="34" charset="-120"/>
              </a:rPr>
              <a:t>Trouver l'aiguille… et expliquer pourquoi c'est une aiguille.</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35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7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52" fill="hold">
                            <p:stCondLst>
                              <p:cond delay="105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Six objectifs du cahier des charges</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3</a:t>
            </a:r>
            <a:endParaRPr lang="en-US" sz="1100" dirty="0"/>
          </a:p>
        </p:txBody>
      </p:sp>
      <p:sp>
        <p:nvSpPr>
          <p:cNvPr id="4" name="a1_c"/>
          <p:cNvSpPr/>
          <p:nvPr/>
        </p:nvSpPr>
        <p:spPr>
          <a:xfrm>
            <a:off x="640080" y="1417320"/>
            <a:ext cx="3383280" cy="2194560"/>
          </a:xfrm>
          <a:prstGeom prst="roundRect">
            <a:avLst>
              <a:gd name="adj" fmla="val 50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 name="a1_i_disc"/>
          <p:cNvSpPr/>
          <p:nvPr/>
        </p:nvSpPr>
        <p:spPr>
          <a:xfrm>
            <a:off x="914400" y="1737360"/>
            <a:ext cx="914400" cy="914400"/>
          </a:xfrm>
          <a:prstGeom prst="ellipse">
            <a:avLst/>
          </a:prstGeom>
          <a:solidFill>
            <a:srgbClr val="4C9BE8"/>
          </a:solidFill>
          <a:ln w="12700">
            <a:solidFill>
              <a:srgbClr val="4C9BE8"/>
            </a:solidFill>
            <a:prstDash val="solid"/>
          </a:ln>
        </p:spPr>
      </p:sp>
      <p:pic>
        <p:nvPicPr>
          <p:cNvPr id="6" name="a1_i_icon" descr="preencoded.png">    </p:cNvPr>
          <p:cNvPicPr>
            <a:picLocks noChangeAspect="1"/>
          </p:cNvPicPr>
          <p:nvPr/>
        </p:nvPicPr>
        <p:blipFill>
          <a:blip r:embed="rId1"/>
          <a:stretch>
            <a:fillRect/>
          </a:stretch>
        </p:blipFill>
        <p:spPr>
          <a:xfrm>
            <a:off x="1133856" y="1956816"/>
            <a:ext cx="475488" cy="475488"/>
          </a:xfrm>
          <a:prstGeom prst="rect">
            <a:avLst/>
          </a:prstGeom>
        </p:spPr>
      </p:pic>
      <p:sp>
        <p:nvSpPr>
          <p:cNvPr id="7" name="a1_o"/>
          <p:cNvSpPr txBox="1"/>
          <p:nvPr/>
        </p:nvSpPr>
        <p:spPr>
          <a:xfrm>
            <a:off x="2057400" y="1737360"/>
            <a:ext cx="1737360" cy="548640"/>
          </a:xfrm>
          <a:prstGeom prst="rect">
            <a:avLst/>
          </a:prstGeom>
          <a:noFill/>
          <a:ln/>
        </p:spPr>
        <p:txBody>
          <a:bodyPr wrap="square" lIns="0" tIns="0" rIns="0" bIns="0" rtlCol="0" anchor="ctr"/>
          <a:lstStyle/>
          <a:p>
            <a:pPr indent="0" marL="0">
              <a:buNone/>
            </a:pPr>
            <a:r>
              <a:rPr lang="en-US" sz="3000" b="1" dirty="0">
                <a:solidFill>
                  <a:srgbClr val="4C9BE8"/>
                </a:solidFill>
                <a:latin typeface="Cambria" pitchFamily="34" charset="0"/>
                <a:ea typeface="Cambria" pitchFamily="34" charset="-122"/>
                <a:cs typeface="Cambria" pitchFamily="34" charset="-120"/>
              </a:rPr>
              <a:t>O1</a:t>
            </a:r>
            <a:endParaRPr lang="en-US" sz="3000" dirty="0"/>
          </a:p>
        </p:txBody>
      </p:sp>
      <p:sp>
        <p:nvSpPr>
          <p:cNvPr id="8" name="a1_t"/>
          <p:cNvSpPr txBox="1"/>
          <p:nvPr/>
        </p:nvSpPr>
        <p:spPr>
          <a:xfrm>
            <a:off x="914400" y="2834640"/>
            <a:ext cx="2926080" cy="54864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Ingestion &amp; graphes</a:t>
            </a:r>
            <a:endParaRPr lang="en-US" sz="1800" dirty="0"/>
          </a:p>
        </p:txBody>
      </p:sp>
      <p:sp>
        <p:nvSpPr>
          <p:cNvPr id="9" name="a2_c"/>
          <p:cNvSpPr/>
          <p:nvPr/>
        </p:nvSpPr>
        <p:spPr>
          <a:xfrm>
            <a:off x="4389120" y="1417320"/>
            <a:ext cx="3383280" cy="2194560"/>
          </a:xfrm>
          <a:prstGeom prst="roundRect">
            <a:avLst>
              <a:gd name="adj" fmla="val 50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0" name="a2_i_disc"/>
          <p:cNvSpPr/>
          <p:nvPr/>
        </p:nvSpPr>
        <p:spPr>
          <a:xfrm>
            <a:off x="4663440" y="1737360"/>
            <a:ext cx="914400" cy="914400"/>
          </a:xfrm>
          <a:prstGeom prst="ellipse">
            <a:avLst/>
          </a:prstGeom>
          <a:solidFill>
            <a:srgbClr val="F2545B"/>
          </a:solidFill>
          <a:ln w="12700">
            <a:solidFill>
              <a:srgbClr val="F2545B"/>
            </a:solidFill>
            <a:prstDash val="solid"/>
          </a:ln>
        </p:spPr>
      </p:sp>
      <p:pic>
        <p:nvPicPr>
          <p:cNvPr id="11" name="a2_i_icon" descr="preencoded.png">    </p:cNvPr>
          <p:cNvPicPr>
            <a:picLocks noChangeAspect="1"/>
          </p:cNvPicPr>
          <p:nvPr/>
        </p:nvPicPr>
        <p:blipFill>
          <a:blip r:embed="rId2"/>
          <a:stretch>
            <a:fillRect/>
          </a:stretch>
        </p:blipFill>
        <p:spPr>
          <a:xfrm>
            <a:off x="4882896" y="1956816"/>
            <a:ext cx="475488" cy="475488"/>
          </a:xfrm>
          <a:prstGeom prst="rect">
            <a:avLst/>
          </a:prstGeom>
        </p:spPr>
      </p:pic>
      <p:sp>
        <p:nvSpPr>
          <p:cNvPr id="12" name="a2_o"/>
          <p:cNvSpPr txBox="1"/>
          <p:nvPr/>
        </p:nvSpPr>
        <p:spPr>
          <a:xfrm>
            <a:off x="5806440" y="1737360"/>
            <a:ext cx="1737360" cy="548640"/>
          </a:xfrm>
          <a:prstGeom prst="rect">
            <a:avLst/>
          </a:prstGeom>
          <a:noFill/>
          <a:ln/>
        </p:spPr>
        <p:txBody>
          <a:bodyPr wrap="square" lIns="0" tIns="0" rIns="0" bIns="0" rtlCol="0" anchor="ctr"/>
          <a:lstStyle/>
          <a:p>
            <a:pPr indent="0" marL="0">
              <a:buNone/>
            </a:pPr>
            <a:r>
              <a:rPr lang="en-US" sz="3000" b="1" dirty="0">
                <a:solidFill>
                  <a:srgbClr val="F2545B"/>
                </a:solidFill>
                <a:latin typeface="Cambria" pitchFamily="34" charset="0"/>
                <a:ea typeface="Cambria" pitchFamily="34" charset="-122"/>
                <a:cs typeface="Cambria" pitchFamily="34" charset="-120"/>
              </a:rPr>
              <a:t>O2</a:t>
            </a:r>
            <a:endParaRPr lang="en-US" sz="3000" dirty="0"/>
          </a:p>
        </p:txBody>
      </p:sp>
      <p:sp>
        <p:nvSpPr>
          <p:cNvPr id="13" name="a2_t"/>
          <p:cNvSpPr txBox="1"/>
          <p:nvPr/>
        </p:nvSpPr>
        <p:spPr>
          <a:xfrm>
            <a:off x="4663440" y="2834640"/>
            <a:ext cx="2926080" cy="54864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Motifs de blanchiment</a:t>
            </a:r>
            <a:endParaRPr lang="en-US" sz="1800" dirty="0"/>
          </a:p>
        </p:txBody>
      </p:sp>
      <p:sp>
        <p:nvSpPr>
          <p:cNvPr id="14" name="a3_c"/>
          <p:cNvSpPr/>
          <p:nvPr/>
        </p:nvSpPr>
        <p:spPr>
          <a:xfrm>
            <a:off x="8138160" y="1417320"/>
            <a:ext cx="3383280" cy="2194560"/>
          </a:xfrm>
          <a:prstGeom prst="roundRect">
            <a:avLst>
              <a:gd name="adj" fmla="val 50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5" name="a3_i_disc"/>
          <p:cNvSpPr/>
          <p:nvPr/>
        </p:nvSpPr>
        <p:spPr>
          <a:xfrm>
            <a:off x="8412480" y="1737360"/>
            <a:ext cx="914400" cy="914400"/>
          </a:xfrm>
          <a:prstGeom prst="ellipse">
            <a:avLst/>
          </a:prstGeom>
          <a:solidFill>
            <a:srgbClr val="7B61FF"/>
          </a:solidFill>
          <a:ln w="12700">
            <a:solidFill>
              <a:srgbClr val="7B61FF"/>
            </a:solidFill>
            <a:prstDash val="solid"/>
          </a:ln>
        </p:spPr>
      </p:sp>
      <p:pic>
        <p:nvPicPr>
          <p:cNvPr id="16" name="a3_i_icon" descr="preencoded.png">    </p:cNvPr>
          <p:cNvPicPr>
            <a:picLocks noChangeAspect="1"/>
          </p:cNvPicPr>
          <p:nvPr/>
        </p:nvPicPr>
        <p:blipFill>
          <a:blip r:embed="rId3"/>
          <a:stretch>
            <a:fillRect/>
          </a:stretch>
        </p:blipFill>
        <p:spPr>
          <a:xfrm>
            <a:off x="8631936" y="1956816"/>
            <a:ext cx="475488" cy="475488"/>
          </a:xfrm>
          <a:prstGeom prst="rect">
            <a:avLst/>
          </a:prstGeom>
        </p:spPr>
      </p:pic>
      <p:sp>
        <p:nvSpPr>
          <p:cNvPr id="17" name="a3_o"/>
          <p:cNvSpPr txBox="1"/>
          <p:nvPr/>
        </p:nvSpPr>
        <p:spPr>
          <a:xfrm>
            <a:off x="9555480" y="1737360"/>
            <a:ext cx="1737360" cy="548640"/>
          </a:xfrm>
          <a:prstGeom prst="rect">
            <a:avLst/>
          </a:prstGeom>
          <a:noFill/>
          <a:ln/>
        </p:spPr>
        <p:txBody>
          <a:bodyPr wrap="square" lIns="0" tIns="0" rIns="0" bIns="0" rtlCol="0" anchor="ctr"/>
          <a:lstStyle/>
          <a:p>
            <a:pPr indent="0" marL="0">
              <a:buNone/>
            </a:pPr>
            <a:r>
              <a:rPr lang="en-US" sz="3000" b="1" dirty="0">
                <a:solidFill>
                  <a:srgbClr val="7B61FF"/>
                </a:solidFill>
                <a:latin typeface="Cambria" pitchFamily="34" charset="0"/>
                <a:ea typeface="Cambria" pitchFamily="34" charset="-122"/>
                <a:cs typeface="Cambria" pitchFamily="34" charset="-120"/>
              </a:rPr>
              <a:t>O3</a:t>
            </a:r>
            <a:endParaRPr lang="en-US" sz="3000" dirty="0"/>
          </a:p>
        </p:txBody>
      </p:sp>
      <p:sp>
        <p:nvSpPr>
          <p:cNvPr id="18" name="a3_t"/>
          <p:cNvSpPr txBox="1"/>
          <p:nvPr/>
        </p:nvSpPr>
        <p:spPr>
          <a:xfrm>
            <a:off x="8412480" y="2834640"/>
            <a:ext cx="2926080" cy="54864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GNN : GCN · SAGE · GAT</a:t>
            </a:r>
            <a:endParaRPr lang="en-US" sz="1800" dirty="0"/>
          </a:p>
        </p:txBody>
      </p:sp>
      <p:sp>
        <p:nvSpPr>
          <p:cNvPr id="19" name="a4_c"/>
          <p:cNvSpPr/>
          <p:nvPr/>
        </p:nvSpPr>
        <p:spPr>
          <a:xfrm>
            <a:off x="640080" y="3931920"/>
            <a:ext cx="3383280" cy="2194560"/>
          </a:xfrm>
          <a:prstGeom prst="roundRect">
            <a:avLst>
              <a:gd name="adj" fmla="val 50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20" name="a4_i_disc"/>
          <p:cNvSpPr/>
          <p:nvPr/>
        </p:nvSpPr>
        <p:spPr>
          <a:xfrm>
            <a:off x="914400" y="4251960"/>
            <a:ext cx="914400" cy="914400"/>
          </a:xfrm>
          <a:prstGeom prst="ellipse">
            <a:avLst/>
          </a:prstGeom>
          <a:solidFill>
            <a:srgbClr val="F5B700"/>
          </a:solidFill>
          <a:ln w="12700">
            <a:solidFill>
              <a:srgbClr val="F5B700"/>
            </a:solidFill>
            <a:prstDash val="solid"/>
          </a:ln>
        </p:spPr>
      </p:sp>
      <p:pic>
        <p:nvPicPr>
          <p:cNvPr id="21" name="a4_i_icon" descr="preencoded.png">    </p:cNvPr>
          <p:cNvPicPr>
            <a:picLocks noChangeAspect="1"/>
          </p:cNvPicPr>
          <p:nvPr/>
        </p:nvPicPr>
        <p:blipFill>
          <a:blip r:embed="rId4"/>
          <a:stretch>
            <a:fillRect/>
          </a:stretch>
        </p:blipFill>
        <p:spPr>
          <a:xfrm>
            <a:off x="1133856" y="4471416"/>
            <a:ext cx="475488" cy="475488"/>
          </a:xfrm>
          <a:prstGeom prst="rect">
            <a:avLst/>
          </a:prstGeom>
        </p:spPr>
      </p:pic>
      <p:sp>
        <p:nvSpPr>
          <p:cNvPr id="22" name="a4_o"/>
          <p:cNvSpPr txBox="1"/>
          <p:nvPr/>
        </p:nvSpPr>
        <p:spPr>
          <a:xfrm>
            <a:off x="2057400" y="4251960"/>
            <a:ext cx="1737360" cy="548640"/>
          </a:xfrm>
          <a:prstGeom prst="rect">
            <a:avLst/>
          </a:prstGeom>
          <a:noFill/>
          <a:ln/>
        </p:spPr>
        <p:txBody>
          <a:bodyPr wrap="square" lIns="0" tIns="0" rIns="0" bIns="0" rtlCol="0" anchor="ctr"/>
          <a:lstStyle/>
          <a:p>
            <a:pPr indent="0" marL="0">
              <a:buNone/>
            </a:pPr>
            <a:r>
              <a:rPr lang="en-US" sz="3000" b="1" dirty="0">
                <a:solidFill>
                  <a:srgbClr val="F5B700"/>
                </a:solidFill>
                <a:latin typeface="Cambria" pitchFamily="34" charset="0"/>
                <a:ea typeface="Cambria" pitchFamily="34" charset="-122"/>
                <a:cs typeface="Cambria" pitchFamily="34" charset="-120"/>
              </a:rPr>
              <a:t>O4</a:t>
            </a:r>
            <a:endParaRPr lang="en-US" sz="3000" dirty="0"/>
          </a:p>
        </p:txBody>
      </p:sp>
      <p:sp>
        <p:nvSpPr>
          <p:cNvPr id="23" name="a4_t"/>
          <p:cNvSpPr txBox="1"/>
          <p:nvPr/>
        </p:nvSpPr>
        <p:spPr>
          <a:xfrm>
            <a:off x="914400" y="5349240"/>
            <a:ext cx="2926080" cy="54864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Explicabilité</a:t>
            </a:r>
            <a:endParaRPr lang="en-US" sz="1800" dirty="0"/>
          </a:p>
        </p:txBody>
      </p:sp>
      <p:sp>
        <p:nvSpPr>
          <p:cNvPr id="24" name="a5_c"/>
          <p:cNvSpPr/>
          <p:nvPr/>
        </p:nvSpPr>
        <p:spPr>
          <a:xfrm>
            <a:off x="4389120" y="3931920"/>
            <a:ext cx="3383280" cy="2194560"/>
          </a:xfrm>
          <a:prstGeom prst="roundRect">
            <a:avLst>
              <a:gd name="adj" fmla="val 50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25" name="a5_i_disc"/>
          <p:cNvSpPr/>
          <p:nvPr/>
        </p:nvSpPr>
        <p:spPr>
          <a:xfrm>
            <a:off x="4663440" y="4251960"/>
            <a:ext cx="914400" cy="914400"/>
          </a:xfrm>
          <a:prstGeom prst="ellipse">
            <a:avLst/>
          </a:prstGeom>
          <a:solidFill>
            <a:srgbClr val="00A99D"/>
          </a:solidFill>
          <a:ln w="12700">
            <a:solidFill>
              <a:srgbClr val="00A99D"/>
            </a:solidFill>
            <a:prstDash val="solid"/>
          </a:ln>
        </p:spPr>
      </p:sp>
      <p:pic>
        <p:nvPicPr>
          <p:cNvPr id="26" name="a5_i_icon" descr="preencoded.png">    </p:cNvPr>
          <p:cNvPicPr>
            <a:picLocks noChangeAspect="1"/>
          </p:cNvPicPr>
          <p:nvPr/>
        </p:nvPicPr>
        <p:blipFill>
          <a:blip r:embed="rId5"/>
          <a:stretch>
            <a:fillRect/>
          </a:stretch>
        </p:blipFill>
        <p:spPr>
          <a:xfrm>
            <a:off x="4882896" y="4471416"/>
            <a:ext cx="475488" cy="475488"/>
          </a:xfrm>
          <a:prstGeom prst="rect">
            <a:avLst/>
          </a:prstGeom>
        </p:spPr>
      </p:pic>
      <p:sp>
        <p:nvSpPr>
          <p:cNvPr id="27" name="a5_o"/>
          <p:cNvSpPr txBox="1"/>
          <p:nvPr/>
        </p:nvSpPr>
        <p:spPr>
          <a:xfrm>
            <a:off x="5806440" y="4251960"/>
            <a:ext cx="1737360" cy="548640"/>
          </a:xfrm>
          <a:prstGeom prst="rect">
            <a:avLst/>
          </a:prstGeom>
          <a:noFill/>
          <a:ln/>
        </p:spPr>
        <p:txBody>
          <a:bodyPr wrap="square" lIns="0" tIns="0" rIns="0" bIns="0" rtlCol="0" anchor="ctr"/>
          <a:lstStyle/>
          <a:p>
            <a:pPr indent="0" marL="0">
              <a:buNone/>
            </a:pPr>
            <a:r>
              <a:rPr lang="en-US" sz="3000" b="1" dirty="0">
                <a:solidFill>
                  <a:srgbClr val="00A99D"/>
                </a:solidFill>
                <a:latin typeface="Cambria" pitchFamily="34" charset="0"/>
                <a:ea typeface="Cambria" pitchFamily="34" charset="-122"/>
                <a:cs typeface="Cambria" pitchFamily="34" charset="-120"/>
              </a:rPr>
              <a:t>O5</a:t>
            </a:r>
            <a:endParaRPr lang="en-US" sz="3000" dirty="0"/>
          </a:p>
        </p:txBody>
      </p:sp>
      <p:sp>
        <p:nvSpPr>
          <p:cNvPr id="28" name="a5_t"/>
          <p:cNvSpPr txBox="1"/>
          <p:nvPr/>
        </p:nvSpPr>
        <p:spPr>
          <a:xfrm>
            <a:off x="4663440" y="5349240"/>
            <a:ext cx="2926080" cy="54864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Évaluation rigoureuse</a:t>
            </a:r>
            <a:endParaRPr lang="en-US" sz="1800" dirty="0"/>
          </a:p>
        </p:txBody>
      </p:sp>
      <p:sp>
        <p:nvSpPr>
          <p:cNvPr id="29" name="a6_c"/>
          <p:cNvSpPr/>
          <p:nvPr/>
        </p:nvSpPr>
        <p:spPr>
          <a:xfrm>
            <a:off x="8138160" y="3931920"/>
            <a:ext cx="3383280" cy="2194560"/>
          </a:xfrm>
          <a:prstGeom prst="roundRect">
            <a:avLst>
              <a:gd name="adj" fmla="val 50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30" name="a6_i_disc"/>
          <p:cNvSpPr/>
          <p:nvPr/>
        </p:nvSpPr>
        <p:spPr>
          <a:xfrm>
            <a:off x="8412480" y="4251960"/>
            <a:ext cx="914400" cy="914400"/>
          </a:xfrm>
          <a:prstGeom prst="ellipse">
            <a:avLst/>
          </a:prstGeom>
          <a:solidFill>
            <a:srgbClr val="16305C"/>
          </a:solidFill>
          <a:ln w="12700">
            <a:solidFill>
              <a:srgbClr val="16305C"/>
            </a:solidFill>
            <a:prstDash val="solid"/>
          </a:ln>
        </p:spPr>
      </p:sp>
      <p:pic>
        <p:nvPicPr>
          <p:cNvPr id="31" name="a6_i_icon" descr="preencoded.png">    </p:cNvPr>
          <p:cNvPicPr>
            <a:picLocks noChangeAspect="1"/>
          </p:cNvPicPr>
          <p:nvPr/>
        </p:nvPicPr>
        <p:blipFill>
          <a:blip r:embed="rId6"/>
          <a:stretch>
            <a:fillRect/>
          </a:stretch>
        </p:blipFill>
        <p:spPr>
          <a:xfrm>
            <a:off x="8631936" y="4471416"/>
            <a:ext cx="475488" cy="475488"/>
          </a:xfrm>
          <a:prstGeom prst="rect">
            <a:avLst/>
          </a:prstGeom>
        </p:spPr>
      </p:pic>
      <p:sp>
        <p:nvSpPr>
          <p:cNvPr id="32" name="a6_o"/>
          <p:cNvSpPr txBox="1"/>
          <p:nvPr/>
        </p:nvSpPr>
        <p:spPr>
          <a:xfrm>
            <a:off x="9555480" y="4251960"/>
            <a:ext cx="1737360" cy="548640"/>
          </a:xfrm>
          <a:prstGeom prst="rect">
            <a:avLst/>
          </a:prstGeom>
          <a:noFill/>
          <a:ln/>
        </p:spPr>
        <p:txBody>
          <a:bodyPr wrap="square" lIns="0" tIns="0" rIns="0" bIns="0" rtlCol="0" anchor="ctr"/>
          <a:lstStyle/>
          <a:p>
            <a:pPr indent="0" marL="0">
              <a:buNone/>
            </a:pPr>
            <a:r>
              <a:rPr lang="en-US" sz="3000" b="1" dirty="0">
                <a:solidFill>
                  <a:srgbClr val="16305C"/>
                </a:solidFill>
                <a:latin typeface="Cambria" pitchFamily="34" charset="0"/>
                <a:ea typeface="Cambria" pitchFamily="34" charset="-122"/>
                <a:cs typeface="Cambria" pitchFamily="34" charset="-120"/>
              </a:rPr>
              <a:t>O6</a:t>
            </a:r>
            <a:endParaRPr lang="en-US" sz="3000" dirty="0"/>
          </a:p>
        </p:txBody>
      </p:sp>
      <p:sp>
        <p:nvSpPr>
          <p:cNvPr id="33" name="a6_t"/>
          <p:cNvSpPr txBox="1"/>
          <p:nvPr/>
        </p:nvSpPr>
        <p:spPr>
          <a:xfrm>
            <a:off x="8412480" y="5349240"/>
            <a:ext cx="2926080" cy="54864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API · CLI · Web</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35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7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52" fill="hold">
                            <p:stCondLst>
                              <p:cond delay="105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4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childTnLst>
                          </p:cTn>
                        </p:par>
                        <p:par>
                          <p:cTn id="84" fill="hold">
                            <p:stCondLst>
                              <p:cond delay="1750"/>
                            </p:stCondLst>
                            <p:childTnLst>
                              <p:par>
                                <p:cTn id="85" presetID="10" presetClass="entr" presetSubtype="0"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Une architecture en six couches</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4</a:t>
            </a:r>
            <a:endParaRPr lang="en-US" sz="1100" dirty="0"/>
          </a:p>
        </p:txBody>
      </p:sp>
      <p:sp>
        <p:nvSpPr>
          <p:cNvPr id="4" name="a1w_bar"/>
          <p:cNvSpPr/>
          <p:nvPr/>
        </p:nvSpPr>
        <p:spPr>
          <a:xfrm>
            <a:off x="1463040" y="5806440"/>
            <a:ext cx="9326880" cy="713232"/>
          </a:xfrm>
          <a:prstGeom prst="roundRect">
            <a:avLst>
              <a:gd name="adj" fmla="val 12821"/>
            </a:avLst>
          </a:prstGeom>
          <a:solidFill>
            <a:srgbClr val="4C9BE8"/>
          </a:solidFill>
          <a:ln w="12700">
            <a:solidFill>
              <a:srgbClr val="4C9BE8"/>
            </a:solidFill>
            <a:prstDash val="solid"/>
          </a:ln>
        </p:spPr>
      </p:sp>
      <p:pic>
        <p:nvPicPr>
          <p:cNvPr id="5" name="a1w_ic" descr="preencoded.png">    </p:cNvPr>
          <p:cNvPicPr>
            <a:picLocks noChangeAspect="1"/>
          </p:cNvPicPr>
          <p:nvPr/>
        </p:nvPicPr>
        <p:blipFill>
          <a:blip r:embed="rId1"/>
          <a:stretch>
            <a:fillRect/>
          </a:stretch>
        </p:blipFill>
        <p:spPr>
          <a:xfrm>
            <a:off x="1645920" y="5934456"/>
            <a:ext cx="457200" cy="457200"/>
          </a:xfrm>
          <a:prstGeom prst="rect">
            <a:avLst/>
          </a:prstGeom>
        </p:spPr>
      </p:pic>
      <p:sp>
        <p:nvSpPr>
          <p:cNvPr id="6" name="a1w_n"/>
          <p:cNvSpPr txBox="1"/>
          <p:nvPr/>
        </p:nvSpPr>
        <p:spPr>
          <a:xfrm>
            <a:off x="2286000" y="5897880"/>
            <a:ext cx="256032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Ingestion</a:t>
            </a:r>
            <a:endParaRPr lang="en-US" sz="2000" dirty="0"/>
          </a:p>
        </p:txBody>
      </p:sp>
      <p:sp>
        <p:nvSpPr>
          <p:cNvPr id="7" name="a1w_d"/>
          <p:cNvSpPr txBox="1"/>
          <p:nvPr/>
        </p:nvSpPr>
        <p:spPr>
          <a:xfrm>
            <a:off x="4846320" y="5897880"/>
            <a:ext cx="5760720" cy="53035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IBM AML · Elliptic · CSV/JSON/Parquet · Pydantic</a:t>
            </a:r>
            <a:endParaRPr lang="en-US" sz="1600" dirty="0"/>
          </a:p>
        </p:txBody>
      </p:sp>
      <p:sp>
        <p:nvSpPr>
          <p:cNvPr id="8" name="a2w_bar"/>
          <p:cNvSpPr/>
          <p:nvPr/>
        </p:nvSpPr>
        <p:spPr>
          <a:xfrm>
            <a:off x="1463040" y="4965192"/>
            <a:ext cx="9326880" cy="713232"/>
          </a:xfrm>
          <a:prstGeom prst="roundRect">
            <a:avLst>
              <a:gd name="adj" fmla="val 12821"/>
            </a:avLst>
          </a:prstGeom>
          <a:solidFill>
            <a:srgbClr val="3FB6D1"/>
          </a:solidFill>
          <a:ln w="12700">
            <a:solidFill>
              <a:srgbClr val="3FB6D1"/>
            </a:solidFill>
            <a:prstDash val="solid"/>
          </a:ln>
        </p:spPr>
      </p:sp>
      <p:pic>
        <p:nvPicPr>
          <p:cNvPr id="9" name="a2w_ic" descr="preencoded.png">    </p:cNvPr>
          <p:cNvPicPr>
            <a:picLocks noChangeAspect="1"/>
          </p:cNvPicPr>
          <p:nvPr/>
        </p:nvPicPr>
        <p:blipFill>
          <a:blip r:embed="rId2"/>
          <a:stretch>
            <a:fillRect/>
          </a:stretch>
        </p:blipFill>
        <p:spPr>
          <a:xfrm>
            <a:off x="1645920" y="5093208"/>
            <a:ext cx="457200" cy="457200"/>
          </a:xfrm>
          <a:prstGeom prst="rect">
            <a:avLst/>
          </a:prstGeom>
        </p:spPr>
      </p:pic>
      <p:sp>
        <p:nvSpPr>
          <p:cNvPr id="10" name="a2w_n"/>
          <p:cNvSpPr txBox="1"/>
          <p:nvPr/>
        </p:nvSpPr>
        <p:spPr>
          <a:xfrm>
            <a:off x="2286000" y="5056632"/>
            <a:ext cx="256032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Caractéristiques</a:t>
            </a:r>
            <a:endParaRPr lang="en-US" sz="2000" dirty="0"/>
          </a:p>
        </p:txBody>
      </p:sp>
      <p:sp>
        <p:nvSpPr>
          <p:cNvPr id="11" name="a2w_d"/>
          <p:cNvSpPr txBox="1"/>
          <p:nvPr/>
        </p:nvSpPr>
        <p:spPr>
          <a:xfrm>
            <a:off x="4846320" y="5056632"/>
            <a:ext cx="5760720" cy="53035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fenêtres causales 1 h · 24 h · 7 j · PageRank</a:t>
            </a:r>
            <a:endParaRPr lang="en-US" sz="1600" dirty="0"/>
          </a:p>
        </p:txBody>
      </p:sp>
      <p:sp>
        <p:nvSpPr>
          <p:cNvPr id="12" name="a3w_bar"/>
          <p:cNvSpPr/>
          <p:nvPr/>
        </p:nvSpPr>
        <p:spPr>
          <a:xfrm>
            <a:off x="1463040" y="4123944"/>
            <a:ext cx="9326880" cy="713232"/>
          </a:xfrm>
          <a:prstGeom prst="roundRect">
            <a:avLst>
              <a:gd name="adj" fmla="val 12821"/>
            </a:avLst>
          </a:prstGeom>
          <a:solidFill>
            <a:srgbClr val="00A99D"/>
          </a:solidFill>
          <a:ln w="12700">
            <a:solidFill>
              <a:srgbClr val="00A99D"/>
            </a:solidFill>
            <a:prstDash val="solid"/>
          </a:ln>
        </p:spPr>
      </p:sp>
      <p:pic>
        <p:nvPicPr>
          <p:cNvPr id="13" name="a3w_ic" descr="preencoded.png">    </p:cNvPr>
          <p:cNvPicPr>
            <a:picLocks noChangeAspect="1"/>
          </p:cNvPicPr>
          <p:nvPr/>
        </p:nvPicPr>
        <p:blipFill>
          <a:blip r:embed="rId3"/>
          <a:stretch>
            <a:fillRect/>
          </a:stretch>
        </p:blipFill>
        <p:spPr>
          <a:xfrm>
            <a:off x="1645920" y="4251960"/>
            <a:ext cx="457200" cy="457200"/>
          </a:xfrm>
          <a:prstGeom prst="rect">
            <a:avLst/>
          </a:prstGeom>
        </p:spPr>
      </p:pic>
      <p:sp>
        <p:nvSpPr>
          <p:cNvPr id="14" name="a3w_n"/>
          <p:cNvSpPr txBox="1"/>
          <p:nvPr/>
        </p:nvSpPr>
        <p:spPr>
          <a:xfrm>
            <a:off x="2286000" y="4215384"/>
            <a:ext cx="256032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Graphes</a:t>
            </a:r>
            <a:endParaRPr lang="en-US" sz="2000" dirty="0"/>
          </a:p>
        </p:txBody>
      </p:sp>
      <p:sp>
        <p:nvSpPr>
          <p:cNvPr id="15" name="a3w_d"/>
          <p:cNvSpPr txBox="1"/>
          <p:nvPr/>
        </p:nvSpPr>
        <p:spPr>
          <a:xfrm>
            <a:off x="4846320" y="4215384"/>
            <a:ext cx="5760720" cy="53035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NetworkX · PyTorch Geometric · Neo4j</a:t>
            </a:r>
            <a:endParaRPr lang="en-US" sz="1600" dirty="0"/>
          </a:p>
        </p:txBody>
      </p:sp>
      <p:sp>
        <p:nvSpPr>
          <p:cNvPr id="16" name="a4w_bar"/>
          <p:cNvSpPr/>
          <p:nvPr/>
        </p:nvSpPr>
        <p:spPr>
          <a:xfrm>
            <a:off x="1463040" y="3282696"/>
            <a:ext cx="9326880" cy="713232"/>
          </a:xfrm>
          <a:prstGeom prst="roundRect">
            <a:avLst>
              <a:gd name="adj" fmla="val 12821"/>
            </a:avLst>
          </a:prstGeom>
          <a:solidFill>
            <a:srgbClr val="F2545B"/>
          </a:solidFill>
          <a:ln w="12700">
            <a:solidFill>
              <a:srgbClr val="F2545B"/>
            </a:solidFill>
            <a:prstDash val="solid"/>
          </a:ln>
        </p:spPr>
      </p:sp>
      <p:pic>
        <p:nvPicPr>
          <p:cNvPr id="17" name="a4w_ic" descr="preencoded.png">    </p:cNvPr>
          <p:cNvPicPr>
            <a:picLocks noChangeAspect="1"/>
          </p:cNvPicPr>
          <p:nvPr/>
        </p:nvPicPr>
        <p:blipFill>
          <a:blip r:embed="rId4"/>
          <a:stretch>
            <a:fillRect/>
          </a:stretch>
        </p:blipFill>
        <p:spPr>
          <a:xfrm>
            <a:off x="1645920" y="3410712"/>
            <a:ext cx="457200" cy="457200"/>
          </a:xfrm>
          <a:prstGeom prst="rect">
            <a:avLst/>
          </a:prstGeom>
        </p:spPr>
      </p:pic>
      <p:sp>
        <p:nvSpPr>
          <p:cNvPr id="18" name="a4w_n"/>
          <p:cNvSpPr txBox="1"/>
          <p:nvPr/>
        </p:nvSpPr>
        <p:spPr>
          <a:xfrm>
            <a:off x="2286000" y="3374136"/>
            <a:ext cx="256032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Détecteurs</a:t>
            </a:r>
            <a:endParaRPr lang="en-US" sz="2000" dirty="0"/>
          </a:p>
        </p:txBody>
      </p:sp>
      <p:sp>
        <p:nvSpPr>
          <p:cNvPr id="19" name="a4w_d"/>
          <p:cNvSpPr txBox="1"/>
          <p:nvPr/>
        </p:nvSpPr>
        <p:spPr>
          <a:xfrm>
            <a:off x="4846320" y="3374136"/>
            <a:ext cx="5760720" cy="53035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7 motifs · tabulaires · GNN · hybride</a:t>
            </a:r>
            <a:endParaRPr lang="en-US" sz="1600" dirty="0"/>
          </a:p>
        </p:txBody>
      </p:sp>
      <p:sp>
        <p:nvSpPr>
          <p:cNvPr id="20" name="a5w_bar"/>
          <p:cNvSpPr/>
          <p:nvPr/>
        </p:nvSpPr>
        <p:spPr>
          <a:xfrm>
            <a:off x="1463040" y="2441448"/>
            <a:ext cx="9326880" cy="713232"/>
          </a:xfrm>
          <a:prstGeom prst="roundRect">
            <a:avLst>
              <a:gd name="adj" fmla="val 12821"/>
            </a:avLst>
          </a:prstGeom>
          <a:solidFill>
            <a:srgbClr val="F5B700"/>
          </a:solidFill>
          <a:ln w="12700">
            <a:solidFill>
              <a:srgbClr val="F5B700"/>
            </a:solidFill>
            <a:prstDash val="solid"/>
          </a:ln>
        </p:spPr>
      </p:sp>
      <p:pic>
        <p:nvPicPr>
          <p:cNvPr id="21" name="a5w_ic" descr="preencoded.png">    </p:cNvPr>
          <p:cNvPicPr>
            <a:picLocks noChangeAspect="1"/>
          </p:cNvPicPr>
          <p:nvPr/>
        </p:nvPicPr>
        <p:blipFill>
          <a:blip r:embed="rId5"/>
          <a:stretch>
            <a:fillRect/>
          </a:stretch>
        </p:blipFill>
        <p:spPr>
          <a:xfrm>
            <a:off x="1645920" y="2569464"/>
            <a:ext cx="457200" cy="457200"/>
          </a:xfrm>
          <a:prstGeom prst="rect">
            <a:avLst/>
          </a:prstGeom>
        </p:spPr>
      </p:pic>
      <p:sp>
        <p:nvSpPr>
          <p:cNvPr id="22" name="a5w_n"/>
          <p:cNvSpPr txBox="1"/>
          <p:nvPr/>
        </p:nvSpPr>
        <p:spPr>
          <a:xfrm>
            <a:off x="2286000" y="2532888"/>
            <a:ext cx="256032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Explications</a:t>
            </a:r>
            <a:endParaRPr lang="en-US" sz="2000" dirty="0"/>
          </a:p>
        </p:txBody>
      </p:sp>
      <p:sp>
        <p:nvSpPr>
          <p:cNvPr id="23" name="a5w_d"/>
          <p:cNvSpPr txBox="1"/>
          <p:nvPr/>
        </p:nvSpPr>
        <p:spPr>
          <a:xfrm>
            <a:off x="4846320" y="2532888"/>
            <a:ext cx="5760720" cy="53035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motifs · occlusion · GNNExplainer · Captum</a:t>
            </a:r>
            <a:endParaRPr lang="en-US" sz="1600" dirty="0"/>
          </a:p>
        </p:txBody>
      </p:sp>
      <p:sp>
        <p:nvSpPr>
          <p:cNvPr id="24" name="a6w_bar"/>
          <p:cNvSpPr/>
          <p:nvPr/>
        </p:nvSpPr>
        <p:spPr>
          <a:xfrm>
            <a:off x="1463040" y="1600200"/>
            <a:ext cx="9326880" cy="713232"/>
          </a:xfrm>
          <a:prstGeom prst="roundRect">
            <a:avLst>
              <a:gd name="adj" fmla="val 12821"/>
            </a:avLst>
          </a:prstGeom>
          <a:solidFill>
            <a:srgbClr val="7B61FF"/>
          </a:solidFill>
          <a:ln w="12700">
            <a:solidFill>
              <a:srgbClr val="7B61FF"/>
            </a:solidFill>
            <a:prstDash val="solid"/>
          </a:ln>
        </p:spPr>
      </p:sp>
      <p:pic>
        <p:nvPicPr>
          <p:cNvPr id="25" name="a6w_ic" descr="preencoded.png">    </p:cNvPr>
          <p:cNvPicPr>
            <a:picLocks noChangeAspect="1"/>
          </p:cNvPicPr>
          <p:nvPr/>
        </p:nvPicPr>
        <p:blipFill>
          <a:blip r:embed="rId6"/>
          <a:stretch>
            <a:fillRect/>
          </a:stretch>
        </p:blipFill>
        <p:spPr>
          <a:xfrm>
            <a:off x="1645920" y="1728216"/>
            <a:ext cx="457200" cy="457200"/>
          </a:xfrm>
          <a:prstGeom prst="rect">
            <a:avLst/>
          </a:prstGeom>
        </p:spPr>
      </p:pic>
      <p:sp>
        <p:nvSpPr>
          <p:cNvPr id="26" name="a6w_n"/>
          <p:cNvSpPr txBox="1"/>
          <p:nvPr/>
        </p:nvSpPr>
        <p:spPr>
          <a:xfrm>
            <a:off x="2286000" y="1691640"/>
            <a:ext cx="256032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Interfaces</a:t>
            </a:r>
            <a:endParaRPr lang="en-US" sz="2000" dirty="0"/>
          </a:p>
        </p:txBody>
      </p:sp>
      <p:sp>
        <p:nvSpPr>
          <p:cNvPr id="27" name="a6w_d"/>
          <p:cNvSpPr txBox="1"/>
          <p:nvPr/>
        </p:nvSpPr>
        <p:spPr>
          <a:xfrm>
            <a:off x="4846320" y="1691640"/>
            <a:ext cx="5760720" cy="53035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web · REST · CLI · notebooks · MLflow · Hub</a:t>
            </a:r>
            <a:endParaRPr lang="en-US" sz="1600" dirty="0"/>
          </a:p>
        </p:txBody>
      </p:sp>
      <p:sp>
        <p:nvSpPr>
          <p:cNvPr id="28" name="a7_up"/>
          <p:cNvSpPr txBox="1"/>
          <p:nvPr/>
        </p:nvSpPr>
        <p:spPr>
          <a:xfrm>
            <a:off x="640080" y="1371600"/>
            <a:ext cx="548640" cy="457200"/>
          </a:xfrm>
          <a:prstGeom prst="rect">
            <a:avLst/>
          </a:prstGeom>
          <a:noFill/>
          <a:ln/>
        </p:spPr>
        <p:txBody>
          <a:bodyPr wrap="square" lIns="0" tIns="0" rIns="0" bIns="0" rtlCol="0" anchor="ctr"/>
          <a:lstStyle/>
          <a:p>
            <a:pPr algn="ctr" indent="0" marL="0">
              <a:buNone/>
            </a:pPr>
            <a:r>
              <a:rPr lang="en-US" sz="2400" dirty="0">
                <a:solidFill>
                  <a:srgbClr val="5B6577"/>
                </a:solidFill>
                <a:latin typeface="Calibri" pitchFamily="34" charset="0"/>
                <a:ea typeface="Calibri" pitchFamily="34" charset="-122"/>
                <a:cs typeface="Calibri" pitchFamily="34" charset="-120"/>
              </a:rPr>
              <a:t>▲</a:t>
            </a:r>
            <a:endParaRPr lang="en-US" sz="2400" dirty="0"/>
          </a:p>
        </p:txBody>
      </p:sp>
      <p:sp>
        <p:nvSpPr>
          <p:cNvPr id="29" name="a7_txt"/>
          <p:cNvSpPr txBox="1"/>
          <p:nvPr/>
        </p:nvSpPr>
        <p:spPr>
          <a:xfrm>
            <a:off x="411480" y="1828800"/>
            <a:ext cx="1005840" cy="3200400"/>
          </a:xfrm>
          <a:prstGeom prst="rect">
            <a:avLst/>
          </a:prstGeom>
          <a:noFill/>
          <a:ln/>
        </p:spPr>
        <p:txBody>
          <a:bodyPr wrap="square" lIns="0" tIns="0" rIns="0" bIns="0" rtlCol="0" anchor="ctr"/>
          <a:lstStyle/>
          <a:p>
            <a:pPr algn="ctr" indent="0" marL="0">
              <a:buNone/>
            </a:pPr>
            <a:r>
              <a:rPr lang="en-US" sz="1200" dirty="0">
                <a:solidFill>
                  <a:srgbClr val="5B6577"/>
                </a:solidFill>
                <a:latin typeface="Calibri" pitchFamily="34" charset="0"/>
                <a:ea typeface="Calibri" pitchFamily="34" charset="-122"/>
                <a:cs typeface="Calibri" pitchFamily="34" charset="-120"/>
              </a:rPr>
              <a:t>chaque couche n'utilise que celles du dessous</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35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7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par>
                          <p:cTn id="43" fill="hold">
                            <p:stCondLst>
                              <p:cond delay="1050"/>
                            </p:stCondLst>
                            <p:childTnLst>
                              <p:par>
                                <p:cTn id="44" presetID="22" presetClass="entr" presetSubtype="8"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childTnLst>
                          </p:cTn>
                        </p:par>
                        <p:par>
                          <p:cTn id="56" fill="hold">
                            <p:stCondLst>
                              <p:cond delay="1400"/>
                            </p:stCondLst>
                            <p:childTnLst>
                              <p:par>
                                <p:cTn id="57" presetID="22" presetClass="entr" presetSubtype="8"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500"/>
                                        <p:tgtEl>
                                          <p:spTgt spid="22"/>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500"/>
                                        <p:tgtEl>
                                          <p:spTgt spid="23"/>
                                        </p:tgtEl>
                                      </p:cBhvr>
                                    </p:animEffect>
                                  </p:childTnLst>
                                </p:cTn>
                              </p:par>
                            </p:childTnLst>
                          </p:cTn>
                        </p:par>
                        <p:par>
                          <p:cTn id="69" fill="hold">
                            <p:stCondLst>
                              <p:cond delay="1750"/>
                            </p:stCondLst>
                            <p:childTnLst>
                              <p:par>
                                <p:cTn id="70" presetID="22" presetClass="entr" presetSubtype="8"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00"/>
                                        <p:tgtEl>
                                          <p:spTgt spid="24"/>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left)">
                                      <p:cBhvr>
                                        <p:cTn id="75" dur="500"/>
                                        <p:tgtEl>
                                          <p:spTgt spid="25"/>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wipe(left)">
                                      <p:cBhvr>
                                        <p:cTn id="78" dur="500"/>
                                        <p:tgtEl>
                                          <p:spTgt spid="26"/>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wipe(left)">
                                      <p:cBhvr>
                                        <p:cTn id="81" dur="500"/>
                                        <p:tgtEl>
                                          <p:spTgt spid="27"/>
                                        </p:tgtEl>
                                      </p:cBhvr>
                                    </p:animEffect>
                                  </p:childTnLst>
                                </p:cTn>
                              </p:par>
                            </p:childTnLst>
                          </p:cTn>
                        </p:par>
                        <p:par>
                          <p:cTn id="82" fill="hold">
                            <p:stCondLst>
                              <p:cond delay="2100"/>
                            </p:stCondLst>
                            <p:childTnLst>
                              <p:par>
                                <p:cTn id="83" presetID="10" presetClass="entr" presetSubtype="0" fill="hold" grpId="0" nodeType="after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Trois jeux de données de référence</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5</a:t>
            </a:r>
            <a:endParaRPr lang="en-US" sz="1100" dirty="0"/>
          </a:p>
        </p:txBody>
      </p:sp>
      <p:sp>
        <p:nvSpPr>
          <p:cNvPr id="4" name="a1_c"/>
          <p:cNvSpPr/>
          <p:nvPr/>
        </p:nvSpPr>
        <p:spPr>
          <a:xfrm>
            <a:off x="640080" y="1417320"/>
            <a:ext cx="3383280" cy="3566160"/>
          </a:xfrm>
          <a:prstGeom prst="roundRect">
            <a:avLst>
              <a:gd name="adj" fmla="val 3243"/>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 name="a1_i_disc"/>
          <p:cNvSpPr/>
          <p:nvPr/>
        </p:nvSpPr>
        <p:spPr>
          <a:xfrm>
            <a:off x="914400" y="1645920"/>
            <a:ext cx="731520" cy="731520"/>
          </a:xfrm>
          <a:prstGeom prst="ellipse">
            <a:avLst/>
          </a:prstGeom>
          <a:solidFill>
            <a:srgbClr val="F2545B"/>
          </a:solidFill>
          <a:ln w="12700">
            <a:solidFill>
              <a:srgbClr val="F2545B"/>
            </a:solidFill>
            <a:prstDash val="solid"/>
          </a:ln>
        </p:spPr>
      </p:sp>
      <p:pic>
        <p:nvPicPr>
          <p:cNvPr id="6" name="a1_i_icon" descr="preencoded.png">    </p:cNvPr>
          <p:cNvPicPr>
            <a:picLocks noChangeAspect="1"/>
          </p:cNvPicPr>
          <p:nvPr/>
        </p:nvPicPr>
        <p:blipFill>
          <a:blip r:embed="rId1"/>
          <a:stretch>
            <a:fillRect/>
          </a:stretch>
        </p:blipFill>
        <p:spPr>
          <a:xfrm>
            <a:off x="1089965" y="1821485"/>
            <a:ext cx="380390" cy="380390"/>
          </a:xfrm>
          <a:prstGeom prst="rect">
            <a:avLst/>
          </a:prstGeom>
        </p:spPr>
      </p:pic>
      <p:sp>
        <p:nvSpPr>
          <p:cNvPr id="7" name="a1_n"/>
          <p:cNvSpPr txBox="1"/>
          <p:nvPr/>
        </p:nvSpPr>
        <p:spPr>
          <a:xfrm>
            <a:off x="1783080" y="1691640"/>
            <a:ext cx="2103120" cy="6400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IBM HI-Small</a:t>
            </a:r>
            <a:endParaRPr lang="en-US" sz="2000" dirty="0"/>
          </a:p>
        </p:txBody>
      </p:sp>
      <p:sp>
        <p:nvSpPr>
          <p:cNvPr id="8" name="a1_v"/>
          <p:cNvSpPr txBox="1"/>
          <p:nvPr/>
        </p:nvSpPr>
        <p:spPr>
          <a:xfrm>
            <a:off x="822960" y="2606040"/>
            <a:ext cx="3017520" cy="914400"/>
          </a:xfrm>
          <a:prstGeom prst="rect">
            <a:avLst/>
          </a:prstGeom>
          <a:noFill/>
          <a:ln/>
        </p:spPr>
        <p:txBody>
          <a:bodyPr wrap="square" lIns="0" tIns="0" rIns="0" bIns="0" rtlCol="0" anchor="ctr"/>
          <a:lstStyle/>
          <a:p>
            <a:pPr algn="ctr" indent="0" marL="0">
              <a:buNone/>
            </a:pPr>
            <a:r>
              <a:rPr lang="en-US" sz="4800" b="1" dirty="0">
                <a:solidFill>
                  <a:srgbClr val="F2545B"/>
                </a:solidFill>
                <a:latin typeface="Cambria" pitchFamily="34" charset="0"/>
                <a:ea typeface="Cambria" pitchFamily="34" charset="-122"/>
                <a:cs typeface="Cambria" pitchFamily="34" charset="-120"/>
              </a:rPr>
              <a:t>5,08 M</a:t>
            </a:r>
            <a:endParaRPr lang="en-US" sz="4800" dirty="0"/>
          </a:p>
        </p:txBody>
      </p:sp>
      <p:sp>
        <p:nvSpPr>
          <p:cNvPr id="9" name="a1_u"/>
          <p:cNvSpPr txBox="1"/>
          <p:nvPr/>
        </p:nvSpPr>
        <p:spPr>
          <a:xfrm>
            <a:off x="822960" y="3474720"/>
            <a:ext cx="3017520" cy="36576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transactions</a:t>
            </a:r>
            <a:endParaRPr lang="en-US" sz="1600" dirty="0"/>
          </a:p>
        </p:txBody>
      </p:sp>
      <p:sp>
        <p:nvSpPr>
          <p:cNvPr id="10" name="a1_r"/>
          <p:cNvSpPr txBox="1"/>
          <p:nvPr/>
        </p:nvSpPr>
        <p:spPr>
          <a:xfrm>
            <a:off x="822960" y="4069080"/>
            <a:ext cx="3017520" cy="45720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0,10 % illicites</a:t>
            </a:r>
            <a:endParaRPr lang="en-US" sz="1800" dirty="0"/>
          </a:p>
        </p:txBody>
      </p:sp>
      <p:sp>
        <p:nvSpPr>
          <p:cNvPr id="11" name="a2_c"/>
          <p:cNvSpPr/>
          <p:nvPr/>
        </p:nvSpPr>
        <p:spPr>
          <a:xfrm>
            <a:off x="4389120" y="1417320"/>
            <a:ext cx="3383280" cy="3566160"/>
          </a:xfrm>
          <a:prstGeom prst="roundRect">
            <a:avLst>
              <a:gd name="adj" fmla="val 3243"/>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2" name="a2_i_disc"/>
          <p:cNvSpPr/>
          <p:nvPr/>
        </p:nvSpPr>
        <p:spPr>
          <a:xfrm>
            <a:off x="4663440" y="1645920"/>
            <a:ext cx="731520" cy="731520"/>
          </a:xfrm>
          <a:prstGeom prst="ellipse">
            <a:avLst/>
          </a:prstGeom>
          <a:solidFill>
            <a:srgbClr val="4C9BE8"/>
          </a:solidFill>
          <a:ln w="12700">
            <a:solidFill>
              <a:srgbClr val="4C9BE8"/>
            </a:solidFill>
            <a:prstDash val="solid"/>
          </a:ln>
        </p:spPr>
      </p:sp>
      <p:pic>
        <p:nvPicPr>
          <p:cNvPr id="13" name="a2_i_icon" descr="preencoded.png">    </p:cNvPr>
          <p:cNvPicPr>
            <a:picLocks noChangeAspect="1"/>
          </p:cNvPicPr>
          <p:nvPr/>
        </p:nvPicPr>
        <p:blipFill>
          <a:blip r:embed="rId2"/>
          <a:stretch>
            <a:fillRect/>
          </a:stretch>
        </p:blipFill>
        <p:spPr>
          <a:xfrm>
            <a:off x="4839005" y="1821485"/>
            <a:ext cx="380390" cy="380390"/>
          </a:xfrm>
          <a:prstGeom prst="rect">
            <a:avLst/>
          </a:prstGeom>
        </p:spPr>
      </p:pic>
      <p:sp>
        <p:nvSpPr>
          <p:cNvPr id="14" name="a2_n"/>
          <p:cNvSpPr txBox="1"/>
          <p:nvPr/>
        </p:nvSpPr>
        <p:spPr>
          <a:xfrm>
            <a:off x="5532120" y="1691640"/>
            <a:ext cx="2103120" cy="6400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IBM LI-Small</a:t>
            </a:r>
            <a:endParaRPr lang="en-US" sz="2000" dirty="0"/>
          </a:p>
        </p:txBody>
      </p:sp>
      <p:sp>
        <p:nvSpPr>
          <p:cNvPr id="15" name="a2_v"/>
          <p:cNvSpPr txBox="1"/>
          <p:nvPr/>
        </p:nvSpPr>
        <p:spPr>
          <a:xfrm>
            <a:off x="4572000" y="2606040"/>
            <a:ext cx="3017520" cy="914400"/>
          </a:xfrm>
          <a:prstGeom prst="rect">
            <a:avLst/>
          </a:prstGeom>
          <a:noFill/>
          <a:ln/>
        </p:spPr>
        <p:txBody>
          <a:bodyPr wrap="square" lIns="0" tIns="0" rIns="0" bIns="0" rtlCol="0" anchor="ctr"/>
          <a:lstStyle/>
          <a:p>
            <a:pPr algn="ctr" indent="0" marL="0">
              <a:buNone/>
            </a:pPr>
            <a:r>
              <a:rPr lang="en-US" sz="4800" b="1" dirty="0">
                <a:solidFill>
                  <a:srgbClr val="4C9BE8"/>
                </a:solidFill>
                <a:latin typeface="Cambria" pitchFamily="34" charset="0"/>
                <a:ea typeface="Cambria" pitchFamily="34" charset="-122"/>
                <a:cs typeface="Cambria" pitchFamily="34" charset="-120"/>
              </a:rPr>
              <a:t>6,92 M</a:t>
            </a:r>
            <a:endParaRPr lang="en-US" sz="4800" dirty="0"/>
          </a:p>
        </p:txBody>
      </p:sp>
      <p:sp>
        <p:nvSpPr>
          <p:cNvPr id="16" name="a2_u"/>
          <p:cNvSpPr txBox="1"/>
          <p:nvPr/>
        </p:nvSpPr>
        <p:spPr>
          <a:xfrm>
            <a:off x="4572000" y="3474720"/>
            <a:ext cx="3017520" cy="36576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transactions</a:t>
            </a:r>
            <a:endParaRPr lang="en-US" sz="1600" dirty="0"/>
          </a:p>
        </p:txBody>
      </p:sp>
      <p:sp>
        <p:nvSpPr>
          <p:cNvPr id="17" name="a2_r"/>
          <p:cNvSpPr txBox="1"/>
          <p:nvPr/>
        </p:nvSpPr>
        <p:spPr>
          <a:xfrm>
            <a:off x="4572000" y="4069080"/>
            <a:ext cx="3017520" cy="45720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0,05 % illicites</a:t>
            </a:r>
            <a:endParaRPr lang="en-US" sz="1800" dirty="0"/>
          </a:p>
        </p:txBody>
      </p:sp>
      <p:sp>
        <p:nvSpPr>
          <p:cNvPr id="18" name="a3_c"/>
          <p:cNvSpPr/>
          <p:nvPr/>
        </p:nvSpPr>
        <p:spPr>
          <a:xfrm>
            <a:off x="8138160" y="1417320"/>
            <a:ext cx="3383280" cy="3566160"/>
          </a:xfrm>
          <a:prstGeom prst="roundRect">
            <a:avLst>
              <a:gd name="adj" fmla="val 3243"/>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9" name="a3_i_disc"/>
          <p:cNvSpPr/>
          <p:nvPr/>
        </p:nvSpPr>
        <p:spPr>
          <a:xfrm>
            <a:off x="8412480" y="1645920"/>
            <a:ext cx="731520" cy="731520"/>
          </a:xfrm>
          <a:prstGeom prst="ellipse">
            <a:avLst/>
          </a:prstGeom>
          <a:solidFill>
            <a:srgbClr val="F5B700"/>
          </a:solidFill>
          <a:ln w="12700">
            <a:solidFill>
              <a:srgbClr val="F5B700"/>
            </a:solidFill>
            <a:prstDash val="solid"/>
          </a:ln>
        </p:spPr>
      </p:sp>
      <p:pic>
        <p:nvPicPr>
          <p:cNvPr id="20" name="a3_i_icon" descr="preencoded.png">    </p:cNvPr>
          <p:cNvPicPr>
            <a:picLocks noChangeAspect="1"/>
          </p:cNvPicPr>
          <p:nvPr/>
        </p:nvPicPr>
        <p:blipFill>
          <a:blip r:embed="rId3"/>
          <a:stretch>
            <a:fillRect/>
          </a:stretch>
        </p:blipFill>
        <p:spPr>
          <a:xfrm>
            <a:off x="8588045" y="1821485"/>
            <a:ext cx="380390" cy="380390"/>
          </a:xfrm>
          <a:prstGeom prst="rect">
            <a:avLst/>
          </a:prstGeom>
        </p:spPr>
      </p:pic>
      <p:sp>
        <p:nvSpPr>
          <p:cNvPr id="21" name="a3_n"/>
          <p:cNvSpPr txBox="1"/>
          <p:nvPr/>
        </p:nvSpPr>
        <p:spPr>
          <a:xfrm>
            <a:off x="9281160" y="1691640"/>
            <a:ext cx="2103120" cy="6400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Elliptic</a:t>
            </a:r>
            <a:endParaRPr lang="en-US" sz="2000" dirty="0"/>
          </a:p>
        </p:txBody>
      </p:sp>
      <p:sp>
        <p:nvSpPr>
          <p:cNvPr id="22" name="a3_v"/>
          <p:cNvSpPr txBox="1"/>
          <p:nvPr/>
        </p:nvSpPr>
        <p:spPr>
          <a:xfrm>
            <a:off x="8321040" y="2606040"/>
            <a:ext cx="3017520" cy="914400"/>
          </a:xfrm>
          <a:prstGeom prst="rect">
            <a:avLst/>
          </a:prstGeom>
          <a:noFill/>
          <a:ln/>
        </p:spPr>
        <p:txBody>
          <a:bodyPr wrap="square" lIns="0" tIns="0" rIns="0" bIns="0" rtlCol="0" anchor="ctr"/>
          <a:lstStyle/>
          <a:p>
            <a:pPr algn="ctr" indent="0" marL="0">
              <a:buNone/>
            </a:pPr>
            <a:r>
              <a:rPr lang="en-US" sz="4800" b="1" dirty="0">
                <a:solidFill>
                  <a:srgbClr val="F5B700"/>
                </a:solidFill>
                <a:latin typeface="Cambria" pitchFamily="34" charset="0"/>
                <a:ea typeface="Cambria" pitchFamily="34" charset="-122"/>
                <a:cs typeface="Cambria" pitchFamily="34" charset="-120"/>
              </a:rPr>
              <a:t>49</a:t>
            </a:r>
            <a:endParaRPr lang="en-US" sz="4800" dirty="0"/>
          </a:p>
        </p:txBody>
      </p:sp>
      <p:sp>
        <p:nvSpPr>
          <p:cNvPr id="23" name="a3_u"/>
          <p:cNvSpPr txBox="1"/>
          <p:nvPr/>
        </p:nvSpPr>
        <p:spPr>
          <a:xfrm>
            <a:off x="8321040" y="3474720"/>
            <a:ext cx="3017520" cy="36576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pas de temps (Bitcoin)</a:t>
            </a:r>
            <a:endParaRPr lang="en-US" sz="1600" dirty="0"/>
          </a:p>
        </p:txBody>
      </p:sp>
      <p:sp>
        <p:nvSpPr>
          <p:cNvPr id="24" name="a3_r"/>
          <p:cNvSpPr txBox="1"/>
          <p:nvPr/>
        </p:nvSpPr>
        <p:spPr>
          <a:xfrm>
            <a:off x="8321040" y="4069080"/>
            <a:ext cx="3017520" cy="45720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6,5 % illicites (test)</a:t>
            </a:r>
            <a:endParaRPr lang="en-US" sz="1800" dirty="0"/>
          </a:p>
        </p:txBody>
      </p:sp>
      <p:sp>
        <p:nvSpPr>
          <p:cNvPr id="25" name="a4_tip_disc"/>
          <p:cNvSpPr/>
          <p:nvPr/>
        </p:nvSpPr>
        <p:spPr>
          <a:xfrm>
            <a:off x="640080" y="5349240"/>
            <a:ext cx="685800" cy="685800"/>
          </a:xfrm>
          <a:prstGeom prst="ellipse">
            <a:avLst/>
          </a:prstGeom>
          <a:solidFill>
            <a:srgbClr val="F5B700"/>
          </a:solidFill>
          <a:ln w="12700">
            <a:solidFill>
              <a:srgbClr val="F5B700"/>
            </a:solidFill>
            <a:prstDash val="solid"/>
          </a:ln>
        </p:spPr>
      </p:sp>
      <p:pic>
        <p:nvPicPr>
          <p:cNvPr id="26" name="a4_tip_icon" descr="preencoded.png">    </p:cNvPr>
          <p:cNvPicPr>
            <a:picLocks noChangeAspect="1"/>
          </p:cNvPicPr>
          <p:nvPr/>
        </p:nvPicPr>
        <p:blipFill>
          <a:blip r:embed="rId4"/>
          <a:stretch>
            <a:fillRect/>
          </a:stretch>
        </p:blipFill>
        <p:spPr>
          <a:xfrm>
            <a:off x="804672" y="5513832"/>
            <a:ext cx="356616" cy="356616"/>
          </a:xfrm>
          <a:prstGeom prst="rect">
            <a:avLst/>
          </a:prstGeom>
        </p:spPr>
      </p:pic>
      <p:sp>
        <p:nvSpPr>
          <p:cNvPr id="27" name="a4_tiptxt"/>
          <p:cNvSpPr txBox="1"/>
          <p:nvPr/>
        </p:nvSpPr>
        <p:spPr>
          <a:xfrm>
            <a:off x="1508760" y="5349240"/>
            <a:ext cx="10058400" cy="68580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Indice clé : </a:t>
            </a:r>
            <a:pPr indent="0" marL="0">
              <a:buNone/>
            </a:pPr>
            <a:r>
              <a:rPr lang="en-US" sz="1800" dirty="0">
                <a:solidFill>
                  <a:srgbClr val="1B2333"/>
                </a:solidFill>
                <a:latin typeface="Calibri" pitchFamily="34" charset="0"/>
                <a:ea typeface="Calibri" pitchFamily="34" charset="-122"/>
                <a:cs typeface="Calibri" pitchFamily="34" charset="-120"/>
              </a:rPr>
              <a:t>les virements ACH portent 0,75 % de blanchiment, les autres formats ≤ 0,04 %</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350"/>
                            </p:stCondLst>
                            <p:childTnLst>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par>
                          <p:cTn id="48" fill="hold">
                            <p:stCondLst>
                              <p:cond delay="700"/>
                            </p:stCondLst>
                            <p:childTnLst>
                              <p:par>
                                <p:cTn id="49" presetID="10" presetClass="entr" presetSubtype="0"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par>
                          <p:cTn id="70" fill="hold">
                            <p:stCondLst>
                              <p:cond delay="1050"/>
                            </p:stCondLst>
                            <p:childTnLst>
                              <p:par>
                                <p:cTn id="71" presetID="10" presetClass="entr" presetSubtype="0" fill="hold" grpId="0"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Un protocole sans fuite de données</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6</a:t>
            </a:r>
            <a:endParaRPr lang="en-US" sz="1100" dirty="0"/>
          </a:p>
        </p:txBody>
      </p:sp>
      <p:sp>
        <p:nvSpPr>
          <p:cNvPr id="4" name="a1w_seg"/>
          <p:cNvSpPr/>
          <p:nvPr/>
        </p:nvSpPr>
        <p:spPr>
          <a:xfrm>
            <a:off x="640080" y="1737360"/>
            <a:ext cx="6483096" cy="914400"/>
          </a:xfrm>
          <a:prstGeom prst="rect">
            <a:avLst/>
          </a:prstGeom>
          <a:solidFill>
            <a:srgbClr val="00A99D"/>
          </a:solidFill>
          <a:ln w="12700">
            <a:solidFill>
              <a:srgbClr val="00A99D"/>
            </a:solidFill>
            <a:prstDash val="solid"/>
          </a:ln>
        </p:spPr>
      </p:sp>
      <p:sp>
        <p:nvSpPr>
          <p:cNvPr id="5" name="a1w_lab"/>
          <p:cNvSpPr txBox="1"/>
          <p:nvPr/>
        </p:nvSpPr>
        <p:spPr>
          <a:xfrm>
            <a:off x="777240" y="1737360"/>
            <a:ext cx="6254496"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Entraînement · 60 %</a:t>
            </a:r>
            <a:endParaRPr lang="en-US" sz="2000" dirty="0"/>
          </a:p>
        </p:txBody>
      </p:sp>
      <p:sp>
        <p:nvSpPr>
          <p:cNvPr id="6" name="a1w_verb"/>
          <p:cNvSpPr txBox="1"/>
          <p:nvPr/>
        </p:nvSpPr>
        <p:spPr>
          <a:xfrm>
            <a:off x="640080" y="2743200"/>
            <a:ext cx="6528816" cy="411480"/>
          </a:xfrm>
          <a:prstGeom prst="rect">
            <a:avLst/>
          </a:prstGeom>
          <a:noFill/>
          <a:ln/>
        </p:spPr>
        <p:txBody>
          <a:bodyPr wrap="square" lIns="0" tIns="0" rIns="0" bIns="0" rtlCol="0" anchor="ctr"/>
          <a:lstStyle/>
          <a:p>
            <a:pPr algn="ctr" indent="0" marL="0">
              <a:buNone/>
            </a:pPr>
            <a:r>
              <a:rPr lang="en-US" sz="1600" i="1" dirty="0">
                <a:solidFill>
                  <a:srgbClr val="5B6577"/>
                </a:solidFill>
                <a:latin typeface="Calibri" pitchFamily="34" charset="0"/>
                <a:ea typeface="Calibri" pitchFamily="34" charset="-122"/>
                <a:cs typeface="Calibri" pitchFamily="34" charset="-120"/>
              </a:rPr>
              <a:t>apprendre</a:t>
            </a:r>
            <a:endParaRPr lang="en-US" sz="1600" dirty="0"/>
          </a:p>
        </p:txBody>
      </p:sp>
      <p:sp>
        <p:nvSpPr>
          <p:cNvPr id="7" name="a2w_seg"/>
          <p:cNvSpPr/>
          <p:nvPr/>
        </p:nvSpPr>
        <p:spPr>
          <a:xfrm>
            <a:off x="7168896" y="1737360"/>
            <a:ext cx="2130552" cy="914400"/>
          </a:xfrm>
          <a:prstGeom prst="rect">
            <a:avLst/>
          </a:prstGeom>
          <a:solidFill>
            <a:srgbClr val="F5B700"/>
          </a:solidFill>
          <a:ln w="12700">
            <a:solidFill>
              <a:srgbClr val="F5B700"/>
            </a:solidFill>
            <a:prstDash val="solid"/>
          </a:ln>
        </p:spPr>
      </p:sp>
      <p:sp>
        <p:nvSpPr>
          <p:cNvPr id="8" name="a2w_lab"/>
          <p:cNvSpPr txBox="1"/>
          <p:nvPr/>
        </p:nvSpPr>
        <p:spPr>
          <a:xfrm>
            <a:off x="7306056" y="1737360"/>
            <a:ext cx="1901952"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Validation · 20 %</a:t>
            </a:r>
            <a:endParaRPr lang="en-US" sz="2000" dirty="0"/>
          </a:p>
        </p:txBody>
      </p:sp>
      <p:sp>
        <p:nvSpPr>
          <p:cNvPr id="9" name="a2w_verb"/>
          <p:cNvSpPr txBox="1"/>
          <p:nvPr/>
        </p:nvSpPr>
        <p:spPr>
          <a:xfrm>
            <a:off x="7168896" y="2743200"/>
            <a:ext cx="2176272" cy="411480"/>
          </a:xfrm>
          <a:prstGeom prst="rect">
            <a:avLst/>
          </a:prstGeom>
          <a:noFill/>
          <a:ln/>
        </p:spPr>
        <p:txBody>
          <a:bodyPr wrap="square" lIns="0" tIns="0" rIns="0" bIns="0" rtlCol="0" anchor="ctr"/>
          <a:lstStyle/>
          <a:p>
            <a:pPr algn="ctr" indent="0" marL="0">
              <a:buNone/>
            </a:pPr>
            <a:r>
              <a:rPr lang="en-US" sz="1600" i="1" dirty="0">
                <a:solidFill>
                  <a:srgbClr val="5B6577"/>
                </a:solidFill>
                <a:latin typeface="Calibri" pitchFamily="34" charset="0"/>
                <a:ea typeface="Calibri" pitchFamily="34" charset="-122"/>
                <a:cs typeface="Calibri" pitchFamily="34" charset="-120"/>
              </a:rPr>
              <a:t>régler</a:t>
            </a:r>
            <a:endParaRPr lang="en-US" sz="1600" dirty="0"/>
          </a:p>
        </p:txBody>
      </p:sp>
      <p:sp>
        <p:nvSpPr>
          <p:cNvPr id="10" name="a3w_seg"/>
          <p:cNvSpPr/>
          <p:nvPr/>
        </p:nvSpPr>
        <p:spPr>
          <a:xfrm>
            <a:off x="9345168" y="1737360"/>
            <a:ext cx="2130552" cy="914400"/>
          </a:xfrm>
          <a:prstGeom prst="rect">
            <a:avLst/>
          </a:prstGeom>
          <a:solidFill>
            <a:srgbClr val="F2545B"/>
          </a:solidFill>
          <a:ln w="12700">
            <a:solidFill>
              <a:srgbClr val="F2545B"/>
            </a:solidFill>
            <a:prstDash val="solid"/>
          </a:ln>
        </p:spPr>
      </p:sp>
      <p:sp>
        <p:nvSpPr>
          <p:cNvPr id="11" name="a3w_lab"/>
          <p:cNvSpPr txBox="1"/>
          <p:nvPr/>
        </p:nvSpPr>
        <p:spPr>
          <a:xfrm>
            <a:off x="9482328" y="1737360"/>
            <a:ext cx="1901952"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Test · 20 %</a:t>
            </a:r>
            <a:endParaRPr lang="en-US" sz="2000" dirty="0"/>
          </a:p>
        </p:txBody>
      </p:sp>
      <p:sp>
        <p:nvSpPr>
          <p:cNvPr id="12" name="a3w_verb"/>
          <p:cNvSpPr txBox="1"/>
          <p:nvPr/>
        </p:nvSpPr>
        <p:spPr>
          <a:xfrm>
            <a:off x="9345168" y="2743200"/>
            <a:ext cx="2176272" cy="411480"/>
          </a:xfrm>
          <a:prstGeom prst="rect">
            <a:avLst/>
          </a:prstGeom>
          <a:noFill/>
          <a:ln/>
        </p:spPr>
        <p:txBody>
          <a:bodyPr wrap="square" lIns="0" tIns="0" rIns="0" bIns="0" rtlCol="0" anchor="ctr"/>
          <a:lstStyle/>
          <a:p>
            <a:pPr algn="ctr" indent="0" marL="0">
              <a:buNone/>
            </a:pPr>
            <a:r>
              <a:rPr lang="en-US" sz="1600" i="1" dirty="0">
                <a:solidFill>
                  <a:srgbClr val="5B6577"/>
                </a:solidFill>
                <a:latin typeface="Calibri" pitchFamily="34" charset="0"/>
                <a:ea typeface="Calibri" pitchFamily="34" charset="-122"/>
                <a:cs typeface="Calibri" pitchFamily="34" charset="-120"/>
              </a:rPr>
              <a:t>mesurer</a:t>
            </a:r>
            <a:endParaRPr lang="en-US" sz="1600" dirty="0"/>
          </a:p>
        </p:txBody>
      </p:sp>
      <p:sp>
        <p:nvSpPr>
          <p:cNvPr id="13" name="a3w_time"/>
          <p:cNvSpPr txBox="1"/>
          <p:nvPr/>
        </p:nvSpPr>
        <p:spPr>
          <a:xfrm>
            <a:off x="10607040" y="3154680"/>
            <a:ext cx="914400" cy="365760"/>
          </a:xfrm>
          <a:prstGeom prst="rect">
            <a:avLst/>
          </a:prstGeom>
          <a:noFill/>
          <a:ln/>
        </p:spPr>
        <p:txBody>
          <a:bodyPr wrap="square" lIns="0" tIns="0" rIns="0" bIns="0" rtlCol="0" anchor="ctr"/>
          <a:lstStyle/>
          <a:p>
            <a:pPr algn="r" indent="0" marL="0">
              <a:buNone/>
            </a:pPr>
            <a:r>
              <a:rPr lang="en-US" sz="1400" dirty="0">
                <a:solidFill>
                  <a:srgbClr val="5B6577"/>
                </a:solidFill>
                <a:latin typeface="Calibri" pitchFamily="34" charset="0"/>
                <a:ea typeface="Calibri" pitchFamily="34" charset="-122"/>
                <a:cs typeface="Calibri" pitchFamily="34" charset="-120"/>
              </a:rPr>
              <a:t>temps →</a:t>
            </a:r>
            <a:endParaRPr lang="en-US" sz="1400" dirty="0"/>
          </a:p>
        </p:txBody>
      </p:sp>
      <p:sp>
        <p:nvSpPr>
          <p:cNvPr id="14" name="a4_r_disc"/>
          <p:cNvSpPr/>
          <p:nvPr/>
        </p:nvSpPr>
        <p:spPr>
          <a:xfrm>
            <a:off x="640080" y="3977640"/>
            <a:ext cx="822960" cy="822960"/>
          </a:xfrm>
          <a:prstGeom prst="ellipse">
            <a:avLst/>
          </a:prstGeom>
          <a:solidFill>
            <a:srgbClr val="00A99D"/>
          </a:solidFill>
          <a:ln w="12700">
            <a:solidFill>
              <a:srgbClr val="00A99D"/>
            </a:solidFill>
            <a:prstDash val="solid"/>
          </a:ln>
        </p:spPr>
      </p:sp>
      <p:pic>
        <p:nvPicPr>
          <p:cNvPr id="15" name="a4_r_icon" descr="preencoded.png">    </p:cNvPr>
          <p:cNvPicPr>
            <a:picLocks noChangeAspect="1"/>
          </p:cNvPicPr>
          <p:nvPr/>
        </p:nvPicPr>
        <p:blipFill>
          <a:blip r:embed="rId1"/>
          <a:stretch>
            <a:fillRect/>
          </a:stretch>
        </p:blipFill>
        <p:spPr>
          <a:xfrm>
            <a:off x="837590" y="4175150"/>
            <a:ext cx="427939" cy="427939"/>
          </a:xfrm>
          <a:prstGeom prst="rect">
            <a:avLst/>
          </a:prstGeom>
        </p:spPr>
      </p:pic>
      <p:sp>
        <p:nvSpPr>
          <p:cNvPr id="16" name="a4_t"/>
          <p:cNvSpPr txBox="1"/>
          <p:nvPr/>
        </p:nvSpPr>
        <p:spPr>
          <a:xfrm>
            <a:off x="1645920" y="3977640"/>
            <a:ext cx="2651760" cy="45720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Caractéristiques causales</a:t>
            </a:r>
            <a:endParaRPr lang="en-US" sz="1800" dirty="0"/>
          </a:p>
        </p:txBody>
      </p:sp>
      <p:sp>
        <p:nvSpPr>
          <p:cNvPr id="17" name="a4_d"/>
          <p:cNvSpPr txBox="1"/>
          <p:nvPr/>
        </p:nvSpPr>
        <p:spPr>
          <a:xfrm>
            <a:off x="1645920" y="4434840"/>
            <a:ext cx="2651760" cy="457200"/>
          </a:xfrm>
          <a:prstGeom prst="rect">
            <a:avLst/>
          </a:prstGeom>
          <a:noFill/>
          <a:ln/>
        </p:spPr>
        <p:txBody>
          <a:bodyPr wrap="square" lIns="0" tIns="0" rIns="0" bIns="0" rtlCol="0" anchor="ctr"/>
          <a:lstStyle/>
          <a:p>
            <a:pPr indent="0" marL="0">
              <a:buNone/>
            </a:pPr>
            <a:r>
              <a:rPr lang="en-US" sz="1600" dirty="0">
                <a:solidFill>
                  <a:srgbClr val="5B6577"/>
                </a:solidFill>
                <a:latin typeface="Calibri" pitchFamily="34" charset="0"/>
                <a:ea typeface="Calibri" pitchFamily="34" charset="-122"/>
                <a:cs typeface="Calibri" pitchFamily="34" charset="-120"/>
              </a:rPr>
              <a:t>jamais d'information future</a:t>
            </a:r>
            <a:endParaRPr lang="en-US" sz="1600" dirty="0"/>
          </a:p>
        </p:txBody>
      </p:sp>
      <p:sp>
        <p:nvSpPr>
          <p:cNvPr id="18" name="a5_r_disc"/>
          <p:cNvSpPr/>
          <p:nvPr/>
        </p:nvSpPr>
        <p:spPr>
          <a:xfrm>
            <a:off x="4389120" y="3977640"/>
            <a:ext cx="822960" cy="822960"/>
          </a:xfrm>
          <a:prstGeom prst="ellipse">
            <a:avLst/>
          </a:prstGeom>
          <a:solidFill>
            <a:srgbClr val="F5B700"/>
          </a:solidFill>
          <a:ln w="12700">
            <a:solidFill>
              <a:srgbClr val="F5B700"/>
            </a:solidFill>
            <a:prstDash val="solid"/>
          </a:ln>
        </p:spPr>
      </p:sp>
      <p:pic>
        <p:nvPicPr>
          <p:cNvPr id="19" name="a5_r_icon" descr="preencoded.png">    </p:cNvPr>
          <p:cNvPicPr>
            <a:picLocks noChangeAspect="1"/>
          </p:cNvPicPr>
          <p:nvPr/>
        </p:nvPicPr>
        <p:blipFill>
          <a:blip r:embed="rId2"/>
          <a:stretch>
            <a:fillRect/>
          </a:stretch>
        </p:blipFill>
        <p:spPr>
          <a:xfrm>
            <a:off x="4586630" y="4175150"/>
            <a:ext cx="427939" cy="427939"/>
          </a:xfrm>
          <a:prstGeom prst="rect">
            <a:avLst/>
          </a:prstGeom>
        </p:spPr>
      </p:pic>
      <p:sp>
        <p:nvSpPr>
          <p:cNvPr id="20" name="a5_t"/>
          <p:cNvSpPr txBox="1"/>
          <p:nvPr/>
        </p:nvSpPr>
        <p:spPr>
          <a:xfrm>
            <a:off x="5394960" y="3977640"/>
            <a:ext cx="2651760" cy="45720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Seuils et réglages</a:t>
            </a:r>
            <a:endParaRPr lang="en-US" sz="1800" dirty="0"/>
          </a:p>
        </p:txBody>
      </p:sp>
      <p:sp>
        <p:nvSpPr>
          <p:cNvPr id="21" name="a5_d"/>
          <p:cNvSpPr txBox="1"/>
          <p:nvPr/>
        </p:nvSpPr>
        <p:spPr>
          <a:xfrm>
            <a:off x="5394960" y="4434840"/>
            <a:ext cx="2651760" cy="457200"/>
          </a:xfrm>
          <a:prstGeom prst="rect">
            <a:avLst/>
          </a:prstGeom>
          <a:noFill/>
          <a:ln/>
        </p:spPr>
        <p:txBody>
          <a:bodyPr wrap="square" lIns="0" tIns="0" rIns="0" bIns="0" rtlCol="0" anchor="ctr"/>
          <a:lstStyle/>
          <a:p>
            <a:pPr indent="0" marL="0">
              <a:buNone/>
            </a:pPr>
            <a:r>
              <a:rPr lang="en-US" sz="1600" dirty="0">
                <a:solidFill>
                  <a:srgbClr val="5B6577"/>
                </a:solidFill>
                <a:latin typeface="Calibri" pitchFamily="34" charset="0"/>
                <a:ea typeface="Calibri" pitchFamily="34" charset="-122"/>
                <a:cs typeface="Calibri" pitchFamily="34" charset="-120"/>
              </a:rPr>
              <a:t>choisis sur la validation</a:t>
            </a:r>
            <a:endParaRPr lang="en-US" sz="1600" dirty="0"/>
          </a:p>
        </p:txBody>
      </p:sp>
      <p:sp>
        <p:nvSpPr>
          <p:cNvPr id="22" name="a6_r_disc"/>
          <p:cNvSpPr/>
          <p:nvPr/>
        </p:nvSpPr>
        <p:spPr>
          <a:xfrm>
            <a:off x="8138160" y="3977640"/>
            <a:ext cx="822960" cy="822960"/>
          </a:xfrm>
          <a:prstGeom prst="ellipse">
            <a:avLst/>
          </a:prstGeom>
          <a:solidFill>
            <a:srgbClr val="7B61FF"/>
          </a:solidFill>
          <a:ln w="12700">
            <a:solidFill>
              <a:srgbClr val="7B61FF"/>
            </a:solidFill>
            <a:prstDash val="solid"/>
          </a:ln>
        </p:spPr>
      </p:sp>
      <p:pic>
        <p:nvPicPr>
          <p:cNvPr id="23" name="a6_r_icon" descr="preencoded.png">    </p:cNvPr>
          <p:cNvPicPr>
            <a:picLocks noChangeAspect="1"/>
          </p:cNvPicPr>
          <p:nvPr/>
        </p:nvPicPr>
        <p:blipFill>
          <a:blip r:embed="rId3"/>
          <a:stretch>
            <a:fillRect/>
          </a:stretch>
        </p:blipFill>
        <p:spPr>
          <a:xfrm>
            <a:off x="8335670" y="4175150"/>
            <a:ext cx="427939" cy="427939"/>
          </a:xfrm>
          <a:prstGeom prst="rect">
            <a:avLst/>
          </a:prstGeom>
        </p:spPr>
      </p:pic>
      <p:sp>
        <p:nvSpPr>
          <p:cNvPr id="24" name="a6_t"/>
          <p:cNvSpPr txBox="1"/>
          <p:nvPr/>
        </p:nvSpPr>
        <p:spPr>
          <a:xfrm>
            <a:off x="9144000" y="3977640"/>
            <a:ext cx="2651760" cy="45720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3 graines</a:t>
            </a:r>
            <a:endParaRPr lang="en-US" sz="1800" dirty="0"/>
          </a:p>
        </p:txBody>
      </p:sp>
      <p:sp>
        <p:nvSpPr>
          <p:cNvPr id="25" name="a6_d"/>
          <p:cNvSpPr txBox="1"/>
          <p:nvPr/>
        </p:nvSpPr>
        <p:spPr>
          <a:xfrm>
            <a:off x="9144000" y="4434840"/>
            <a:ext cx="2651760" cy="457200"/>
          </a:xfrm>
          <a:prstGeom prst="rect">
            <a:avLst/>
          </a:prstGeom>
          <a:noFill/>
          <a:ln/>
        </p:spPr>
        <p:txBody>
          <a:bodyPr wrap="square" lIns="0" tIns="0" rIns="0" bIns="0" rtlCol="0" anchor="ctr"/>
          <a:lstStyle/>
          <a:p>
            <a:pPr indent="0" marL="0">
              <a:buNone/>
            </a:pPr>
            <a:r>
              <a:rPr lang="en-US" sz="1600" dirty="0">
                <a:solidFill>
                  <a:srgbClr val="5B6577"/>
                </a:solidFill>
                <a:latin typeface="Calibri" pitchFamily="34" charset="0"/>
                <a:ea typeface="Calibri" pitchFamily="34" charset="-122"/>
                <a:cs typeface="Calibri" pitchFamily="34" charset="-120"/>
              </a:rPr>
              <a:t>moyenne ± écart-type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14" fill="hold">
                            <p:stCondLst>
                              <p:cond delay="350"/>
                            </p:stCondLst>
                            <p:childTnLst>
                              <p:par>
                                <p:cTn id="15" presetID="2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p:stCondLst>
                              <p:cond delay="700"/>
                            </p:stCondLst>
                            <p:childTnLst>
                              <p:par>
                                <p:cTn id="25" presetID="2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par>
                          <p:cTn id="37" fill="hold">
                            <p:stCondLst>
                              <p:cond delay="1050"/>
                            </p:stCondLst>
                            <p:childTnLst>
                              <p:par>
                                <p:cTn id="38" presetID="10"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par>
                          <p:cTn id="50" fill="hold">
                            <p:stCondLst>
                              <p:cond delay="1400"/>
                            </p:stCondLst>
                            <p:childTnLst>
                              <p:par>
                                <p:cTn id="51" presetID="10"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childTnLst>
                          </p:cTn>
                        </p:par>
                        <p:par>
                          <p:cTn id="63" fill="hold">
                            <p:stCondLst>
                              <p:cond delay="1750"/>
                            </p:stCondLst>
                            <p:childTnLst>
                              <p:par>
                                <p:cTn id="64" presetID="10" presetClass="entr" presetSubtype="0"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Sept motifs détectés par des règles</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7</a:t>
            </a:r>
            <a:endParaRPr lang="en-US" sz="1100" dirty="0"/>
          </a:p>
        </p:txBody>
      </p:sp>
      <p:sp>
        <p:nvSpPr>
          <p:cNvPr id="4" name="a1_c"/>
          <p:cNvSpPr/>
          <p:nvPr/>
        </p:nvSpPr>
        <p:spPr>
          <a:xfrm>
            <a:off x="640080" y="1325880"/>
            <a:ext cx="2514600" cy="2377440"/>
          </a:xfrm>
          <a:prstGeom prst="roundRect">
            <a:avLst>
              <a:gd name="adj" fmla="val 4615"/>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 name="a1_m_e0"/>
          <p:cNvSpPr/>
          <p:nvPr/>
        </p:nvSpPr>
        <p:spPr>
          <a:xfrm>
            <a:off x="1315351" y="1702880"/>
            <a:ext cx="1062270" cy="382800"/>
          </a:xfrm>
          <a:prstGeom prst="line">
            <a:avLst/>
          </a:prstGeom>
          <a:noFill/>
          <a:ln w="22225">
            <a:solidFill>
              <a:srgbClr val="8A95A8"/>
            </a:solidFill>
            <a:prstDash val="solid"/>
            <a:tailEnd type="triangle"/>
          </a:ln>
        </p:spPr>
      </p:sp>
      <p:sp>
        <p:nvSpPr>
          <p:cNvPr id="6" name="a1_m_e1"/>
          <p:cNvSpPr/>
          <p:nvPr/>
        </p:nvSpPr>
        <p:spPr>
          <a:xfrm>
            <a:off x="1321308" y="2125980"/>
            <a:ext cx="1049274" cy="914"/>
          </a:xfrm>
          <a:prstGeom prst="line">
            <a:avLst/>
          </a:prstGeom>
          <a:noFill/>
          <a:ln w="22225">
            <a:solidFill>
              <a:srgbClr val="8A95A8"/>
            </a:solidFill>
            <a:prstDash val="solid"/>
            <a:tailEnd type="triangle"/>
          </a:ln>
        </p:spPr>
      </p:sp>
      <p:sp>
        <p:nvSpPr>
          <p:cNvPr id="7" name="a1_m_e2"/>
          <p:cNvSpPr/>
          <p:nvPr/>
        </p:nvSpPr>
        <p:spPr>
          <a:xfrm flipV="1">
            <a:off x="1315351" y="2166280"/>
            <a:ext cx="1062270" cy="382800"/>
          </a:xfrm>
          <a:prstGeom prst="line">
            <a:avLst/>
          </a:prstGeom>
          <a:noFill/>
          <a:ln w="22225">
            <a:solidFill>
              <a:srgbClr val="8A95A8"/>
            </a:solidFill>
            <a:prstDash val="solid"/>
            <a:tailEnd type="triangle"/>
          </a:ln>
        </p:spPr>
      </p:sp>
      <p:sp>
        <p:nvSpPr>
          <p:cNvPr id="8" name="a1_m_n0"/>
          <p:cNvSpPr/>
          <p:nvPr/>
        </p:nvSpPr>
        <p:spPr>
          <a:xfrm>
            <a:off x="1120140" y="1568196"/>
            <a:ext cx="201168" cy="201168"/>
          </a:xfrm>
          <a:prstGeom prst="ellipse">
            <a:avLst/>
          </a:prstGeom>
          <a:solidFill>
            <a:srgbClr val="4C9BE8"/>
          </a:solidFill>
          <a:ln w="19050">
            <a:solidFill>
              <a:srgbClr val="FFFFFF"/>
            </a:solidFill>
            <a:prstDash val="solid"/>
          </a:ln>
        </p:spPr>
      </p:sp>
      <p:sp>
        <p:nvSpPr>
          <p:cNvPr id="9" name="a1_m_n1"/>
          <p:cNvSpPr/>
          <p:nvPr/>
        </p:nvSpPr>
        <p:spPr>
          <a:xfrm>
            <a:off x="1120140" y="2025396"/>
            <a:ext cx="201168" cy="201168"/>
          </a:xfrm>
          <a:prstGeom prst="ellipse">
            <a:avLst/>
          </a:prstGeom>
          <a:solidFill>
            <a:srgbClr val="4C9BE8"/>
          </a:solidFill>
          <a:ln w="19050">
            <a:solidFill>
              <a:srgbClr val="FFFFFF"/>
            </a:solidFill>
            <a:prstDash val="solid"/>
          </a:ln>
        </p:spPr>
      </p:sp>
      <p:sp>
        <p:nvSpPr>
          <p:cNvPr id="10" name="a1_m_n2"/>
          <p:cNvSpPr/>
          <p:nvPr/>
        </p:nvSpPr>
        <p:spPr>
          <a:xfrm>
            <a:off x="1120140" y="2482596"/>
            <a:ext cx="201168" cy="201168"/>
          </a:xfrm>
          <a:prstGeom prst="ellipse">
            <a:avLst/>
          </a:prstGeom>
          <a:solidFill>
            <a:srgbClr val="4C9BE8"/>
          </a:solidFill>
          <a:ln w="19050">
            <a:solidFill>
              <a:srgbClr val="FFFFFF"/>
            </a:solidFill>
            <a:prstDash val="solid"/>
          </a:ln>
        </p:spPr>
      </p:sp>
      <p:sp>
        <p:nvSpPr>
          <p:cNvPr id="11" name="a1_m_n3"/>
          <p:cNvSpPr/>
          <p:nvPr/>
        </p:nvSpPr>
        <p:spPr>
          <a:xfrm>
            <a:off x="2388870" y="2025396"/>
            <a:ext cx="201168" cy="201168"/>
          </a:xfrm>
          <a:prstGeom prst="ellipse">
            <a:avLst/>
          </a:prstGeom>
          <a:solidFill>
            <a:srgbClr val="F2545B"/>
          </a:solidFill>
          <a:ln w="19050">
            <a:solidFill>
              <a:srgbClr val="FFFFFF"/>
            </a:solidFill>
            <a:prstDash val="solid"/>
          </a:ln>
        </p:spPr>
      </p:sp>
      <p:sp>
        <p:nvSpPr>
          <p:cNvPr id="12" name="a1_t"/>
          <p:cNvSpPr txBox="1"/>
          <p:nvPr/>
        </p:nvSpPr>
        <p:spPr>
          <a:xfrm>
            <a:off x="731520" y="2834640"/>
            <a:ext cx="2331720" cy="3657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Fan-in</a:t>
            </a:r>
            <a:endParaRPr lang="en-US" sz="1700" dirty="0"/>
          </a:p>
        </p:txBody>
      </p:sp>
      <p:sp>
        <p:nvSpPr>
          <p:cNvPr id="13" name="a1_r"/>
          <p:cNvSpPr txBox="1"/>
          <p:nvPr/>
        </p:nvSpPr>
        <p:spPr>
          <a:xfrm>
            <a:off x="731520" y="3200400"/>
            <a:ext cx="2331720" cy="320040"/>
          </a:xfrm>
          <a:prstGeom prst="rect">
            <a:avLst/>
          </a:prstGeom>
          <a:noFill/>
          <a:ln/>
        </p:spPr>
        <p:txBody>
          <a:bodyPr wrap="square" lIns="0" tIns="0" rIns="0" bIns="0" rtlCol="0" anchor="ctr"/>
          <a:lstStyle/>
          <a:p>
            <a:pPr algn="ctr" indent="0" marL="0">
              <a:buNone/>
            </a:pPr>
            <a:r>
              <a:rPr lang="en-US" sz="1400" b="1" dirty="0">
                <a:solidFill>
                  <a:srgbClr val="00A99D"/>
                </a:solidFill>
                <a:latin typeface="Calibri" pitchFamily="34" charset="0"/>
                <a:ea typeface="Calibri" pitchFamily="34" charset="-122"/>
                <a:cs typeface="Calibri" pitchFamily="34" charset="-120"/>
              </a:rPr>
              <a:t>trouvé : 90 %</a:t>
            </a:r>
            <a:endParaRPr lang="en-US" sz="1400" dirty="0"/>
          </a:p>
        </p:txBody>
      </p:sp>
      <p:sp>
        <p:nvSpPr>
          <p:cNvPr id="14" name="a2_c"/>
          <p:cNvSpPr/>
          <p:nvPr/>
        </p:nvSpPr>
        <p:spPr>
          <a:xfrm>
            <a:off x="3429000" y="1325880"/>
            <a:ext cx="2514600" cy="2377440"/>
          </a:xfrm>
          <a:prstGeom prst="roundRect">
            <a:avLst>
              <a:gd name="adj" fmla="val 4615"/>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5" name="a2_m_e0"/>
          <p:cNvSpPr/>
          <p:nvPr/>
        </p:nvSpPr>
        <p:spPr>
          <a:xfrm flipV="1">
            <a:off x="4188853" y="1709080"/>
            <a:ext cx="1062270" cy="382800"/>
          </a:xfrm>
          <a:prstGeom prst="line">
            <a:avLst/>
          </a:prstGeom>
          <a:noFill/>
          <a:ln w="22225">
            <a:solidFill>
              <a:srgbClr val="8A95A8"/>
            </a:solidFill>
            <a:prstDash val="solid"/>
            <a:tailEnd type="triangle"/>
          </a:ln>
        </p:spPr>
      </p:sp>
      <p:sp>
        <p:nvSpPr>
          <p:cNvPr id="16" name="a2_m_e1"/>
          <p:cNvSpPr/>
          <p:nvPr/>
        </p:nvSpPr>
        <p:spPr>
          <a:xfrm>
            <a:off x="4194810" y="2125980"/>
            <a:ext cx="1049274" cy="914"/>
          </a:xfrm>
          <a:prstGeom prst="line">
            <a:avLst/>
          </a:prstGeom>
          <a:noFill/>
          <a:ln w="22225">
            <a:solidFill>
              <a:srgbClr val="8A95A8"/>
            </a:solidFill>
            <a:prstDash val="solid"/>
            <a:tailEnd type="triangle"/>
          </a:ln>
        </p:spPr>
      </p:sp>
      <p:sp>
        <p:nvSpPr>
          <p:cNvPr id="17" name="a2_m_e2"/>
          <p:cNvSpPr/>
          <p:nvPr/>
        </p:nvSpPr>
        <p:spPr>
          <a:xfrm>
            <a:off x="4188853" y="2160080"/>
            <a:ext cx="1062270" cy="382800"/>
          </a:xfrm>
          <a:prstGeom prst="line">
            <a:avLst/>
          </a:prstGeom>
          <a:noFill/>
          <a:ln w="22225">
            <a:solidFill>
              <a:srgbClr val="8A95A8"/>
            </a:solidFill>
            <a:prstDash val="solid"/>
            <a:tailEnd type="triangle"/>
          </a:ln>
        </p:spPr>
      </p:sp>
      <p:sp>
        <p:nvSpPr>
          <p:cNvPr id="18" name="a2_m_n0"/>
          <p:cNvSpPr/>
          <p:nvPr/>
        </p:nvSpPr>
        <p:spPr>
          <a:xfrm>
            <a:off x="3993642" y="2025396"/>
            <a:ext cx="201168" cy="201168"/>
          </a:xfrm>
          <a:prstGeom prst="ellipse">
            <a:avLst/>
          </a:prstGeom>
          <a:solidFill>
            <a:srgbClr val="F2545B"/>
          </a:solidFill>
          <a:ln w="19050">
            <a:solidFill>
              <a:srgbClr val="FFFFFF"/>
            </a:solidFill>
            <a:prstDash val="solid"/>
          </a:ln>
        </p:spPr>
      </p:sp>
      <p:sp>
        <p:nvSpPr>
          <p:cNvPr id="19" name="a2_m_n1"/>
          <p:cNvSpPr/>
          <p:nvPr/>
        </p:nvSpPr>
        <p:spPr>
          <a:xfrm>
            <a:off x="5262372" y="1568196"/>
            <a:ext cx="201168" cy="201168"/>
          </a:xfrm>
          <a:prstGeom prst="ellipse">
            <a:avLst/>
          </a:prstGeom>
          <a:solidFill>
            <a:srgbClr val="4C9BE8"/>
          </a:solidFill>
          <a:ln w="19050">
            <a:solidFill>
              <a:srgbClr val="FFFFFF"/>
            </a:solidFill>
            <a:prstDash val="solid"/>
          </a:ln>
        </p:spPr>
      </p:sp>
      <p:sp>
        <p:nvSpPr>
          <p:cNvPr id="20" name="a2_m_n2"/>
          <p:cNvSpPr/>
          <p:nvPr/>
        </p:nvSpPr>
        <p:spPr>
          <a:xfrm>
            <a:off x="5262372" y="2025396"/>
            <a:ext cx="201168" cy="201168"/>
          </a:xfrm>
          <a:prstGeom prst="ellipse">
            <a:avLst/>
          </a:prstGeom>
          <a:solidFill>
            <a:srgbClr val="4C9BE8"/>
          </a:solidFill>
          <a:ln w="19050">
            <a:solidFill>
              <a:srgbClr val="FFFFFF"/>
            </a:solidFill>
            <a:prstDash val="solid"/>
          </a:ln>
        </p:spPr>
      </p:sp>
      <p:sp>
        <p:nvSpPr>
          <p:cNvPr id="21" name="a2_m_n3"/>
          <p:cNvSpPr/>
          <p:nvPr/>
        </p:nvSpPr>
        <p:spPr>
          <a:xfrm>
            <a:off x="5262372" y="2482596"/>
            <a:ext cx="201168" cy="201168"/>
          </a:xfrm>
          <a:prstGeom prst="ellipse">
            <a:avLst/>
          </a:prstGeom>
          <a:solidFill>
            <a:srgbClr val="4C9BE8"/>
          </a:solidFill>
          <a:ln w="19050">
            <a:solidFill>
              <a:srgbClr val="FFFFFF"/>
            </a:solidFill>
            <a:prstDash val="solid"/>
          </a:ln>
        </p:spPr>
      </p:sp>
      <p:sp>
        <p:nvSpPr>
          <p:cNvPr id="22" name="a2_t"/>
          <p:cNvSpPr txBox="1"/>
          <p:nvPr/>
        </p:nvSpPr>
        <p:spPr>
          <a:xfrm>
            <a:off x="3520440" y="2834640"/>
            <a:ext cx="2331720" cy="3657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Fan-out</a:t>
            </a:r>
            <a:endParaRPr lang="en-US" sz="1700" dirty="0"/>
          </a:p>
        </p:txBody>
      </p:sp>
      <p:sp>
        <p:nvSpPr>
          <p:cNvPr id="23" name="a2_r"/>
          <p:cNvSpPr txBox="1"/>
          <p:nvPr/>
        </p:nvSpPr>
        <p:spPr>
          <a:xfrm>
            <a:off x="3520440" y="3200400"/>
            <a:ext cx="2331720" cy="320040"/>
          </a:xfrm>
          <a:prstGeom prst="rect">
            <a:avLst/>
          </a:prstGeom>
          <a:noFill/>
          <a:ln/>
        </p:spPr>
        <p:txBody>
          <a:bodyPr wrap="square" lIns="0" tIns="0" rIns="0" bIns="0" rtlCol="0" anchor="ctr"/>
          <a:lstStyle/>
          <a:p>
            <a:pPr algn="ctr" indent="0" marL="0">
              <a:buNone/>
            </a:pPr>
            <a:r>
              <a:rPr lang="en-US" sz="1400" b="1" dirty="0">
                <a:solidFill>
                  <a:srgbClr val="00A99D"/>
                </a:solidFill>
                <a:latin typeface="Calibri" pitchFamily="34" charset="0"/>
                <a:ea typeface="Calibri" pitchFamily="34" charset="-122"/>
                <a:cs typeface="Calibri" pitchFamily="34" charset="-120"/>
              </a:rPr>
              <a:t>trouvé : 74 %</a:t>
            </a:r>
            <a:endParaRPr lang="en-US" sz="1400" dirty="0"/>
          </a:p>
        </p:txBody>
      </p:sp>
      <p:sp>
        <p:nvSpPr>
          <p:cNvPr id="24" name="a3_c"/>
          <p:cNvSpPr/>
          <p:nvPr/>
        </p:nvSpPr>
        <p:spPr>
          <a:xfrm>
            <a:off x="6217920" y="1325880"/>
            <a:ext cx="2514600" cy="2377440"/>
          </a:xfrm>
          <a:prstGeom prst="roundRect">
            <a:avLst>
              <a:gd name="adj" fmla="val 4615"/>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25" name="a3_m_e0"/>
          <p:cNvSpPr/>
          <p:nvPr/>
        </p:nvSpPr>
        <p:spPr>
          <a:xfrm>
            <a:off x="7543630" y="1719657"/>
            <a:ext cx="561230" cy="604929"/>
          </a:xfrm>
          <a:prstGeom prst="line">
            <a:avLst/>
          </a:prstGeom>
          <a:noFill/>
          <a:ln w="22225">
            <a:solidFill>
              <a:srgbClr val="8A95A8"/>
            </a:solidFill>
            <a:prstDash val="solid"/>
            <a:tailEnd type="triangle"/>
          </a:ln>
        </p:spPr>
      </p:sp>
      <p:sp>
        <p:nvSpPr>
          <p:cNvPr id="26" name="a3_m_e1"/>
          <p:cNvSpPr/>
          <p:nvPr/>
        </p:nvSpPr>
        <p:spPr>
          <a:xfrm flipH="1">
            <a:off x="6883603" y="2411730"/>
            <a:ext cx="1201522" cy="914"/>
          </a:xfrm>
          <a:prstGeom prst="line">
            <a:avLst/>
          </a:prstGeom>
          <a:noFill/>
          <a:ln w="22225">
            <a:solidFill>
              <a:srgbClr val="8A95A8"/>
            </a:solidFill>
            <a:prstDash val="solid"/>
            <a:tailEnd type="triangle"/>
          </a:ln>
        </p:spPr>
      </p:sp>
      <p:sp>
        <p:nvSpPr>
          <p:cNvPr id="27" name="a3_m_e2"/>
          <p:cNvSpPr/>
          <p:nvPr/>
        </p:nvSpPr>
        <p:spPr>
          <a:xfrm flipV="1">
            <a:off x="6833142" y="1733064"/>
            <a:ext cx="561230" cy="604929"/>
          </a:xfrm>
          <a:prstGeom prst="line">
            <a:avLst/>
          </a:prstGeom>
          <a:noFill/>
          <a:ln w="22225">
            <a:solidFill>
              <a:srgbClr val="8A95A8"/>
            </a:solidFill>
            <a:prstDash val="solid"/>
            <a:tailEnd type="triangle"/>
          </a:ln>
        </p:spPr>
      </p:sp>
      <p:sp>
        <p:nvSpPr>
          <p:cNvPr id="28" name="a3_m_n0"/>
          <p:cNvSpPr/>
          <p:nvPr/>
        </p:nvSpPr>
        <p:spPr>
          <a:xfrm>
            <a:off x="7374636" y="1545336"/>
            <a:ext cx="201168" cy="201168"/>
          </a:xfrm>
          <a:prstGeom prst="ellipse">
            <a:avLst/>
          </a:prstGeom>
          <a:solidFill>
            <a:srgbClr val="F2545B"/>
          </a:solidFill>
          <a:ln w="19050">
            <a:solidFill>
              <a:srgbClr val="FFFFFF"/>
            </a:solidFill>
            <a:prstDash val="solid"/>
          </a:ln>
        </p:spPr>
      </p:sp>
      <p:sp>
        <p:nvSpPr>
          <p:cNvPr id="29" name="a3_m_n1"/>
          <p:cNvSpPr/>
          <p:nvPr/>
        </p:nvSpPr>
        <p:spPr>
          <a:xfrm>
            <a:off x="8085125" y="2311146"/>
            <a:ext cx="201168" cy="201168"/>
          </a:xfrm>
          <a:prstGeom prst="ellipse">
            <a:avLst/>
          </a:prstGeom>
          <a:solidFill>
            <a:srgbClr val="F2545B"/>
          </a:solidFill>
          <a:ln w="19050">
            <a:solidFill>
              <a:srgbClr val="FFFFFF"/>
            </a:solidFill>
            <a:prstDash val="solid"/>
          </a:ln>
        </p:spPr>
      </p:sp>
      <p:sp>
        <p:nvSpPr>
          <p:cNvPr id="30" name="a3_m_n2"/>
          <p:cNvSpPr/>
          <p:nvPr/>
        </p:nvSpPr>
        <p:spPr>
          <a:xfrm>
            <a:off x="6664147" y="2311146"/>
            <a:ext cx="201168" cy="201168"/>
          </a:xfrm>
          <a:prstGeom prst="ellipse">
            <a:avLst/>
          </a:prstGeom>
          <a:solidFill>
            <a:srgbClr val="F2545B"/>
          </a:solidFill>
          <a:ln w="19050">
            <a:solidFill>
              <a:srgbClr val="FFFFFF"/>
            </a:solidFill>
            <a:prstDash val="solid"/>
          </a:ln>
        </p:spPr>
      </p:sp>
      <p:sp>
        <p:nvSpPr>
          <p:cNvPr id="31" name="a3_t"/>
          <p:cNvSpPr txBox="1"/>
          <p:nvPr/>
        </p:nvSpPr>
        <p:spPr>
          <a:xfrm>
            <a:off x="6309360" y="2834640"/>
            <a:ext cx="2331720" cy="3657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Cycle</a:t>
            </a:r>
            <a:endParaRPr lang="en-US" sz="1700" dirty="0"/>
          </a:p>
        </p:txBody>
      </p:sp>
      <p:sp>
        <p:nvSpPr>
          <p:cNvPr id="32" name="a3_r"/>
          <p:cNvSpPr txBox="1"/>
          <p:nvPr/>
        </p:nvSpPr>
        <p:spPr>
          <a:xfrm>
            <a:off x="6309360" y="3200400"/>
            <a:ext cx="2331720" cy="320040"/>
          </a:xfrm>
          <a:prstGeom prst="rect">
            <a:avLst/>
          </a:prstGeom>
          <a:noFill/>
          <a:ln/>
        </p:spPr>
        <p:txBody>
          <a:bodyPr wrap="square" lIns="0" tIns="0" rIns="0" bIns="0" rtlCol="0" anchor="ctr"/>
          <a:lstStyle/>
          <a:p>
            <a:pPr algn="ctr" indent="0" marL="0">
              <a:buNone/>
            </a:pPr>
            <a:r>
              <a:rPr lang="en-US" sz="1400" b="1" dirty="0">
                <a:solidFill>
                  <a:srgbClr val="00A99D"/>
                </a:solidFill>
                <a:latin typeface="Calibri" pitchFamily="34" charset="0"/>
                <a:ea typeface="Calibri" pitchFamily="34" charset="-122"/>
                <a:cs typeface="Calibri" pitchFamily="34" charset="-120"/>
              </a:rPr>
              <a:t>trouvé : 63 %</a:t>
            </a:r>
            <a:endParaRPr lang="en-US" sz="1400" dirty="0"/>
          </a:p>
        </p:txBody>
      </p:sp>
      <p:sp>
        <p:nvSpPr>
          <p:cNvPr id="33" name="a4_c"/>
          <p:cNvSpPr/>
          <p:nvPr/>
        </p:nvSpPr>
        <p:spPr>
          <a:xfrm>
            <a:off x="9006840" y="1325880"/>
            <a:ext cx="2514600" cy="2377440"/>
          </a:xfrm>
          <a:prstGeom prst="roundRect">
            <a:avLst>
              <a:gd name="adj" fmla="val 4615"/>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34" name="a4_m_e0"/>
          <p:cNvSpPr/>
          <p:nvPr/>
        </p:nvSpPr>
        <p:spPr>
          <a:xfrm flipV="1">
            <a:off x="9638236" y="1733106"/>
            <a:ext cx="525941" cy="338443"/>
          </a:xfrm>
          <a:prstGeom prst="line">
            <a:avLst/>
          </a:prstGeom>
          <a:noFill/>
          <a:ln w="22225">
            <a:solidFill>
              <a:srgbClr val="8A95A8"/>
            </a:solidFill>
            <a:prstDash val="solid"/>
            <a:tailEnd type="triangle"/>
          </a:ln>
        </p:spPr>
      </p:sp>
      <p:sp>
        <p:nvSpPr>
          <p:cNvPr id="35" name="a4_m_e1"/>
          <p:cNvSpPr/>
          <p:nvPr/>
        </p:nvSpPr>
        <p:spPr>
          <a:xfrm>
            <a:off x="9654235" y="2125980"/>
            <a:ext cx="491033" cy="914"/>
          </a:xfrm>
          <a:prstGeom prst="line">
            <a:avLst/>
          </a:prstGeom>
          <a:noFill/>
          <a:ln w="22225">
            <a:solidFill>
              <a:srgbClr val="8A95A8"/>
            </a:solidFill>
            <a:prstDash val="solid"/>
            <a:tailEnd type="triangle"/>
          </a:ln>
        </p:spPr>
      </p:sp>
      <p:sp>
        <p:nvSpPr>
          <p:cNvPr id="36" name="a4_m_e2"/>
          <p:cNvSpPr/>
          <p:nvPr/>
        </p:nvSpPr>
        <p:spPr>
          <a:xfrm>
            <a:off x="9638236" y="2180410"/>
            <a:ext cx="525941" cy="338443"/>
          </a:xfrm>
          <a:prstGeom prst="line">
            <a:avLst/>
          </a:prstGeom>
          <a:noFill/>
          <a:ln w="22225">
            <a:solidFill>
              <a:srgbClr val="8A95A8"/>
            </a:solidFill>
            <a:prstDash val="solid"/>
            <a:tailEnd type="triangle"/>
          </a:ln>
        </p:spPr>
      </p:sp>
      <p:sp>
        <p:nvSpPr>
          <p:cNvPr id="37" name="a4_m_e3"/>
          <p:cNvSpPr/>
          <p:nvPr/>
        </p:nvSpPr>
        <p:spPr>
          <a:xfrm>
            <a:off x="10348724" y="1723210"/>
            <a:ext cx="525941" cy="338443"/>
          </a:xfrm>
          <a:prstGeom prst="line">
            <a:avLst/>
          </a:prstGeom>
          <a:noFill/>
          <a:ln w="22225">
            <a:solidFill>
              <a:srgbClr val="8A95A8"/>
            </a:solidFill>
            <a:prstDash val="solid"/>
            <a:tailEnd type="triangle"/>
          </a:ln>
        </p:spPr>
      </p:sp>
      <p:sp>
        <p:nvSpPr>
          <p:cNvPr id="38" name="a4_m_e4"/>
          <p:cNvSpPr/>
          <p:nvPr/>
        </p:nvSpPr>
        <p:spPr>
          <a:xfrm>
            <a:off x="10364724" y="2125980"/>
            <a:ext cx="491033" cy="914"/>
          </a:xfrm>
          <a:prstGeom prst="line">
            <a:avLst/>
          </a:prstGeom>
          <a:noFill/>
          <a:ln w="22225">
            <a:solidFill>
              <a:srgbClr val="8A95A8"/>
            </a:solidFill>
            <a:prstDash val="solid"/>
            <a:tailEnd type="triangle"/>
          </a:ln>
        </p:spPr>
      </p:sp>
      <p:sp>
        <p:nvSpPr>
          <p:cNvPr id="39" name="a4_m_e5"/>
          <p:cNvSpPr/>
          <p:nvPr/>
        </p:nvSpPr>
        <p:spPr>
          <a:xfrm flipV="1">
            <a:off x="10348724" y="2190306"/>
            <a:ext cx="525941" cy="338443"/>
          </a:xfrm>
          <a:prstGeom prst="line">
            <a:avLst/>
          </a:prstGeom>
          <a:noFill/>
          <a:ln w="22225">
            <a:solidFill>
              <a:srgbClr val="8A95A8"/>
            </a:solidFill>
            <a:prstDash val="solid"/>
            <a:tailEnd type="triangle"/>
          </a:ln>
        </p:spPr>
      </p:sp>
      <p:sp>
        <p:nvSpPr>
          <p:cNvPr id="40" name="a4_m_n0"/>
          <p:cNvSpPr/>
          <p:nvPr/>
        </p:nvSpPr>
        <p:spPr>
          <a:xfrm>
            <a:off x="9453067" y="2025396"/>
            <a:ext cx="201168" cy="201168"/>
          </a:xfrm>
          <a:prstGeom prst="ellipse">
            <a:avLst/>
          </a:prstGeom>
          <a:solidFill>
            <a:srgbClr val="4C9BE8"/>
          </a:solidFill>
          <a:ln w="19050">
            <a:solidFill>
              <a:srgbClr val="FFFFFF"/>
            </a:solidFill>
            <a:prstDash val="solid"/>
          </a:ln>
        </p:spPr>
      </p:sp>
      <p:sp>
        <p:nvSpPr>
          <p:cNvPr id="41" name="a4_m_n1"/>
          <p:cNvSpPr/>
          <p:nvPr/>
        </p:nvSpPr>
        <p:spPr>
          <a:xfrm>
            <a:off x="10163556" y="1568196"/>
            <a:ext cx="201168" cy="201168"/>
          </a:xfrm>
          <a:prstGeom prst="ellipse">
            <a:avLst/>
          </a:prstGeom>
          <a:solidFill>
            <a:srgbClr val="4C9BE8"/>
          </a:solidFill>
          <a:ln w="19050">
            <a:solidFill>
              <a:srgbClr val="FFFFFF"/>
            </a:solidFill>
            <a:prstDash val="solid"/>
          </a:ln>
        </p:spPr>
      </p:sp>
      <p:sp>
        <p:nvSpPr>
          <p:cNvPr id="42" name="a4_m_n2"/>
          <p:cNvSpPr/>
          <p:nvPr/>
        </p:nvSpPr>
        <p:spPr>
          <a:xfrm>
            <a:off x="10163556" y="2025396"/>
            <a:ext cx="201168" cy="201168"/>
          </a:xfrm>
          <a:prstGeom prst="ellipse">
            <a:avLst/>
          </a:prstGeom>
          <a:solidFill>
            <a:srgbClr val="4C9BE8"/>
          </a:solidFill>
          <a:ln w="19050">
            <a:solidFill>
              <a:srgbClr val="FFFFFF"/>
            </a:solidFill>
            <a:prstDash val="solid"/>
          </a:ln>
        </p:spPr>
      </p:sp>
      <p:sp>
        <p:nvSpPr>
          <p:cNvPr id="43" name="a4_m_n3"/>
          <p:cNvSpPr/>
          <p:nvPr/>
        </p:nvSpPr>
        <p:spPr>
          <a:xfrm>
            <a:off x="10163556" y="2482596"/>
            <a:ext cx="201168" cy="201168"/>
          </a:xfrm>
          <a:prstGeom prst="ellipse">
            <a:avLst/>
          </a:prstGeom>
          <a:solidFill>
            <a:srgbClr val="4C9BE8"/>
          </a:solidFill>
          <a:ln w="19050">
            <a:solidFill>
              <a:srgbClr val="FFFFFF"/>
            </a:solidFill>
            <a:prstDash val="solid"/>
          </a:ln>
        </p:spPr>
      </p:sp>
      <p:sp>
        <p:nvSpPr>
          <p:cNvPr id="44" name="a4_m_n4"/>
          <p:cNvSpPr/>
          <p:nvPr/>
        </p:nvSpPr>
        <p:spPr>
          <a:xfrm>
            <a:off x="10874045" y="2025396"/>
            <a:ext cx="201168" cy="201168"/>
          </a:xfrm>
          <a:prstGeom prst="ellipse">
            <a:avLst/>
          </a:prstGeom>
          <a:solidFill>
            <a:srgbClr val="F2545B"/>
          </a:solidFill>
          <a:ln w="19050">
            <a:solidFill>
              <a:srgbClr val="FFFFFF"/>
            </a:solidFill>
            <a:prstDash val="solid"/>
          </a:ln>
        </p:spPr>
      </p:sp>
      <p:sp>
        <p:nvSpPr>
          <p:cNvPr id="45" name="a4_t"/>
          <p:cNvSpPr txBox="1"/>
          <p:nvPr/>
        </p:nvSpPr>
        <p:spPr>
          <a:xfrm>
            <a:off x="9098280" y="2834640"/>
            <a:ext cx="2331720" cy="3657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Scatter-gather</a:t>
            </a:r>
            <a:endParaRPr lang="en-US" sz="1700" dirty="0"/>
          </a:p>
        </p:txBody>
      </p:sp>
      <p:sp>
        <p:nvSpPr>
          <p:cNvPr id="46" name="a4_r"/>
          <p:cNvSpPr txBox="1"/>
          <p:nvPr/>
        </p:nvSpPr>
        <p:spPr>
          <a:xfrm>
            <a:off x="9098280" y="3200400"/>
            <a:ext cx="2331720" cy="320040"/>
          </a:xfrm>
          <a:prstGeom prst="rect">
            <a:avLst/>
          </a:prstGeom>
          <a:noFill/>
          <a:ln/>
        </p:spPr>
        <p:txBody>
          <a:bodyPr wrap="square" lIns="0" tIns="0" rIns="0" bIns="0" rtlCol="0" anchor="ctr"/>
          <a:lstStyle/>
          <a:p>
            <a:pPr algn="ctr" indent="0" marL="0">
              <a:buNone/>
            </a:pPr>
            <a:r>
              <a:rPr lang="en-US" sz="1400" b="1" dirty="0">
                <a:solidFill>
                  <a:srgbClr val="00A99D"/>
                </a:solidFill>
                <a:latin typeface="Calibri" pitchFamily="34" charset="0"/>
                <a:ea typeface="Calibri" pitchFamily="34" charset="-122"/>
                <a:cs typeface="Calibri" pitchFamily="34" charset="-120"/>
              </a:rPr>
              <a:t>trouvé : 81 %</a:t>
            </a:r>
            <a:endParaRPr lang="en-US" sz="1400" dirty="0"/>
          </a:p>
        </p:txBody>
      </p:sp>
      <p:sp>
        <p:nvSpPr>
          <p:cNvPr id="47" name="a5_c"/>
          <p:cNvSpPr/>
          <p:nvPr/>
        </p:nvSpPr>
        <p:spPr>
          <a:xfrm>
            <a:off x="2011680" y="3931920"/>
            <a:ext cx="2514600" cy="2377440"/>
          </a:xfrm>
          <a:prstGeom prst="roundRect">
            <a:avLst>
              <a:gd name="adj" fmla="val 4615"/>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48" name="a5_m_e0"/>
          <p:cNvSpPr/>
          <p:nvPr/>
        </p:nvSpPr>
        <p:spPr>
          <a:xfrm>
            <a:off x="2646137" y="4381320"/>
            <a:ext cx="519262" cy="292377"/>
          </a:xfrm>
          <a:prstGeom prst="line">
            <a:avLst/>
          </a:prstGeom>
          <a:noFill/>
          <a:ln w="22225">
            <a:solidFill>
              <a:srgbClr val="8A95A8"/>
            </a:solidFill>
            <a:prstDash val="solid"/>
            <a:tailEnd type="triangle"/>
          </a:ln>
        </p:spPr>
      </p:sp>
      <p:sp>
        <p:nvSpPr>
          <p:cNvPr id="49" name="a5_m_e1"/>
          <p:cNvSpPr/>
          <p:nvPr/>
        </p:nvSpPr>
        <p:spPr>
          <a:xfrm flipV="1">
            <a:off x="2646137" y="4790343"/>
            <a:ext cx="519262" cy="292377"/>
          </a:xfrm>
          <a:prstGeom prst="line">
            <a:avLst/>
          </a:prstGeom>
          <a:noFill/>
          <a:ln w="22225">
            <a:solidFill>
              <a:srgbClr val="8A95A8"/>
            </a:solidFill>
            <a:prstDash val="solid"/>
            <a:tailEnd type="triangle"/>
          </a:ln>
        </p:spPr>
      </p:sp>
      <p:sp>
        <p:nvSpPr>
          <p:cNvPr id="50" name="a5_m_e2"/>
          <p:cNvSpPr/>
          <p:nvPr/>
        </p:nvSpPr>
        <p:spPr>
          <a:xfrm flipV="1">
            <a:off x="3356625" y="4390293"/>
            <a:ext cx="519262" cy="292377"/>
          </a:xfrm>
          <a:prstGeom prst="line">
            <a:avLst/>
          </a:prstGeom>
          <a:noFill/>
          <a:ln w="22225">
            <a:solidFill>
              <a:srgbClr val="8A95A8"/>
            </a:solidFill>
            <a:prstDash val="solid"/>
            <a:tailEnd type="triangle"/>
          </a:ln>
        </p:spPr>
      </p:sp>
      <p:sp>
        <p:nvSpPr>
          <p:cNvPr id="51" name="a5_m_e3"/>
          <p:cNvSpPr/>
          <p:nvPr/>
        </p:nvSpPr>
        <p:spPr>
          <a:xfrm>
            <a:off x="3356625" y="4781370"/>
            <a:ext cx="519262" cy="292377"/>
          </a:xfrm>
          <a:prstGeom prst="line">
            <a:avLst/>
          </a:prstGeom>
          <a:noFill/>
          <a:ln w="22225">
            <a:solidFill>
              <a:srgbClr val="8A95A8"/>
            </a:solidFill>
            <a:prstDash val="solid"/>
            <a:tailEnd type="triangle"/>
          </a:ln>
        </p:spPr>
      </p:sp>
      <p:sp>
        <p:nvSpPr>
          <p:cNvPr id="52" name="a5_m_n0"/>
          <p:cNvSpPr/>
          <p:nvPr/>
        </p:nvSpPr>
        <p:spPr>
          <a:xfrm>
            <a:off x="2457907" y="4231386"/>
            <a:ext cx="201168" cy="201168"/>
          </a:xfrm>
          <a:prstGeom prst="ellipse">
            <a:avLst/>
          </a:prstGeom>
          <a:solidFill>
            <a:srgbClr val="4C9BE8"/>
          </a:solidFill>
          <a:ln w="19050">
            <a:solidFill>
              <a:srgbClr val="FFFFFF"/>
            </a:solidFill>
            <a:prstDash val="solid"/>
          </a:ln>
        </p:spPr>
      </p:sp>
      <p:sp>
        <p:nvSpPr>
          <p:cNvPr id="53" name="a5_m_n1"/>
          <p:cNvSpPr/>
          <p:nvPr/>
        </p:nvSpPr>
        <p:spPr>
          <a:xfrm>
            <a:off x="2457907" y="5031486"/>
            <a:ext cx="201168" cy="201168"/>
          </a:xfrm>
          <a:prstGeom prst="ellipse">
            <a:avLst/>
          </a:prstGeom>
          <a:solidFill>
            <a:srgbClr val="4C9BE8"/>
          </a:solidFill>
          <a:ln w="19050">
            <a:solidFill>
              <a:srgbClr val="FFFFFF"/>
            </a:solidFill>
            <a:prstDash val="solid"/>
          </a:ln>
        </p:spPr>
      </p:sp>
      <p:sp>
        <p:nvSpPr>
          <p:cNvPr id="54" name="a5_m_n2"/>
          <p:cNvSpPr/>
          <p:nvPr/>
        </p:nvSpPr>
        <p:spPr>
          <a:xfrm>
            <a:off x="3168396" y="4631436"/>
            <a:ext cx="201168" cy="201168"/>
          </a:xfrm>
          <a:prstGeom prst="ellipse">
            <a:avLst/>
          </a:prstGeom>
          <a:solidFill>
            <a:srgbClr val="F2545B"/>
          </a:solidFill>
          <a:ln w="19050">
            <a:solidFill>
              <a:srgbClr val="FFFFFF"/>
            </a:solidFill>
            <a:prstDash val="solid"/>
          </a:ln>
        </p:spPr>
      </p:sp>
      <p:sp>
        <p:nvSpPr>
          <p:cNvPr id="55" name="a5_m_n3"/>
          <p:cNvSpPr/>
          <p:nvPr/>
        </p:nvSpPr>
        <p:spPr>
          <a:xfrm>
            <a:off x="3878885" y="4231386"/>
            <a:ext cx="201168" cy="201168"/>
          </a:xfrm>
          <a:prstGeom prst="ellipse">
            <a:avLst/>
          </a:prstGeom>
          <a:solidFill>
            <a:srgbClr val="4C9BE8"/>
          </a:solidFill>
          <a:ln w="19050">
            <a:solidFill>
              <a:srgbClr val="FFFFFF"/>
            </a:solidFill>
            <a:prstDash val="solid"/>
          </a:ln>
        </p:spPr>
      </p:sp>
      <p:sp>
        <p:nvSpPr>
          <p:cNvPr id="56" name="a5_m_n4"/>
          <p:cNvSpPr/>
          <p:nvPr/>
        </p:nvSpPr>
        <p:spPr>
          <a:xfrm>
            <a:off x="3878885" y="5031486"/>
            <a:ext cx="201168" cy="201168"/>
          </a:xfrm>
          <a:prstGeom prst="ellipse">
            <a:avLst/>
          </a:prstGeom>
          <a:solidFill>
            <a:srgbClr val="4C9BE8"/>
          </a:solidFill>
          <a:ln w="19050">
            <a:solidFill>
              <a:srgbClr val="FFFFFF"/>
            </a:solidFill>
            <a:prstDash val="solid"/>
          </a:ln>
        </p:spPr>
      </p:sp>
      <p:sp>
        <p:nvSpPr>
          <p:cNvPr id="57" name="a5_t"/>
          <p:cNvSpPr txBox="1"/>
          <p:nvPr/>
        </p:nvSpPr>
        <p:spPr>
          <a:xfrm>
            <a:off x="2103120" y="5440680"/>
            <a:ext cx="2331720" cy="3657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Gather-scatter</a:t>
            </a:r>
            <a:endParaRPr lang="en-US" sz="1700" dirty="0"/>
          </a:p>
        </p:txBody>
      </p:sp>
      <p:sp>
        <p:nvSpPr>
          <p:cNvPr id="58" name="a5_r"/>
          <p:cNvSpPr txBox="1"/>
          <p:nvPr/>
        </p:nvSpPr>
        <p:spPr>
          <a:xfrm>
            <a:off x="2103120" y="5806440"/>
            <a:ext cx="2331720" cy="320040"/>
          </a:xfrm>
          <a:prstGeom prst="rect">
            <a:avLst/>
          </a:prstGeom>
          <a:noFill/>
          <a:ln/>
        </p:spPr>
        <p:txBody>
          <a:bodyPr wrap="square" lIns="0" tIns="0" rIns="0" bIns="0" rtlCol="0" anchor="ctr"/>
          <a:lstStyle/>
          <a:p>
            <a:pPr algn="ctr" indent="0" marL="0">
              <a:buNone/>
            </a:pPr>
            <a:r>
              <a:rPr lang="en-US" sz="1400" b="1" dirty="0">
                <a:solidFill>
                  <a:srgbClr val="00A99D"/>
                </a:solidFill>
                <a:latin typeface="Calibri" pitchFamily="34" charset="0"/>
                <a:ea typeface="Calibri" pitchFamily="34" charset="-122"/>
                <a:cs typeface="Calibri" pitchFamily="34" charset="-120"/>
              </a:rPr>
              <a:t>trouvé : 17 %</a:t>
            </a:r>
            <a:endParaRPr lang="en-US" sz="1400" dirty="0"/>
          </a:p>
        </p:txBody>
      </p:sp>
      <p:sp>
        <p:nvSpPr>
          <p:cNvPr id="59" name="a6_c"/>
          <p:cNvSpPr/>
          <p:nvPr/>
        </p:nvSpPr>
        <p:spPr>
          <a:xfrm>
            <a:off x="4800600" y="3931920"/>
            <a:ext cx="2514600" cy="2377440"/>
          </a:xfrm>
          <a:prstGeom prst="roundRect">
            <a:avLst>
              <a:gd name="adj" fmla="val 4615"/>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60" name="a6_m_e0"/>
          <p:cNvSpPr/>
          <p:nvPr/>
        </p:nvSpPr>
        <p:spPr>
          <a:xfrm>
            <a:off x="5447995" y="4732020"/>
            <a:ext cx="491033" cy="914"/>
          </a:xfrm>
          <a:prstGeom prst="line">
            <a:avLst/>
          </a:prstGeom>
          <a:noFill/>
          <a:ln w="22225">
            <a:solidFill>
              <a:srgbClr val="8A95A8"/>
            </a:solidFill>
            <a:prstDash val="solid"/>
            <a:tailEnd type="triangle"/>
          </a:ln>
        </p:spPr>
      </p:sp>
      <p:sp>
        <p:nvSpPr>
          <p:cNvPr id="61" name="a6_m_e1"/>
          <p:cNvSpPr/>
          <p:nvPr/>
        </p:nvSpPr>
        <p:spPr>
          <a:xfrm>
            <a:off x="6158484" y="4732020"/>
            <a:ext cx="491033" cy="914"/>
          </a:xfrm>
          <a:prstGeom prst="line">
            <a:avLst/>
          </a:prstGeom>
          <a:noFill/>
          <a:ln w="22225">
            <a:solidFill>
              <a:srgbClr val="8A95A8"/>
            </a:solidFill>
            <a:prstDash val="solid"/>
            <a:tailEnd type="triangle"/>
          </a:ln>
        </p:spPr>
      </p:sp>
      <p:sp>
        <p:nvSpPr>
          <p:cNvPr id="62" name="a6_m_n0"/>
          <p:cNvSpPr/>
          <p:nvPr/>
        </p:nvSpPr>
        <p:spPr>
          <a:xfrm>
            <a:off x="5246827" y="4631436"/>
            <a:ext cx="201168" cy="201168"/>
          </a:xfrm>
          <a:prstGeom prst="ellipse">
            <a:avLst/>
          </a:prstGeom>
          <a:solidFill>
            <a:srgbClr val="4C9BE8"/>
          </a:solidFill>
          <a:ln w="19050">
            <a:solidFill>
              <a:srgbClr val="FFFFFF"/>
            </a:solidFill>
            <a:prstDash val="solid"/>
          </a:ln>
        </p:spPr>
      </p:sp>
      <p:sp>
        <p:nvSpPr>
          <p:cNvPr id="63" name="a6_m_n1"/>
          <p:cNvSpPr/>
          <p:nvPr/>
        </p:nvSpPr>
        <p:spPr>
          <a:xfrm>
            <a:off x="5957316" y="4631436"/>
            <a:ext cx="201168" cy="201168"/>
          </a:xfrm>
          <a:prstGeom prst="ellipse">
            <a:avLst/>
          </a:prstGeom>
          <a:solidFill>
            <a:srgbClr val="F2545B"/>
          </a:solidFill>
          <a:ln w="19050">
            <a:solidFill>
              <a:srgbClr val="FFFFFF"/>
            </a:solidFill>
            <a:prstDash val="solid"/>
          </a:ln>
        </p:spPr>
      </p:sp>
      <p:sp>
        <p:nvSpPr>
          <p:cNvPr id="64" name="a6_m_n2"/>
          <p:cNvSpPr/>
          <p:nvPr/>
        </p:nvSpPr>
        <p:spPr>
          <a:xfrm>
            <a:off x="6667805" y="4631436"/>
            <a:ext cx="201168" cy="201168"/>
          </a:xfrm>
          <a:prstGeom prst="ellipse">
            <a:avLst/>
          </a:prstGeom>
          <a:solidFill>
            <a:srgbClr val="4C9BE8"/>
          </a:solidFill>
          <a:ln w="19050">
            <a:solidFill>
              <a:srgbClr val="FFFFFF"/>
            </a:solidFill>
            <a:prstDash val="solid"/>
          </a:ln>
        </p:spPr>
      </p:sp>
      <p:sp>
        <p:nvSpPr>
          <p:cNvPr id="65" name="a6_t"/>
          <p:cNvSpPr txBox="1"/>
          <p:nvPr/>
        </p:nvSpPr>
        <p:spPr>
          <a:xfrm>
            <a:off x="4892040" y="5440680"/>
            <a:ext cx="2331720" cy="3657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Relais (stack)</a:t>
            </a:r>
            <a:endParaRPr lang="en-US" sz="1700" dirty="0"/>
          </a:p>
        </p:txBody>
      </p:sp>
      <p:sp>
        <p:nvSpPr>
          <p:cNvPr id="66" name="a6_r"/>
          <p:cNvSpPr txBox="1"/>
          <p:nvPr/>
        </p:nvSpPr>
        <p:spPr>
          <a:xfrm>
            <a:off x="4892040" y="5806440"/>
            <a:ext cx="2331720" cy="320040"/>
          </a:xfrm>
          <a:prstGeom prst="rect">
            <a:avLst/>
          </a:prstGeom>
          <a:noFill/>
          <a:ln/>
        </p:spPr>
        <p:txBody>
          <a:bodyPr wrap="square" lIns="0" tIns="0" rIns="0" bIns="0" rtlCol="0" anchor="ctr"/>
          <a:lstStyle/>
          <a:p>
            <a:pPr algn="ctr" indent="0" marL="0">
              <a:buNone/>
            </a:pPr>
            <a:r>
              <a:rPr lang="en-US" sz="1400" b="1" dirty="0">
                <a:solidFill>
                  <a:srgbClr val="00A99D"/>
                </a:solidFill>
                <a:latin typeface="Calibri" pitchFamily="34" charset="0"/>
                <a:ea typeface="Calibri" pitchFamily="34" charset="-122"/>
                <a:cs typeface="Calibri" pitchFamily="34" charset="-120"/>
              </a:rPr>
              <a:t>trouvé : 55 %</a:t>
            </a:r>
            <a:endParaRPr lang="en-US" sz="1400" dirty="0"/>
          </a:p>
        </p:txBody>
      </p:sp>
      <p:sp>
        <p:nvSpPr>
          <p:cNvPr id="67" name="a7_c"/>
          <p:cNvSpPr/>
          <p:nvPr/>
        </p:nvSpPr>
        <p:spPr>
          <a:xfrm>
            <a:off x="7589520" y="3931920"/>
            <a:ext cx="2514600" cy="2377440"/>
          </a:xfrm>
          <a:prstGeom prst="roundRect">
            <a:avLst>
              <a:gd name="adj" fmla="val 4615"/>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68" name="a7_m_e0"/>
          <p:cNvSpPr/>
          <p:nvPr/>
        </p:nvSpPr>
        <p:spPr>
          <a:xfrm>
            <a:off x="8422671" y="4445433"/>
            <a:ext cx="325653" cy="220036"/>
          </a:xfrm>
          <a:prstGeom prst="line">
            <a:avLst/>
          </a:prstGeom>
          <a:noFill/>
          <a:ln w="22225">
            <a:solidFill>
              <a:srgbClr val="8A95A8"/>
            </a:solidFill>
            <a:prstDash val="solid"/>
            <a:tailEnd type="triangle"/>
          </a:ln>
        </p:spPr>
      </p:sp>
      <p:sp>
        <p:nvSpPr>
          <p:cNvPr id="69" name="a7_m_e1"/>
          <p:cNvSpPr/>
          <p:nvPr/>
        </p:nvSpPr>
        <p:spPr>
          <a:xfrm flipV="1">
            <a:off x="8930163" y="4455671"/>
            <a:ext cx="325653" cy="220036"/>
          </a:xfrm>
          <a:prstGeom prst="line">
            <a:avLst/>
          </a:prstGeom>
          <a:noFill/>
          <a:ln w="22225">
            <a:solidFill>
              <a:srgbClr val="8A95A8"/>
            </a:solidFill>
            <a:prstDash val="solid"/>
            <a:tailEnd type="triangle"/>
          </a:ln>
        </p:spPr>
      </p:sp>
      <p:sp>
        <p:nvSpPr>
          <p:cNvPr id="70" name="a7_m_e2"/>
          <p:cNvSpPr/>
          <p:nvPr/>
        </p:nvSpPr>
        <p:spPr>
          <a:xfrm flipH="1" flipV="1">
            <a:off x="8949686" y="4791595"/>
            <a:ext cx="402168" cy="232916"/>
          </a:xfrm>
          <a:prstGeom prst="line">
            <a:avLst/>
          </a:prstGeom>
          <a:noFill/>
          <a:ln w="22225">
            <a:solidFill>
              <a:srgbClr val="8A95A8"/>
            </a:solidFill>
            <a:prstDash val="solid"/>
            <a:tailEnd type="triangle"/>
          </a:ln>
        </p:spPr>
      </p:sp>
      <p:sp>
        <p:nvSpPr>
          <p:cNvPr id="71" name="a7_m_e3"/>
          <p:cNvSpPr/>
          <p:nvPr/>
        </p:nvSpPr>
        <p:spPr>
          <a:xfrm flipH="1">
            <a:off x="8357612" y="4782429"/>
            <a:ext cx="402168" cy="232916"/>
          </a:xfrm>
          <a:prstGeom prst="line">
            <a:avLst/>
          </a:prstGeom>
          <a:noFill/>
          <a:ln w="22225">
            <a:solidFill>
              <a:srgbClr val="8A95A8"/>
            </a:solidFill>
            <a:prstDash val="solid"/>
            <a:tailEnd type="triangle"/>
          </a:ln>
        </p:spPr>
      </p:sp>
      <p:sp>
        <p:nvSpPr>
          <p:cNvPr id="72" name="a7_m_e4"/>
          <p:cNvSpPr/>
          <p:nvPr/>
        </p:nvSpPr>
        <p:spPr>
          <a:xfrm>
            <a:off x="8439912" y="4389120"/>
            <a:ext cx="795528" cy="914"/>
          </a:xfrm>
          <a:prstGeom prst="line">
            <a:avLst/>
          </a:prstGeom>
          <a:noFill/>
          <a:ln w="22225">
            <a:solidFill>
              <a:srgbClr val="8A95A8"/>
            </a:solidFill>
            <a:prstDash val="solid"/>
            <a:tailEnd type="triangle"/>
          </a:ln>
        </p:spPr>
      </p:sp>
      <p:sp>
        <p:nvSpPr>
          <p:cNvPr id="73" name="a7_m_e5"/>
          <p:cNvSpPr/>
          <p:nvPr/>
        </p:nvSpPr>
        <p:spPr>
          <a:xfrm flipH="1">
            <a:off x="8373618" y="5074920"/>
            <a:ext cx="964692" cy="914"/>
          </a:xfrm>
          <a:prstGeom prst="line">
            <a:avLst/>
          </a:prstGeom>
          <a:noFill/>
          <a:ln w="22225">
            <a:solidFill>
              <a:srgbClr val="8A95A8"/>
            </a:solidFill>
            <a:prstDash val="solid"/>
            <a:tailEnd type="triangle"/>
          </a:ln>
        </p:spPr>
      </p:sp>
      <p:sp>
        <p:nvSpPr>
          <p:cNvPr id="74" name="a7_m_n0"/>
          <p:cNvSpPr/>
          <p:nvPr/>
        </p:nvSpPr>
        <p:spPr>
          <a:xfrm>
            <a:off x="8238744" y="4288536"/>
            <a:ext cx="201168" cy="201168"/>
          </a:xfrm>
          <a:prstGeom prst="ellipse">
            <a:avLst/>
          </a:prstGeom>
          <a:solidFill>
            <a:srgbClr val="F2545B"/>
          </a:solidFill>
          <a:ln w="19050">
            <a:solidFill>
              <a:srgbClr val="FFFFFF"/>
            </a:solidFill>
            <a:prstDash val="solid"/>
          </a:ln>
        </p:spPr>
      </p:sp>
      <p:sp>
        <p:nvSpPr>
          <p:cNvPr id="75" name="a7_m_n1"/>
          <p:cNvSpPr/>
          <p:nvPr/>
        </p:nvSpPr>
        <p:spPr>
          <a:xfrm>
            <a:off x="9253728" y="4288536"/>
            <a:ext cx="201168" cy="201168"/>
          </a:xfrm>
          <a:prstGeom prst="ellipse">
            <a:avLst/>
          </a:prstGeom>
          <a:solidFill>
            <a:srgbClr val="F2545B"/>
          </a:solidFill>
          <a:ln w="19050">
            <a:solidFill>
              <a:srgbClr val="FFFFFF"/>
            </a:solidFill>
            <a:prstDash val="solid"/>
          </a:ln>
        </p:spPr>
      </p:sp>
      <p:sp>
        <p:nvSpPr>
          <p:cNvPr id="76" name="a7_m_n2"/>
          <p:cNvSpPr/>
          <p:nvPr/>
        </p:nvSpPr>
        <p:spPr>
          <a:xfrm>
            <a:off x="9338310" y="4974336"/>
            <a:ext cx="201168" cy="201168"/>
          </a:xfrm>
          <a:prstGeom prst="ellipse">
            <a:avLst/>
          </a:prstGeom>
          <a:solidFill>
            <a:srgbClr val="F2545B"/>
          </a:solidFill>
          <a:ln w="19050">
            <a:solidFill>
              <a:srgbClr val="FFFFFF"/>
            </a:solidFill>
            <a:prstDash val="solid"/>
          </a:ln>
        </p:spPr>
      </p:sp>
      <p:sp>
        <p:nvSpPr>
          <p:cNvPr id="77" name="a7_m_n3"/>
          <p:cNvSpPr/>
          <p:nvPr/>
        </p:nvSpPr>
        <p:spPr>
          <a:xfrm>
            <a:off x="8154162" y="4974336"/>
            <a:ext cx="201168" cy="201168"/>
          </a:xfrm>
          <a:prstGeom prst="ellipse">
            <a:avLst/>
          </a:prstGeom>
          <a:solidFill>
            <a:srgbClr val="F2545B"/>
          </a:solidFill>
          <a:ln w="19050">
            <a:solidFill>
              <a:srgbClr val="FFFFFF"/>
            </a:solidFill>
            <a:prstDash val="solid"/>
          </a:ln>
        </p:spPr>
      </p:sp>
      <p:sp>
        <p:nvSpPr>
          <p:cNvPr id="78" name="a7_m_n4"/>
          <p:cNvSpPr/>
          <p:nvPr/>
        </p:nvSpPr>
        <p:spPr>
          <a:xfrm>
            <a:off x="8746236" y="4631436"/>
            <a:ext cx="201168" cy="201168"/>
          </a:xfrm>
          <a:prstGeom prst="ellipse">
            <a:avLst/>
          </a:prstGeom>
          <a:solidFill>
            <a:srgbClr val="F5B700"/>
          </a:solidFill>
          <a:ln w="19050">
            <a:solidFill>
              <a:srgbClr val="FFFFFF"/>
            </a:solidFill>
            <a:prstDash val="solid"/>
          </a:ln>
        </p:spPr>
      </p:sp>
      <p:sp>
        <p:nvSpPr>
          <p:cNvPr id="79" name="a7_t"/>
          <p:cNvSpPr txBox="1"/>
          <p:nvPr/>
        </p:nvSpPr>
        <p:spPr>
          <a:xfrm>
            <a:off x="7680960" y="5440680"/>
            <a:ext cx="2331720" cy="3657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Communauté</a:t>
            </a:r>
            <a:endParaRPr lang="en-US" sz="1700" dirty="0"/>
          </a:p>
        </p:txBody>
      </p:sp>
      <p:sp>
        <p:nvSpPr>
          <p:cNvPr id="80" name="a7_r"/>
          <p:cNvSpPr txBox="1"/>
          <p:nvPr/>
        </p:nvSpPr>
        <p:spPr>
          <a:xfrm>
            <a:off x="7680960" y="5806440"/>
            <a:ext cx="2331720" cy="320040"/>
          </a:xfrm>
          <a:prstGeom prst="rect">
            <a:avLst/>
          </a:prstGeom>
          <a:noFill/>
          <a:ln/>
        </p:spPr>
        <p:txBody>
          <a:bodyPr wrap="square" lIns="0" tIns="0" rIns="0" bIns="0" rtlCol="0" anchor="ctr"/>
          <a:lstStyle/>
          <a:p>
            <a:pPr algn="ctr" indent="0" marL="0">
              <a:buNone/>
            </a:pPr>
            <a:r>
              <a:rPr lang="en-US" sz="1400" dirty="0">
                <a:solidFill>
                  <a:srgbClr val="5B6577"/>
                </a:solidFill>
                <a:latin typeface="Calibri" pitchFamily="34" charset="0"/>
                <a:ea typeface="Calibri" pitchFamily="34" charset="-122"/>
                <a:cs typeface="Calibri" pitchFamily="34" charset="-120"/>
              </a:rPr>
              <a:t>groupes de comptes relais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par>
                          <p:cTn id="35" fill="hold">
                            <p:stCondLst>
                              <p:cond delay="350"/>
                            </p:stCondLst>
                            <p:childTnLst>
                              <p:par>
                                <p:cTn id="36" presetID="10"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childTnLst>
                          </p:cTn>
                        </p:par>
                        <p:par>
                          <p:cTn id="66" fill="hold">
                            <p:stCondLst>
                              <p:cond delay="700"/>
                            </p:stCondLst>
                            <p:childTnLst>
                              <p:par>
                                <p:cTn id="67" presetID="10" presetClass="entr" presetSubtype="0" fill="hold" grpId="0"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par>
                          <p:cTn id="94" fill="hold">
                            <p:stCondLst>
                              <p:cond delay="1050"/>
                            </p:stCondLst>
                            <p:childTnLst>
                              <p:par>
                                <p:cTn id="95" presetID="10" presetClass="entr" presetSubtype="0" fill="hold" grpId="0" nodeType="after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500"/>
                                        <p:tgtEl>
                                          <p:spTgt spid="3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500"/>
                                        <p:tgtEl>
                                          <p:spTgt spid="3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500"/>
                                        <p:tgtEl>
                                          <p:spTgt spid="3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500"/>
                                        <p:tgtEl>
                                          <p:spTgt spid="4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500"/>
                                        <p:tgtEl>
                                          <p:spTgt spid="4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500"/>
                                        <p:tgtEl>
                                          <p:spTgt spid="4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500"/>
                                        <p:tgtEl>
                                          <p:spTgt spid="4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500"/>
                                        <p:tgtEl>
                                          <p:spTgt spid="4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500"/>
                                        <p:tgtEl>
                                          <p:spTgt spid="45"/>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500"/>
                                        <p:tgtEl>
                                          <p:spTgt spid="46"/>
                                        </p:tgtEl>
                                      </p:cBhvr>
                                    </p:animEffect>
                                  </p:childTnLst>
                                </p:cTn>
                              </p:par>
                            </p:childTnLst>
                          </p:cTn>
                        </p:par>
                        <p:par>
                          <p:cTn id="137" fill="hold">
                            <p:stCondLst>
                              <p:cond delay="1400"/>
                            </p:stCondLst>
                            <p:childTnLst>
                              <p:par>
                                <p:cTn id="138" presetID="10" presetClass="entr" presetSubtype="0" fill="hold" grpId="0" nodeType="afterEffect">
                                  <p:stCondLst>
                                    <p:cond delay="0"/>
                                  </p:stCondLst>
                                  <p:childTnLst>
                                    <p:set>
                                      <p:cBhvr>
                                        <p:cTn id="139" dur="1" fill="hold">
                                          <p:stCondLst>
                                            <p:cond delay="0"/>
                                          </p:stCondLst>
                                        </p:cTn>
                                        <p:tgtEl>
                                          <p:spTgt spid="47"/>
                                        </p:tgtEl>
                                        <p:attrNameLst>
                                          <p:attrName>style.visibility</p:attrName>
                                        </p:attrNameLst>
                                      </p:cBhvr>
                                      <p:to>
                                        <p:strVal val="visible"/>
                                      </p:to>
                                    </p:set>
                                    <p:animEffect transition="in" filter="fade">
                                      <p:cBhvr>
                                        <p:cTn id="140" dur="500"/>
                                        <p:tgtEl>
                                          <p:spTgt spid="47"/>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8"/>
                                        </p:tgtEl>
                                        <p:attrNameLst>
                                          <p:attrName>style.visibility</p:attrName>
                                        </p:attrNameLst>
                                      </p:cBhvr>
                                      <p:to>
                                        <p:strVal val="visible"/>
                                      </p:to>
                                    </p:set>
                                    <p:animEffect transition="in" filter="fade">
                                      <p:cBhvr>
                                        <p:cTn id="143" dur="500"/>
                                        <p:tgtEl>
                                          <p:spTgt spid="48"/>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9"/>
                                        </p:tgtEl>
                                        <p:attrNameLst>
                                          <p:attrName>style.visibility</p:attrName>
                                        </p:attrNameLst>
                                      </p:cBhvr>
                                      <p:to>
                                        <p:strVal val="visible"/>
                                      </p:to>
                                    </p:set>
                                    <p:animEffect transition="in" filter="fade">
                                      <p:cBhvr>
                                        <p:cTn id="146" dur="500"/>
                                        <p:tgtEl>
                                          <p:spTgt spid="49"/>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0"/>
                                        </p:tgtEl>
                                        <p:attrNameLst>
                                          <p:attrName>style.visibility</p:attrName>
                                        </p:attrNameLst>
                                      </p:cBhvr>
                                      <p:to>
                                        <p:strVal val="visible"/>
                                      </p:to>
                                    </p:set>
                                    <p:animEffect transition="in" filter="fade">
                                      <p:cBhvr>
                                        <p:cTn id="149" dur="500"/>
                                        <p:tgtEl>
                                          <p:spTgt spid="50"/>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1"/>
                                        </p:tgtEl>
                                        <p:attrNameLst>
                                          <p:attrName>style.visibility</p:attrName>
                                        </p:attrNameLst>
                                      </p:cBhvr>
                                      <p:to>
                                        <p:strVal val="visible"/>
                                      </p:to>
                                    </p:set>
                                    <p:animEffect transition="in" filter="fade">
                                      <p:cBhvr>
                                        <p:cTn id="152" dur="500"/>
                                        <p:tgtEl>
                                          <p:spTgt spid="51"/>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2"/>
                                        </p:tgtEl>
                                        <p:attrNameLst>
                                          <p:attrName>style.visibility</p:attrName>
                                        </p:attrNameLst>
                                      </p:cBhvr>
                                      <p:to>
                                        <p:strVal val="visible"/>
                                      </p:to>
                                    </p:set>
                                    <p:animEffect transition="in" filter="fade">
                                      <p:cBhvr>
                                        <p:cTn id="155" dur="500"/>
                                        <p:tgtEl>
                                          <p:spTgt spid="52"/>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3"/>
                                        </p:tgtEl>
                                        <p:attrNameLst>
                                          <p:attrName>style.visibility</p:attrName>
                                        </p:attrNameLst>
                                      </p:cBhvr>
                                      <p:to>
                                        <p:strVal val="visible"/>
                                      </p:to>
                                    </p:set>
                                    <p:animEffect transition="in" filter="fade">
                                      <p:cBhvr>
                                        <p:cTn id="158" dur="500"/>
                                        <p:tgtEl>
                                          <p:spTgt spid="53"/>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4"/>
                                        </p:tgtEl>
                                        <p:attrNameLst>
                                          <p:attrName>style.visibility</p:attrName>
                                        </p:attrNameLst>
                                      </p:cBhvr>
                                      <p:to>
                                        <p:strVal val="visible"/>
                                      </p:to>
                                    </p:set>
                                    <p:animEffect transition="in" filter="fade">
                                      <p:cBhvr>
                                        <p:cTn id="161" dur="500"/>
                                        <p:tgtEl>
                                          <p:spTgt spid="54"/>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5"/>
                                        </p:tgtEl>
                                        <p:attrNameLst>
                                          <p:attrName>style.visibility</p:attrName>
                                        </p:attrNameLst>
                                      </p:cBhvr>
                                      <p:to>
                                        <p:strVal val="visible"/>
                                      </p:to>
                                    </p:set>
                                    <p:animEffect transition="in" filter="fade">
                                      <p:cBhvr>
                                        <p:cTn id="164" dur="500"/>
                                        <p:tgtEl>
                                          <p:spTgt spid="55"/>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6"/>
                                        </p:tgtEl>
                                        <p:attrNameLst>
                                          <p:attrName>style.visibility</p:attrName>
                                        </p:attrNameLst>
                                      </p:cBhvr>
                                      <p:to>
                                        <p:strVal val="visible"/>
                                      </p:to>
                                    </p:set>
                                    <p:animEffect transition="in" filter="fade">
                                      <p:cBhvr>
                                        <p:cTn id="167" dur="500"/>
                                        <p:tgtEl>
                                          <p:spTgt spid="56"/>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7"/>
                                        </p:tgtEl>
                                        <p:attrNameLst>
                                          <p:attrName>style.visibility</p:attrName>
                                        </p:attrNameLst>
                                      </p:cBhvr>
                                      <p:to>
                                        <p:strVal val="visible"/>
                                      </p:to>
                                    </p:set>
                                    <p:animEffect transition="in" filter="fade">
                                      <p:cBhvr>
                                        <p:cTn id="170" dur="500"/>
                                        <p:tgtEl>
                                          <p:spTgt spid="57"/>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8"/>
                                        </p:tgtEl>
                                        <p:attrNameLst>
                                          <p:attrName>style.visibility</p:attrName>
                                        </p:attrNameLst>
                                      </p:cBhvr>
                                      <p:to>
                                        <p:strVal val="visible"/>
                                      </p:to>
                                    </p:set>
                                    <p:animEffect transition="in" filter="fade">
                                      <p:cBhvr>
                                        <p:cTn id="173" dur="500"/>
                                        <p:tgtEl>
                                          <p:spTgt spid="58"/>
                                        </p:tgtEl>
                                      </p:cBhvr>
                                    </p:animEffect>
                                  </p:childTnLst>
                                </p:cTn>
                              </p:par>
                            </p:childTnLst>
                          </p:cTn>
                        </p:par>
                        <p:par>
                          <p:cTn id="174" fill="hold">
                            <p:stCondLst>
                              <p:cond delay="1750"/>
                            </p:stCondLst>
                            <p:childTnLst>
                              <p:par>
                                <p:cTn id="175" presetID="10" presetClass="entr" presetSubtype="0" fill="hold" grpId="0" nodeType="afterEffect">
                                  <p:stCondLst>
                                    <p:cond delay="0"/>
                                  </p:stCondLst>
                                  <p:childTnLst>
                                    <p:set>
                                      <p:cBhvr>
                                        <p:cTn id="176" dur="1" fill="hold">
                                          <p:stCondLst>
                                            <p:cond delay="0"/>
                                          </p:stCondLst>
                                        </p:cTn>
                                        <p:tgtEl>
                                          <p:spTgt spid="59"/>
                                        </p:tgtEl>
                                        <p:attrNameLst>
                                          <p:attrName>style.visibility</p:attrName>
                                        </p:attrNameLst>
                                      </p:cBhvr>
                                      <p:to>
                                        <p:strVal val="visible"/>
                                      </p:to>
                                    </p:set>
                                    <p:animEffect transition="in" filter="fade">
                                      <p:cBhvr>
                                        <p:cTn id="177" dur="500"/>
                                        <p:tgtEl>
                                          <p:spTgt spid="59"/>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0"/>
                                        </p:tgtEl>
                                        <p:attrNameLst>
                                          <p:attrName>style.visibility</p:attrName>
                                        </p:attrNameLst>
                                      </p:cBhvr>
                                      <p:to>
                                        <p:strVal val="visible"/>
                                      </p:to>
                                    </p:set>
                                    <p:animEffect transition="in" filter="fade">
                                      <p:cBhvr>
                                        <p:cTn id="180" dur="500"/>
                                        <p:tgtEl>
                                          <p:spTgt spid="60"/>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1"/>
                                        </p:tgtEl>
                                        <p:attrNameLst>
                                          <p:attrName>style.visibility</p:attrName>
                                        </p:attrNameLst>
                                      </p:cBhvr>
                                      <p:to>
                                        <p:strVal val="visible"/>
                                      </p:to>
                                    </p:set>
                                    <p:animEffect transition="in" filter="fade">
                                      <p:cBhvr>
                                        <p:cTn id="183" dur="500"/>
                                        <p:tgtEl>
                                          <p:spTgt spid="61"/>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2"/>
                                        </p:tgtEl>
                                        <p:attrNameLst>
                                          <p:attrName>style.visibility</p:attrName>
                                        </p:attrNameLst>
                                      </p:cBhvr>
                                      <p:to>
                                        <p:strVal val="visible"/>
                                      </p:to>
                                    </p:set>
                                    <p:animEffect transition="in" filter="fade">
                                      <p:cBhvr>
                                        <p:cTn id="186" dur="500"/>
                                        <p:tgtEl>
                                          <p:spTgt spid="62"/>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3"/>
                                        </p:tgtEl>
                                        <p:attrNameLst>
                                          <p:attrName>style.visibility</p:attrName>
                                        </p:attrNameLst>
                                      </p:cBhvr>
                                      <p:to>
                                        <p:strVal val="visible"/>
                                      </p:to>
                                    </p:set>
                                    <p:animEffect transition="in" filter="fade">
                                      <p:cBhvr>
                                        <p:cTn id="189" dur="500"/>
                                        <p:tgtEl>
                                          <p:spTgt spid="63"/>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4"/>
                                        </p:tgtEl>
                                        <p:attrNameLst>
                                          <p:attrName>style.visibility</p:attrName>
                                        </p:attrNameLst>
                                      </p:cBhvr>
                                      <p:to>
                                        <p:strVal val="visible"/>
                                      </p:to>
                                    </p:set>
                                    <p:animEffect transition="in" filter="fade">
                                      <p:cBhvr>
                                        <p:cTn id="192" dur="500"/>
                                        <p:tgtEl>
                                          <p:spTgt spid="64"/>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5"/>
                                        </p:tgtEl>
                                        <p:attrNameLst>
                                          <p:attrName>style.visibility</p:attrName>
                                        </p:attrNameLst>
                                      </p:cBhvr>
                                      <p:to>
                                        <p:strVal val="visible"/>
                                      </p:to>
                                    </p:set>
                                    <p:animEffect transition="in" filter="fade">
                                      <p:cBhvr>
                                        <p:cTn id="195" dur="500"/>
                                        <p:tgtEl>
                                          <p:spTgt spid="65"/>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6"/>
                                        </p:tgtEl>
                                        <p:attrNameLst>
                                          <p:attrName>style.visibility</p:attrName>
                                        </p:attrNameLst>
                                      </p:cBhvr>
                                      <p:to>
                                        <p:strVal val="visible"/>
                                      </p:to>
                                    </p:set>
                                    <p:animEffect transition="in" filter="fade">
                                      <p:cBhvr>
                                        <p:cTn id="198" dur="500"/>
                                        <p:tgtEl>
                                          <p:spTgt spid="66"/>
                                        </p:tgtEl>
                                      </p:cBhvr>
                                    </p:animEffect>
                                  </p:childTnLst>
                                </p:cTn>
                              </p:par>
                            </p:childTnLst>
                          </p:cTn>
                        </p:par>
                        <p:par>
                          <p:cTn id="199" fill="hold">
                            <p:stCondLst>
                              <p:cond delay="2100"/>
                            </p:stCondLst>
                            <p:childTnLst>
                              <p:par>
                                <p:cTn id="200" presetID="10" presetClass="entr" presetSubtype="0" fill="hold" grpId="0" nodeType="afterEffect">
                                  <p:stCondLst>
                                    <p:cond delay="0"/>
                                  </p:stCondLst>
                                  <p:childTnLst>
                                    <p:set>
                                      <p:cBhvr>
                                        <p:cTn id="201" dur="1" fill="hold">
                                          <p:stCondLst>
                                            <p:cond delay="0"/>
                                          </p:stCondLst>
                                        </p:cTn>
                                        <p:tgtEl>
                                          <p:spTgt spid="67"/>
                                        </p:tgtEl>
                                        <p:attrNameLst>
                                          <p:attrName>style.visibility</p:attrName>
                                        </p:attrNameLst>
                                      </p:cBhvr>
                                      <p:to>
                                        <p:strVal val="visible"/>
                                      </p:to>
                                    </p:set>
                                    <p:animEffect transition="in" filter="fade">
                                      <p:cBhvr>
                                        <p:cTn id="202" dur="500"/>
                                        <p:tgtEl>
                                          <p:spTgt spid="67"/>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68"/>
                                        </p:tgtEl>
                                        <p:attrNameLst>
                                          <p:attrName>style.visibility</p:attrName>
                                        </p:attrNameLst>
                                      </p:cBhvr>
                                      <p:to>
                                        <p:strVal val="visible"/>
                                      </p:to>
                                    </p:set>
                                    <p:animEffect transition="in" filter="fade">
                                      <p:cBhvr>
                                        <p:cTn id="205" dur="500"/>
                                        <p:tgtEl>
                                          <p:spTgt spid="68"/>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69"/>
                                        </p:tgtEl>
                                        <p:attrNameLst>
                                          <p:attrName>style.visibility</p:attrName>
                                        </p:attrNameLst>
                                      </p:cBhvr>
                                      <p:to>
                                        <p:strVal val="visible"/>
                                      </p:to>
                                    </p:set>
                                    <p:animEffect transition="in" filter="fade">
                                      <p:cBhvr>
                                        <p:cTn id="208" dur="500"/>
                                        <p:tgtEl>
                                          <p:spTgt spid="69"/>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70"/>
                                        </p:tgtEl>
                                        <p:attrNameLst>
                                          <p:attrName>style.visibility</p:attrName>
                                        </p:attrNameLst>
                                      </p:cBhvr>
                                      <p:to>
                                        <p:strVal val="visible"/>
                                      </p:to>
                                    </p:set>
                                    <p:animEffect transition="in" filter="fade">
                                      <p:cBhvr>
                                        <p:cTn id="211" dur="500"/>
                                        <p:tgtEl>
                                          <p:spTgt spid="70"/>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Effect transition="in" filter="fade">
                                      <p:cBhvr>
                                        <p:cTn id="214" dur="500"/>
                                        <p:tgtEl>
                                          <p:spTgt spid="71"/>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72"/>
                                        </p:tgtEl>
                                        <p:attrNameLst>
                                          <p:attrName>style.visibility</p:attrName>
                                        </p:attrNameLst>
                                      </p:cBhvr>
                                      <p:to>
                                        <p:strVal val="visible"/>
                                      </p:to>
                                    </p:set>
                                    <p:animEffect transition="in" filter="fade">
                                      <p:cBhvr>
                                        <p:cTn id="217" dur="500"/>
                                        <p:tgtEl>
                                          <p:spTgt spid="72"/>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73"/>
                                        </p:tgtEl>
                                        <p:attrNameLst>
                                          <p:attrName>style.visibility</p:attrName>
                                        </p:attrNameLst>
                                      </p:cBhvr>
                                      <p:to>
                                        <p:strVal val="visible"/>
                                      </p:to>
                                    </p:set>
                                    <p:animEffect transition="in" filter="fade">
                                      <p:cBhvr>
                                        <p:cTn id="220" dur="500"/>
                                        <p:tgtEl>
                                          <p:spTgt spid="73"/>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74"/>
                                        </p:tgtEl>
                                        <p:attrNameLst>
                                          <p:attrName>style.visibility</p:attrName>
                                        </p:attrNameLst>
                                      </p:cBhvr>
                                      <p:to>
                                        <p:strVal val="visible"/>
                                      </p:to>
                                    </p:set>
                                    <p:animEffect transition="in" filter="fade">
                                      <p:cBhvr>
                                        <p:cTn id="223" dur="500"/>
                                        <p:tgtEl>
                                          <p:spTgt spid="74"/>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75"/>
                                        </p:tgtEl>
                                        <p:attrNameLst>
                                          <p:attrName>style.visibility</p:attrName>
                                        </p:attrNameLst>
                                      </p:cBhvr>
                                      <p:to>
                                        <p:strVal val="visible"/>
                                      </p:to>
                                    </p:set>
                                    <p:animEffect transition="in" filter="fade">
                                      <p:cBhvr>
                                        <p:cTn id="226" dur="500"/>
                                        <p:tgtEl>
                                          <p:spTgt spid="75"/>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76"/>
                                        </p:tgtEl>
                                        <p:attrNameLst>
                                          <p:attrName>style.visibility</p:attrName>
                                        </p:attrNameLst>
                                      </p:cBhvr>
                                      <p:to>
                                        <p:strVal val="visible"/>
                                      </p:to>
                                    </p:set>
                                    <p:animEffect transition="in" filter="fade">
                                      <p:cBhvr>
                                        <p:cTn id="229" dur="500"/>
                                        <p:tgtEl>
                                          <p:spTgt spid="76"/>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77"/>
                                        </p:tgtEl>
                                        <p:attrNameLst>
                                          <p:attrName>style.visibility</p:attrName>
                                        </p:attrNameLst>
                                      </p:cBhvr>
                                      <p:to>
                                        <p:strVal val="visible"/>
                                      </p:to>
                                    </p:set>
                                    <p:animEffect transition="in" filter="fade">
                                      <p:cBhvr>
                                        <p:cTn id="232" dur="500"/>
                                        <p:tgtEl>
                                          <p:spTgt spid="77"/>
                                        </p:tgtEl>
                                      </p:cBhvr>
                                    </p:animEffect>
                                  </p:childTnLst>
                                </p:cTn>
                              </p:par>
                              <p:par>
                                <p:cTn id="233" presetID="10" presetClass="entr" presetSubtype="0" fill="hold" grpId="0" nodeType="withEffect">
                                  <p:stCondLst>
                                    <p:cond delay="0"/>
                                  </p:stCondLst>
                                  <p:childTnLst>
                                    <p:set>
                                      <p:cBhvr>
                                        <p:cTn id="234" dur="1" fill="hold">
                                          <p:stCondLst>
                                            <p:cond delay="0"/>
                                          </p:stCondLst>
                                        </p:cTn>
                                        <p:tgtEl>
                                          <p:spTgt spid="78"/>
                                        </p:tgtEl>
                                        <p:attrNameLst>
                                          <p:attrName>style.visibility</p:attrName>
                                        </p:attrNameLst>
                                      </p:cBhvr>
                                      <p:to>
                                        <p:strVal val="visible"/>
                                      </p:to>
                                    </p:set>
                                    <p:animEffect transition="in" filter="fade">
                                      <p:cBhvr>
                                        <p:cTn id="235" dur="500"/>
                                        <p:tgtEl>
                                          <p:spTgt spid="78"/>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79"/>
                                        </p:tgtEl>
                                        <p:attrNameLst>
                                          <p:attrName>style.visibility</p:attrName>
                                        </p:attrNameLst>
                                      </p:cBhvr>
                                      <p:to>
                                        <p:strVal val="visible"/>
                                      </p:to>
                                    </p:set>
                                    <p:animEffect transition="in" filter="fade">
                                      <p:cBhvr>
                                        <p:cTn id="238" dur="500"/>
                                        <p:tgtEl>
                                          <p:spTgt spid="79"/>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80"/>
                                        </p:tgtEl>
                                        <p:attrNameLst>
                                          <p:attrName>style.visibility</p:attrName>
                                        </p:attrNameLst>
                                      </p:cBhvr>
                                      <p:to>
                                        <p:strVal val="visible"/>
                                      </p:to>
                                    </p:set>
                                    <p:animEffect transition="in" filter="fade">
                                      <p:cBhvr>
                                        <p:cTn id="241"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Objectif J2 : des règles au-delà de 0,5</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8</a:t>
            </a:r>
            <a:endParaRPr lang="en-US" sz="1100" dirty="0"/>
          </a:p>
        </p:txBody>
      </p:sp>
      <p:sp>
        <p:nvSpPr>
          <p:cNvPr id="4" name="a1_d"/>
          <p:cNvSpPr/>
          <p:nvPr/>
        </p:nvSpPr>
        <p:spPr>
          <a:xfrm>
            <a:off x="838733" y="2438933"/>
            <a:ext cx="1248613" cy="1248613"/>
          </a:xfrm>
          <a:prstGeom prst="ellipse">
            <a:avLst/>
          </a:prstGeom>
          <a:solidFill>
            <a:srgbClr val="9AA7BD"/>
          </a:solidFill>
          <a:ln w="25400">
            <a:solidFill>
              <a:srgbClr val="FFFFFF"/>
            </a:solidFill>
            <a:prstDash val="solid"/>
          </a:ln>
        </p:spPr>
      </p:sp>
      <p:sp>
        <p:nvSpPr>
          <p:cNvPr id="5" name="a1_v"/>
          <p:cNvSpPr txBox="1"/>
          <p:nvPr/>
        </p:nvSpPr>
        <p:spPr>
          <a:xfrm>
            <a:off x="365760" y="2697480"/>
            <a:ext cx="219456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0,005</a:t>
            </a:r>
            <a:endParaRPr lang="en-US" sz="2600" dirty="0"/>
          </a:p>
        </p:txBody>
      </p:sp>
      <p:sp>
        <p:nvSpPr>
          <p:cNvPr id="6" name="a1_s"/>
          <p:cNvSpPr txBox="1"/>
          <p:nvPr/>
        </p:nvSpPr>
        <p:spPr>
          <a:xfrm>
            <a:off x="182880" y="4800600"/>
            <a:ext cx="2560320" cy="731520"/>
          </a:xfrm>
          <a:prstGeom prst="rect">
            <a:avLst/>
          </a:prstGeom>
          <a:noFill/>
          <a:ln/>
        </p:spPr>
        <p:txBody>
          <a:bodyPr wrap="square" lIns="0" tIns="0" rIns="0" bIns="0" rtlCol="0" anchor="ctr"/>
          <a:lstStyle/>
          <a:p>
            <a:pPr algn="ctr" indent="0" marL="0">
              <a:buNone/>
            </a:pPr>
            <a:r>
              <a:rPr lang="en-US" sz="1600" dirty="0">
                <a:solidFill>
                  <a:srgbClr val="1B2333"/>
                </a:solidFill>
                <a:latin typeface="Calibri" pitchFamily="34" charset="0"/>
                <a:ea typeface="Calibri" pitchFamily="34" charset="-122"/>
                <a:cs typeface="Calibri" pitchFamily="34" charset="-120"/>
              </a:rPr>
              <a:t>Détecteurs d'origine</a:t>
            </a:r>
            <a:endParaRPr lang="en-US" sz="1600" dirty="0"/>
          </a:p>
        </p:txBody>
      </p:sp>
      <p:sp>
        <p:nvSpPr>
          <p:cNvPr id="7" name="a1_arr"/>
          <p:cNvSpPr txBox="1"/>
          <p:nvPr/>
        </p:nvSpPr>
        <p:spPr>
          <a:xfrm>
            <a:off x="2377440" y="2788920"/>
            <a:ext cx="1097280" cy="548640"/>
          </a:xfrm>
          <a:prstGeom prst="rect">
            <a:avLst/>
          </a:prstGeom>
          <a:noFill/>
          <a:ln/>
        </p:spPr>
        <p:txBody>
          <a:bodyPr wrap="square" lIns="0" tIns="0" rIns="0" bIns="0" rtlCol="0" anchor="ctr"/>
          <a:lstStyle/>
          <a:p>
            <a:pPr algn="ctr" indent="0" marL="0">
              <a:buNone/>
            </a:pPr>
            <a:r>
              <a:rPr lang="en-US" sz="2800" dirty="0">
                <a:solidFill>
                  <a:srgbClr val="5B6577"/>
                </a:solidFill>
                <a:latin typeface="Calibri" pitchFamily="34" charset="0"/>
                <a:ea typeface="Calibri" pitchFamily="34" charset="-122"/>
                <a:cs typeface="Calibri" pitchFamily="34" charset="-120"/>
              </a:rPr>
              <a:t>➜</a:t>
            </a:r>
            <a:endParaRPr lang="en-US" sz="2800" dirty="0"/>
          </a:p>
        </p:txBody>
      </p:sp>
      <p:sp>
        <p:nvSpPr>
          <p:cNvPr id="8" name="a2_d"/>
          <p:cNvSpPr/>
          <p:nvPr/>
        </p:nvSpPr>
        <p:spPr>
          <a:xfrm>
            <a:off x="3244291" y="1964131"/>
            <a:ext cx="2198218" cy="2198218"/>
          </a:xfrm>
          <a:prstGeom prst="ellipse">
            <a:avLst/>
          </a:prstGeom>
          <a:solidFill>
            <a:srgbClr val="4C9BE8"/>
          </a:solidFill>
          <a:ln w="25400">
            <a:solidFill>
              <a:srgbClr val="FFFFFF"/>
            </a:solidFill>
            <a:prstDash val="solid"/>
          </a:ln>
        </p:spPr>
      </p:sp>
      <p:sp>
        <p:nvSpPr>
          <p:cNvPr id="9" name="a2_v"/>
          <p:cNvSpPr txBox="1"/>
          <p:nvPr/>
        </p:nvSpPr>
        <p:spPr>
          <a:xfrm>
            <a:off x="3246120" y="2697480"/>
            <a:ext cx="219456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0,340</a:t>
            </a:r>
            <a:endParaRPr lang="en-US" sz="2600" dirty="0"/>
          </a:p>
        </p:txBody>
      </p:sp>
      <p:sp>
        <p:nvSpPr>
          <p:cNvPr id="10" name="a2_s"/>
          <p:cNvSpPr txBox="1"/>
          <p:nvPr/>
        </p:nvSpPr>
        <p:spPr>
          <a:xfrm>
            <a:off x="3063240" y="4800600"/>
            <a:ext cx="2560320" cy="731520"/>
          </a:xfrm>
          <a:prstGeom prst="rect">
            <a:avLst/>
          </a:prstGeom>
          <a:noFill/>
          <a:ln/>
        </p:spPr>
        <p:txBody>
          <a:bodyPr wrap="square" lIns="0" tIns="0" rIns="0" bIns="0" rtlCol="0" anchor="ctr"/>
          <a:lstStyle/>
          <a:p>
            <a:pPr algn="ctr" indent="0" marL="0">
              <a:buNone/>
            </a:pPr>
            <a:r>
              <a:rPr lang="en-US" sz="1600" dirty="0">
                <a:solidFill>
                  <a:srgbClr val="1B2333"/>
                </a:solidFill>
                <a:latin typeface="Calibri" pitchFamily="34" charset="0"/>
                <a:ea typeface="Calibri" pitchFamily="34" charset="-122"/>
                <a:cs typeface="Calibri" pitchFamily="34" charset="-120"/>
              </a:rPr>
              <a:t>Devises + contexte + ACH</a:t>
            </a:r>
            <a:endParaRPr lang="en-US" sz="1600" dirty="0"/>
          </a:p>
        </p:txBody>
      </p:sp>
      <p:sp>
        <p:nvSpPr>
          <p:cNvPr id="11" name="a2_arr"/>
          <p:cNvSpPr txBox="1"/>
          <p:nvPr/>
        </p:nvSpPr>
        <p:spPr>
          <a:xfrm>
            <a:off x="5257800" y="2788920"/>
            <a:ext cx="1097280" cy="548640"/>
          </a:xfrm>
          <a:prstGeom prst="rect">
            <a:avLst/>
          </a:prstGeom>
          <a:noFill/>
          <a:ln/>
        </p:spPr>
        <p:txBody>
          <a:bodyPr wrap="square" lIns="0" tIns="0" rIns="0" bIns="0" rtlCol="0" anchor="ctr"/>
          <a:lstStyle/>
          <a:p>
            <a:pPr algn="ctr" indent="0" marL="0">
              <a:buNone/>
            </a:pPr>
            <a:r>
              <a:rPr lang="en-US" sz="2800" dirty="0">
                <a:solidFill>
                  <a:srgbClr val="5B6577"/>
                </a:solidFill>
                <a:latin typeface="Calibri" pitchFamily="34" charset="0"/>
                <a:ea typeface="Calibri" pitchFamily="34" charset="-122"/>
                <a:cs typeface="Calibri" pitchFamily="34" charset="-120"/>
              </a:rPr>
              <a:t>➜</a:t>
            </a:r>
            <a:endParaRPr lang="en-US" sz="2800" dirty="0"/>
          </a:p>
        </p:txBody>
      </p:sp>
      <p:sp>
        <p:nvSpPr>
          <p:cNvPr id="12" name="a3_d"/>
          <p:cNvSpPr/>
          <p:nvPr/>
        </p:nvSpPr>
        <p:spPr>
          <a:xfrm>
            <a:off x="6041029" y="1880509"/>
            <a:ext cx="2365461" cy="2365461"/>
          </a:xfrm>
          <a:prstGeom prst="ellipse">
            <a:avLst/>
          </a:prstGeom>
          <a:solidFill>
            <a:srgbClr val="7B61FF"/>
          </a:solidFill>
          <a:ln w="25400">
            <a:solidFill>
              <a:srgbClr val="FFFFFF"/>
            </a:solidFill>
            <a:prstDash val="solid"/>
          </a:ln>
        </p:spPr>
      </p:sp>
      <p:sp>
        <p:nvSpPr>
          <p:cNvPr id="13" name="a3_v"/>
          <p:cNvSpPr txBox="1"/>
          <p:nvPr/>
        </p:nvSpPr>
        <p:spPr>
          <a:xfrm>
            <a:off x="6126480" y="2697480"/>
            <a:ext cx="219456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0,399</a:t>
            </a:r>
            <a:endParaRPr lang="en-US" sz="2600" dirty="0"/>
          </a:p>
        </p:txBody>
      </p:sp>
      <p:sp>
        <p:nvSpPr>
          <p:cNvPr id="14" name="a3_s"/>
          <p:cNvSpPr txBox="1"/>
          <p:nvPr/>
        </p:nvSpPr>
        <p:spPr>
          <a:xfrm>
            <a:off x="5943600" y="4800600"/>
            <a:ext cx="2560320" cy="731520"/>
          </a:xfrm>
          <a:prstGeom prst="rect">
            <a:avLst/>
          </a:prstGeom>
          <a:noFill/>
          <a:ln/>
        </p:spPr>
        <p:txBody>
          <a:bodyPr wrap="square" lIns="0" tIns="0" rIns="0" bIns="0" rtlCol="0" anchor="ctr"/>
          <a:lstStyle/>
          <a:p>
            <a:pPr algn="ctr" indent="0" marL="0">
              <a:buNone/>
            </a:pPr>
            <a:r>
              <a:rPr lang="en-US" sz="1600" dirty="0">
                <a:solidFill>
                  <a:srgbClr val="1B2333"/>
                </a:solidFill>
                <a:latin typeface="Calibri" pitchFamily="34" charset="0"/>
                <a:ea typeface="Calibri" pitchFamily="34" charset="-122"/>
                <a:cs typeface="Calibri" pitchFamily="34" charset="-120"/>
              </a:rPr>
              <a:t>Fans plus longs + exclusions</a:t>
            </a:r>
            <a:endParaRPr lang="en-US" sz="1600" dirty="0"/>
          </a:p>
        </p:txBody>
      </p:sp>
      <p:sp>
        <p:nvSpPr>
          <p:cNvPr id="15" name="a3_arr"/>
          <p:cNvSpPr txBox="1"/>
          <p:nvPr/>
        </p:nvSpPr>
        <p:spPr>
          <a:xfrm>
            <a:off x="8138160" y="2788920"/>
            <a:ext cx="1097280" cy="548640"/>
          </a:xfrm>
          <a:prstGeom prst="rect">
            <a:avLst/>
          </a:prstGeom>
          <a:noFill/>
          <a:ln/>
        </p:spPr>
        <p:txBody>
          <a:bodyPr wrap="square" lIns="0" tIns="0" rIns="0" bIns="0" rtlCol="0" anchor="ctr"/>
          <a:lstStyle/>
          <a:p>
            <a:pPr algn="ctr" indent="0" marL="0">
              <a:buNone/>
            </a:pPr>
            <a:r>
              <a:rPr lang="en-US" sz="2800" dirty="0">
                <a:solidFill>
                  <a:srgbClr val="5B6577"/>
                </a:solidFill>
                <a:latin typeface="Calibri" pitchFamily="34" charset="0"/>
                <a:ea typeface="Calibri" pitchFamily="34" charset="-122"/>
                <a:cs typeface="Calibri" pitchFamily="34" charset="-120"/>
              </a:rPr>
              <a:t>➜</a:t>
            </a:r>
            <a:endParaRPr lang="en-US" sz="2800" dirty="0"/>
          </a:p>
        </p:txBody>
      </p:sp>
      <p:sp>
        <p:nvSpPr>
          <p:cNvPr id="16" name="a4_d"/>
          <p:cNvSpPr/>
          <p:nvPr/>
        </p:nvSpPr>
        <p:spPr>
          <a:xfrm>
            <a:off x="8773988" y="1733108"/>
            <a:ext cx="2660264" cy="2660264"/>
          </a:xfrm>
          <a:prstGeom prst="ellipse">
            <a:avLst/>
          </a:prstGeom>
          <a:solidFill>
            <a:srgbClr val="00A99D"/>
          </a:solidFill>
          <a:ln w="25400">
            <a:solidFill>
              <a:srgbClr val="FFFFFF"/>
            </a:solidFill>
            <a:prstDash val="solid"/>
          </a:ln>
        </p:spPr>
      </p:sp>
      <p:sp>
        <p:nvSpPr>
          <p:cNvPr id="17" name="a4_v"/>
          <p:cNvSpPr txBox="1"/>
          <p:nvPr/>
        </p:nvSpPr>
        <p:spPr>
          <a:xfrm>
            <a:off x="9006840" y="2697480"/>
            <a:ext cx="219456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0,503</a:t>
            </a:r>
            <a:endParaRPr lang="en-US" sz="4000" dirty="0"/>
          </a:p>
        </p:txBody>
      </p:sp>
      <p:sp>
        <p:nvSpPr>
          <p:cNvPr id="18" name="a4_s"/>
          <p:cNvSpPr txBox="1"/>
          <p:nvPr/>
        </p:nvSpPr>
        <p:spPr>
          <a:xfrm>
            <a:off x="8823960" y="4800600"/>
            <a:ext cx="2560320" cy="731520"/>
          </a:xfrm>
          <a:prstGeom prst="rect">
            <a:avLst/>
          </a:prstGeom>
          <a:noFill/>
          <a:ln/>
        </p:spPr>
        <p:txBody>
          <a:bodyPr wrap="square" lIns="0" tIns="0" rIns="0" bIns="0" rtlCol="0" anchor="ctr"/>
          <a:lstStyle/>
          <a:p>
            <a:pPr algn="ctr" indent="0" marL="0">
              <a:buNone/>
            </a:pPr>
            <a:r>
              <a:rPr lang="en-US" sz="1600" b="1" dirty="0">
                <a:solidFill>
                  <a:srgbClr val="1B2333"/>
                </a:solidFill>
                <a:latin typeface="Calibri" pitchFamily="34" charset="0"/>
                <a:ea typeface="Calibri" pitchFamily="34" charset="-122"/>
                <a:cs typeface="Calibri" pitchFamily="34" charset="-120"/>
              </a:rPr>
              <a:t>Relais + calibration par tranche</a:t>
            </a:r>
            <a:endParaRPr lang="en-US" sz="1600" dirty="0"/>
          </a:p>
        </p:txBody>
      </p:sp>
      <p:sp>
        <p:nvSpPr>
          <p:cNvPr id="19" name="a5_ci"/>
          <p:cNvSpPr txBox="1"/>
          <p:nvPr/>
        </p:nvSpPr>
        <p:spPr>
          <a:xfrm>
            <a:off x="640080" y="5715000"/>
            <a:ext cx="10972800" cy="457200"/>
          </a:xfrm>
          <a:prstGeom prst="rect">
            <a:avLst/>
          </a:prstGeom>
          <a:noFill/>
          <a:ln/>
        </p:spPr>
        <p:txBody>
          <a:bodyPr wrap="square" lIns="0" tIns="0" rIns="0" bIns="0" rtlCol="0" anchor="ctr"/>
          <a:lstStyle/>
          <a:p>
            <a:pPr indent="0" marL="0">
              <a:buNone/>
            </a:pPr>
            <a:r>
              <a:rPr lang="en-US" sz="1600" i="1" dirty="0">
                <a:solidFill>
                  <a:srgbClr val="16305C"/>
                </a:solidFill>
                <a:latin typeface="Calibri" pitchFamily="34" charset="0"/>
                <a:ea typeface="Calibri" pitchFamily="34" charset="-122"/>
                <a:cs typeface="Calibri" pitchFamily="34" charset="-120"/>
              </a:rPr>
              <a:t>PR-AUC test HI-Small · intervalle à 95 % : 0,479 – 0,526</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1050"/>
                            </p:stCondLst>
                            <p:childTnLst>
                              <p:par>
                                <p:cTn id="44" presetID="10"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par>
                          <p:cTn id="53" fill="hold">
                            <p:stCondLst>
                              <p:cond delay="1400"/>
                            </p:stCondLst>
                            <p:childTnLst>
                              <p:par>
                                <p:cTn id="54" presetID="10" presetClass="entr" presetSubtype="0"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Résultats IBM AML : PR-AUC sur le test</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9</a:t>
            </a:r>
            <a:endParaRPr lang="en-US" sz="1100" dirty="0"/>
          </a:p>
        </p:txBody>
      </p:sp>
      <p:graphicFrame>
        <p:nvGraphicFramePr>
          <p:cNvPr id="4" name="a1w_chart" descr=""/>
          <p:cNvGraphicFramePr/>
          <p:nvPr/>
        </p:nvGraphicFramePr>
        <p:xfrm>
          <a:off x="457200" y="1234440"/>
          <a:ext cx="566928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a2w_chart" descr=""/>
          <p:cNvGraphicFramePr/>
          <p:nvPr/>
        </p:nvGraphicFramePr>
        <p:xfrm>
          <a:off x="6217920" y="1234440"/>
          <a:ext cx="5669280" cy="4572000"/>
        </p:xfrm>
        <a:graphic xmlns:a="http://schemas.openxmlformats.org/drawingml/2006/main">
          <a:graphicData uri="http://schemas.openxmlformats.org/drawingml/2006/chart">
            <c:chart xmlns:c="http://schemas.openxmlformats.org/drawingml/2006/chart" r:id="rId2"/>
          </a:graphicData>
        </a:graphic>
      </p:graphicFrame>
      <p:sp>
        <p:nvSpPr>
          <p:cNvPr id="6" name="a3_obj"/>
          <p:cNvSpPr txBox="1"/>
          <p:nvPr/>
        </p:nvSpPr>
        <p:spPr>
          <a:xfrm>
            <a:off x="640080" y="5943600"/>
            <a:ext cx="10972800" cy="411480"/>
          </a:xfrm>
          <a:prstGeom prst="rect">
            <a:avLst/>
          </a:prstGeom>
          <a:noFill/>
          <a:ln/>
        </p:spPr>
        <p:txBody>
          <a:bodyPr wrap="square" lIns="0" tIns="0" rIns="0" bIns="0" rtlCol="0" anchor="ctr"/>
          <a:lstStyle/>
          <a:p>
            <a:pPr indent="0" marL="0">
              <a:buNone/>
            </a:pPr>
            <a:r>
              <a:rPr lang="en-US" sz="1500" i="1" dirty="0">
                <a:solidFill>
                  <a:srgbClr val="16305C"/>
                </a:solidFill>
                <a:latin typeface="Calibri" pitchFamily="34" charset="0"/>
                <a:ea typeface="Calibri" pitchFamily="34" charset="-122"/>
                <a:cs typeface="Calibri" pitchFamily="34" charset="-120"/>
              </a:rPr>
              <a:t>Objectif du cahier des charges : 0,5 — atteint par GraphSAGE et par les règles seules sur HI-Small</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35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Hybride : un modèle + les motifs</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10</a:t>
            </a:r>
            <a:endParaRPr lang="en-US" sz="1100" dirty="0"/>
          </a:p>
        </p:txBody>
      </p:sp>
      <p:graphicFrame>
        <p:nvGraphicFramePr>
          <p:cNvPr id="4" name="a1w_chart" descr=""/>
          <p:cNvGraphicFramePr/>
          <p:nvPr/>
        </p:nvGraphicFramePr>
        <p:xfrm>
          <a:off x="457200" y="1234440"/>
          <a:ext cx="7315200" cy="4937760"/>
        </p:xfrm>
        <a:graphic xmlns:a="http://schemas.openxmlformats.org/drawingml/2006/main">
          <a:graphicData uri="http://schemas.openxmlformats.org/drawingml/2006/chart">
            <c:chart xmlns:c="http://schemas.openxmlformats.org/drawingml/2006/chart" r:id="rId1"/>
          </a:graphicData>
        </a:graphic>
      </p:graphicFrame>
      <p:sp>
        <p:nvSpPr>
          <p:cNvPr id="5" name="a2_c1"/>
          <p:cNvSpPr/>
          <p:nvPr/>
        </p:nvSpPr>
        <p:spPr>
          <a:xfrm>
            <a:off x="8138160" y="1463040"/>
            <a:ext cx="3474720" cy="2103120"/>
          </a:xfrm>
          <a:prstGeom prst="roundRect">
            <a:avLst>
              <a:gd name="adj" fmla="val 5217"/>
            </a:avLst>
          </a:prstGeom>
          <a:solidFill>
            <a:srgbClr val="0B1D3A"/>
          </a:solidFill>
          <a:ln w="12700">
            <a:solidFill>
              <a:srgbClr val="0B1D3A"/>
            </a:solidFill>
            <a:prstDash val="solid"/>
          </a:ln>
          <a:effectLst>
            <a:outerShdw sx="100000" sy="100000" kx="0" ky="0" algn="bl" rotWithShape="0" blurRad="76200" dist="25400" dir="5400000">
              <a:srgbClr val="9AA7BD">
                <a:alpha val="35000"/>
              </a:srgbClr>
            </a:outerShdw>
          </a:effectLst>
        </p:spPr>
      </p:sp>
      <p:sp>
        <p:nvSpPr>
          <p:cNvPr id="6" name="a2_v1"/>
          <p:cNvSpPr txBox="1"/>
          <p:nvPr/>
        </p:nvSpPr>
        <p:spPr>
          <a:xfrm>
            <a:off x="8229600" y="1600200"/>
            <a:ext cx="3291840" cy="1097280"/>
          </a:xfrm>
          <a:prstGeom prst="rect">
            <a:avLst/>
          </a:prstGeom>
          <a:noFill/>
          <a:ln/>
        </p:spPr>
        <p:txBody>
          <a:bodyPr wrap="square" lIns="0" tIns="0" rIns="0" bIns="0" rtlCol="0" anchor="ctr"/>
          <a:lstStyle/>
          <a:p>
            <a:pPr algn="ctr" indent="0" marL="0">
              <a:buNone/>
            </a:pPr>
            <a:r>
              <a:rPr lang="en-US" sz="6000" b="1" dirty="0">
                <a:solidFill>
                  <a:srgbClr val="7FE3D8"/>
                </a:solidFill>
                <a:latin typeface="Cambria" pitchFamily="34" charset="0"/>
                <a:ea typeface="Cambria" pitchFamily="34" charset="-122"/>
                <a:cs typeface="Cambria" pitchFamily="34" charset="-120"/>
              </a:rPr>
              <a:t>0,641</a:t>
            </a:r>
            <a:endParaRPr lang="en-US" sz="6000" dirty="0"/>
          </a:p>
        </p:txBody>
      </p:sp>
      <p:sp>
        <p:nvSpPr>
          <p:cNvPr id="7" name="a2_l1"/>
          <p:cNvSpPr txBox="1"/>
          <p:nvPr/>
        </p:nvSpPr>
        <p:spPr>
          <a:xfrm>
            <a:off x="8229600" y="2697480"/>
            <a:ext cx="3291840" cy="64008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meilleure PR-AUC sur HI-Small</a:t>
            </a:r>
            <a:endParaRPr lang="en-US" sz="1600" dirty="0"/>
          </a:p>
        </p:txBody>
      </p:sp>
      <p:sp>
        <p:nvSpPr>
          <p:cNvPr id="8" name="a3_c2"/>
          <p:cNvSpPr/>
          <p:nvPr/>
        </p:nvSpPr>
        <p:spPr>
          <a:xfrm>
            <a:off x="8138160" y="3840480"/>
            <a:ext cx="3474720" cy="2103120"/>
          </a:xfrm>
          <a:prstGeom prst="roundRect">
            <a:avLst>
              <a:gd name="adj" fmla="val 5217"/>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9" name="a3_v2"/>
          <p:cNvSpPr txBox="1"/>
          <p:nvPr/>
        </p:nvSpPr>
        <p:spPr>
          <a:xfrm>
            <a:off x="8229600" y="4023360"/>
            <a:ext cx="3291840" cy="914400"/>
          </a:xfrm>
          <a:prstGeom prst="rect">
            <a:avLst/>
          </a:prstGeom>
          <a:noFill/>
          <a:ln/>
        </p:spPr>
        <p:txBody>
          <a:bodyPr wrap="square" lIns="0" tIns="0" rIns="0" bIns="0" rtlCol="0" anchor="ctr"/>
          <a:lstStyle/>
          <a:p>
            <a:pPr algn="ctr" indent="0" marL="0">
              <a:buNone/>
            </a:pPr>
            <a:r>
              <a:rPr lang="en-US" sz="3600" b="1" dirty="0">
                <a:solidFill>
                  <a:srgbClr val="00A99D"/>
                </a:solidFill>
                <a:latin typeface="Cambria" pitchFamily="34" charset="0"/>
                <a:ea typeface="Cambria" pitchFamily="34" charset="-122"/>
                <a:cs typeface="Cambria" pitchFamily="34" charset="-120"/>
              </a:rPr>
              <a:t>0,191 → 0,236</a:t>
            </a:r>
            <a:endParaRPr lang="en-US" sz="3600" dirty="0"/>
          </a:p>
        </p:txBody>
      </p:sp>
      <p:sp>
        <p:nvSpPr>
          <p:cNvPr id="10" name="a3_l2"/>
          <p:cNvSpPr txBox="1"/>
          <p:nvPr/>
        </p:nvSpPr>
        <p:spPr>
          <a:xfrm>
            <a:off x="8229600" y="4937760"/>
            <a:ext cx="3291840" cy="640080"/>
          </a:xfrm>
          <a:prstGeom prst="rect">
            <a:avLst/>
          </a:prstGeom>
          <a:noFill/>
          <a:ln/>
        </p:spPr>
        <p:txBody>
          <a:bodyPr wrap="square" lIns="0" tIns="0" rIns="0" bIns="0" rtlCol="0" anchor="ctr"/>
          <a:lstStyle/>
          <a:p>
            <a:pPr algn="ctr" indent="0" marL="0">
              <a:buNone/>
            </a:pPr>
            <a:r>
              <a:rPr lang="en-US" sz="1600" dirty="0">
                <a:solidFill>
                  <a:srgbClr val="1B2333"/>
                </a:solidFill>
                <a:latin typeface="Calibri" pitchFamily="34" charset="0"/>
                <a:ea typeface="Calibri" pitchFamily="34" charset="-122"/>
                <a:cs typeface="Calibri" pitchFamily="34" charset="-120"/>
              </a:rPr>
              <a:t>LI-Small : forêt aléatoire + motifs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6" grpId="0" animBg="1"/>
      <p:bldP spid="7" grpId="0" animBg="1"/>
      <p:bldP spid="8" grpId="0" animBg="1"/>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Elliptic Bitcoin : les arbres dominent</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11</a:t>
            </a:r>
            <a:endParaRPr lang="en-US" sz="1100" dirty="0"/>
          </a:p>
        </p:txBody>
      </p:sp>
      <p:graphicFrame>
        <p:nvGraphicFramePr>
          <p:cNvPr id="4" name="a1w_chart" descr=""/>
          <p:cNvGraphicFramePr/>
          <p:nvPr/>
        </p:nvGraphicFramePr>
        <p:xfrm>
          <a:off x="457200" y="1234440"/>
          <a:ext cx="7498080" cy="4937760"/>
        </p:xfrm>
        <a:graphic xmlns:a="http://schemas.openxmlformats.org/drawingml/2006/main">
          <a:graphicData uri="http://schemas.openxmlformats.org/drawingml/2006/chart">
            <c:chart xmlns:c="http://schemas.openxmlformats.org/drawingml/2006/chart" r:id="rId1"/>
          </a:graphicData>
        </a:graphic>
      </p:graphicFrame>
      <p:sp>
        <p:nvSpPr>
          <p:cNvPr id="5" name="a2_i1_disc"/>
          <p:cNvSpPr/>
          <p:nvPr/>
        </p:nvSpPr>
        <p:spPr>
          <a:xfrm>
            <a:off x="8503920" y="1737360"/>
            <a:ext cx="914400" cy="914400"/>
          </a:xfrm>
          <a:prstGeom prst="ellipse">
            <a:avLst/>
          </a:prstGeom>
          <a:solidFill>
            <a:srgbClr val="00A99D"/>
          </a:solidFill>
          <a:ln w="12700">
            <a:solidFill>
              <a:srgbClr val="00A99D"/>
            </a:solidFill>
            <a:prstDash val="solid"/>
          </a:ln>
        </p:spPr>
      </p:sp>
      <p:pic>
        <p:nvPicPr>
          <p:cNvPr id="6" name="a2_i1_icon" descr="preencoded.png">    </p:cNvPr>
          <p:cNvPicPr>
            <a:picLocks noChangeAspect="1"/>
          </p:cNvPicPr>
          <p:nvPr/>
        </p:nvPicPr>
        <p:blipFill>
          <a:blip r:embed="rId2"/>
          <a:stretch>
            <a:fillRect/>
          </a:stretch>
        </p:blipFill>
        <p:spPr>
          <a:xfrm>
            <a:off x="8723376" y="1956816"/>
            <a:ext cx="475488" cy="475488"/>
          </a:xfrm>
          <a:prstGeom prst="rect">
            <a:avLst/>
          </a:prstGeom>
        </p:spPr>
      </p:pic>
      <p:sp>
        <p:nvSpPr>
          <p:cNvPr id="7" name="a2_v1"/>
          <p:cNvSpPr txBox="1"/>
          <p:nvPr/>
        </p:nvSpPr>
        <p:spPr>
          <a:xfrm>
            <a:off x="9601200" y="1691640"/>
            <a:ext cx="2194560" cy="640080"/>
          </a:xfrm>
          <a:prstGeom prst="rect">
            <a:avLst/>
          </a:prstGeom>
          <a:noFill/>
          <a:ln/>
        </p:spPr>
        <p:txBody>
          <a:bodyPr wrap="square" lIns="0" tIns="0" rIns="0" bIns="0" rtlCol="0" anchor="ctr"/>
          <a:lstStyle/>
          <a:p>
            <a:pPr indent="0" marL="0">
              <a:buNone/>
            </a:pPr>
            <a:r>
              <a:rPr lang="en-US" sz="3600" b="1" dirty="0">
                <a:solidFill>
                  <a:srgbClr val="00A99D"/>
                </a:solidFill>
                <a:latin typeface="Cambria" pitchFamily="34" charset="0"/>
                <a:ea typeface="Cambria" pitchFamily="34" charset="-122"/>
                <a:cs typeface="Cambria" pitchFamily="34" charset="-120"/>
              </a:rPr>
              <a:t>≈ 0,79</a:t>
            </a:r>
            <a:endParaRPr lang="en-US" sz="3600" dirty="0"/>
          </a:p>
        </p:txBody>
      </p:sp>
      <p:sp>
        <p:nvSpPr>
          <p:cNvPr id="8" name="a2_l1"/>
          <p:cNvSpPr txBox="1"/>
          <p:nvPr/>
        </p:nvSpPr>
        <p:spPr>
          <a:xfrm>
            <a:off x="9601200" y="2331720"/>
            <a:ext cx="2286000" cy="45720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HistGB · XGBoost · forêt</a:t>
            </a:r>
            <a:endParaRPr lang="en-US" sz="1500" dirty="0"/>
          </a:p>
        </p:txBody>
      </p:sp>
      <p:sp>
        <p:nvSpPr>
          <p:cNvPr id="9" name="a3_i2_disc"/>
          <p:cNvSpPr/>
          <p:nvPr/>
        </p:nvSpPr>
        <p:spPr>
          <a:xfrm>
            <a:off x="8503920" y="3291840"/>
            <a:ext cx="914400" cy="914400"/>
          </a:xfrm>
          <a:prstGeom prst="ellipse">
            <a:avLst/>
          </a:prstGeom>
          <a:solidFill>
            <a:srgbClr val="7B61FF"/>
          </a:solidFill>
          <a:ln w="12700">
            <a:solidFill>
              <a:srgbClr val="7B61FF"/>
            </a:solidFill>
            <a:prstDash val="solid"/>
          </a:ln>
        </p:spPr>
      </p:sp>
      <p:pic>
        <p:nvPicPr>
          <p:cNvPr id="10" name="a3_i2_icon" descr="preencoded.png">    </p:cNvPr>
          <p:cNvPicPr>
            <a:picLocks noChangeAspect="1"/>
          </p:cNvPicPr>
          <p:nvPr/>
        </p:nvPicPr>
        <p:blipFill>
          <a:blip r:embed="rId3"/>
          <a:stretch>
            <a:fillRect/>
          </a:stretch>
        </p:blipFill>
        <p:spPr>
          <a:xfrm>
            <a:off x="8723376" y="3511296"/>
            <a:ext cx="475488" cy="475488"/>
          </a:xfrm>
          <a:prstGeom prst="rect">
            <a:avLst/>
          </a:prstGeom>
        </p:spPr>
      </p:pic>
      <p:sp>
        <p:nvSpPr>
          <p:cNvPr id="11" name="a3_v2"/>
          <p:cNvSpPr txBox="1"/>
          <p:nvPr/>
        </p:nvSpPr>
        <p:spPr>
          <a:xfrm>
            <a:off x="9601200" y="3246120"/>
            <a:ext cx="2194560" cy="640080"/>
          </a:xfrm>
          <a:prstGeom prst="rect">
            <a:avLst/>
          </a:prstGeom>
          <a:noFill/>
          <a:ln/>
        </p:spPr>
        <p:txBody>
          <a:bodyPr wrap="square" lIns="0" tIns="0" rIns="0" bIns="0" rtlCol="0" anchor="ctr"/>
          <a:lstStyle/>
          <a:p>
            <a:pPr indent="0" marL="0">
              <a:buNone/>
            </a:pPr>
            <a:r>
              <a:rPr lang="en-US" sz="3600" b="1" dirty="0">
                <a:solidFill>
                  <a:srgbClr val="7B61FF"/>
                </a:solidFill>
                <a:latin typeface="Cambria" pitchFamily="34" charset="0"/>
                <a:ea typeface="Cambria" pitchFamily="34" charset="-122"/>
                <a:cs typeface="Cambria" pitchFamily="34" charset="-120"/>
              </a:rPr>
              <a:t>0,497</a:t>
            </a:r>
            <a:endParaRPr lang="en-US" sz="3600" dirty="0"/>
          </a:p>
        </p:txBody>
      </p:sp>
      <p:sp>
        <p:nvSpPr>
          <p:cNvPr id="12" name="a3_l2"/>
          <p:cNvSpPr txBox="1"/>
          <p:nvPr/>
        </p:nvSpPr>
        <p:spPr>
          <a:xfrm>
            <a:off x="9601200" y="3886200"/>
            <a:ext cx="2286000" cy="45720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meilleur GNN (GraphSAGE)</a:t>
            </a:r>
            <a:endParaRPr lang="en-US" sz="1500" dirty="0"/>
          </a:p>
        </p:txBody>
      </p:sp>
      <p:sp>
        <p:nvSpPr>
          <p:cNvPr id="13" name="a4_t"/>
          <p:cNvSpPr txBox="1"/>
          <p:nvPr/>
        </p:nvSpPr>
        <p:spPr>
          <a:xfrm>
            <a:off x="8412480" y="4846320"/>
            <a:ext cx="3474720" cy="1005840"/>
          </a:xfrm>
          <a:prstGeom prst="rect">
            <a:avLst/>
          </a:prstGeom>
          <a:noFill/>
          <a:ln/>
        </p:spPr>
        <p:txBody>
          <a:bodyPr wrap="square" lIns="0" tIns="0" rIns="0" bIns="0" rtlCol="0" anchor="ctr"/>
          <a:lstStyle/>
          <a:p>
            <a:pPr indent="0" marL="0">
              <a:buNone/>
            </a:pPr>
            <a:r>
              <a:rPr lang="en-US" sz="1600" i="1" dirty="0">
                <a:solidFill>
                  <a:srgbClr val="16305C"/>
                </a:solidFill>
                <a:latin typeface="Calibri" pitchFamily="34" charset="0"/>
                <a:ea typeface="Calibri" pitchFamily="34" charset="-122"/>
                <a:cs typeface="Calibri" pitchFamily="34" charset="-120"/>
              </a:rPr>
              <a:t>Pas de modèle universel : l'outil compare toujours les deux familles.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7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1050"/>
                            </p:stCondLst>
                            <p:childTnLst>
                              <p:par>
                                <p:cTn id="35" presetID="10"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7" grpId="0" animBg="1"/>
      <p:bldP spid="8" grpId="0" animBg="1"/>
      <p:bldP spid="9"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Expliquer chaque alerte</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12</a:t>
            </a:r>
            <a:endParaRPr lang="en-US" sz="1100" dirty="0"/>
          </a:p>
        </p:txBody>
      </p:sp>
      <p:sp>
        <p:nvSpPr>
          <p:cNvPr id="4" name="a1_c"/>
          <p:cNvSpPr/>
          <p:nvPr/>
        </p:nvSpPr>
        <p:spPr>
          <a:xfrm>
            <a:off x="548640" y="1280160"/>
            <a:ext cx="5760720" cy="4480560"/>
          </a:xfrm>
          <a:prstGeom prst="roundRect">
            <a:avLst>
              <a:gd name="adj" fmla="val 2449"/>
            </a:avLst>
          </a:prstGeom>
          <a:solidFill>
            <a:srgbClr val="FFFFFF"/>
          </a:solidFill>
          <a:ln w="12700">
            <a:solidFill>
              <a:srgbClr val="FFFFFF"/>
            </a:solidFill>
            <a:prstDash val="solid"/>
          </a:ln>
          <a:effectLst>
            <a:outerShdw sx="100000" sy="100000" kx="0" ky="0" algn="bl" rotWithShape="0" blurRad="76200" dist="25400" dir="5400000">
              <a:srgbClr val="9AA7BD">
                <a:alpha val="35000"/>
              </a:srgbClr>
            </a:outerShdw>
          </a:effectLst>
        </p:spPr>
      </p:sp>
      <p:pic>
        <p:nvPicPr>
          <p:cNvPr id="5" name="a1_img" descr="C:\Users\dell\Desktop\MASTER PFE\PFE_FORMATION\PFE\aml-graphminer\aml-graphminer\paper\figures\example_explanation.png">    </p:cNvPr>
          <p:cNvPicPr>
            <a:picLocks noChangeAspect="1"/>
          </p:cNvPicPr>
          <p:nvPr/>
        </p:nvPicPr>
        <p:blipFill>
          <a:blip r:embed="rId1"/>
          <a:stretch>
            <a:fillRect/>
          </a:stretch>
        </p:blipFill>
        <p:spPr>
          <a:xfrm>
            <a:off x="777240" y="1463040"/>
            <a:ext cx="5303520" cy="3538728"/>
          </a:xfrm>
          <a:prstGeom prst="rect">
            <a:avLst/>
          </a:prstGeom>
        </p:spPr>
      </p:pic>
      <p:sp>
        <p:nvSpPr>
          <p:cNvPr id="6" name="a1_cap"/>
          <p:cNvSpPr txBox="1"/>
          <p:nvPr/>
        </p:nvSpPr>
        <p:spPr>
          <a:xfrm>
            <a:off x="777240" y="5074920"/>
            <a:ext cx="5303520" cy="548640"/>
          </a:xfrm>
          <a:prstGeom prst="rect">
            <a:avLst/>
          </a:prstGeom>
          <a:noFill/>
          <a:ln/>
        </p:spPr>
        <p:txBody>
          <a:bodyPr wrap="square" lIns="0" tIns="0" rIns="0" bIns="0" rtlCol="0" anchor="ctr"/>
          <a:lstStyle/>
          <a:p>
            <a:pPr indent="0" marL="0">
              <a:buNone/>
            </a:pPr>
            <a:r>
              <a:rPr lang="en-US" sz="1300" i="1" dirty="0">
                <a:solidFill>
                  <a:srgbClr val="5B6577"/>
                </a:solidFill>
                <a:latin typeface="Calibri" pitchFamily="34" charset="0"/>
                <a:ea typeface="Calibri" pitchFamily="34" charset="-122"/>
                <a:cs typeface="Calibri" pitchFamily="34" charset="-120"/>
              </a:rPr>
              <a:t>Preuve exacte d'un cycle : la transaction en rouge boucle l'argent</a:t>
            </a:r>
            <a:endParaRPr lang="en-US" sz="1300" dirty="0"/>
          </a:p>
        </p:txBody>
      </p:sp>
      <p:sp>
        <p:nvSpPr>
          <p:cNvPr id="7" name="a2_i_disc"/>
          <p:cNvSpPr/>
          <p:nvPr/>
        </p:nvSpPr>
        <p:spPr>
          <a:xfrm>
            <a:off x="6675120" y="1417320"/>
            <a:ext cx="868680" cy="868680"/>
          </a:xfrm>
          <a:prstGeom prst="ellipse">
            <a:avLst/>
          </a:prstGeom>
          <a:solidFill>
            <a:srgbClr val="7B61FF"/>
          </a:solidFill>
          <a:ln w="12700">
            <a:solidFill>
              <a:srgbClr val="7B61FF"/>
            </a:solidFill>
            <a:prstDash val="solid"/>
          </a:ln>
        </p:spPr>
      </p:sp>
      <p:pic>
        <p:nvPicPr>
          <p:cNvPr id="8" name="a2_i_icon" descr="preencoded.png">    </p:cNvPr>
          <p:cNvPicPr>
            <a:picLocks noChangeAspect="1"/>
          </p:cNvPicPr>
          <p:nvPr/>
        </p:nvPicPr>
        <p:blipFill>
          <a:blip r:embed="rId2"/>
          <a:stretch>
            <a:fillRect/>
          </a:stretch>
        </p:blipFill>
        <p:spPr>
          <a:xfrm>
            <a:off x="6883603" y="1625803"/>
            <a:ext cx="451714" cy="451714"/>
          </a:xfrm>
          <a:prstGeom prst="rect">
            <a:avLst/>
          </a:prstGeom>
        </p:spPr>
      </p:pic>
      <p:sp>
        <p:nvSpPr>
          <p:cNvPr id="9" name="a2_t"/>
          <p:cNvSpPr txBox="1"/>
          <p:nvPr/>
        </p:nvSpPr>
        <p:spPr>
          <a:xfrm>
            <a:off x="7726680" y="1417320"/>
            <a:ext cx="4023360" cy="457200"/>
          </a:xfrm>
          <a:prstGeom prst="rect">
            <a:avLst/>
          </a:prstGeom>
          <a:noFill/>
          <a:ln/>
        </p:spPr>
        <p:txBody>
          <a:bodyPr wrap="square" lIns="0" tIns="0" rIns="0" bIns="0" rtlCol="0" anchor="ctr"/>
          <a:lstStyle/>
          <a:p>
            <a:pPr indent="0" marL="0">
              <a:buNone/>
            </a:pPr>
            <a:r>
              <a:rPr lang="en-US" sz="1900" b="1" dirty="0">
                <a:solidFill>
                  <a:srgbClr val="1B2333"/>
                </a:solidFill>
                <a:latin typeface="Calibri" pitchFamily="34" charset="0"/>
                <a:ea typeface="Calibri" pitchFamily="34" charset="-122"/>
                <a:cs typeface="Calibri" pitchFamily="34" charset="-120"/>
              </a:rPr>
              <a:t>6 méthodes</a:t>
            </a:r>
            <a:endParaRPr lang="en-US" sz="1900" dirty="0"/>
          </a:p>
        </p:txBody>
      </p:sp>
      <p:sp>
        <p:nvSpPr>
          <p:cNvPr id="10" name="a2_d"/>
          <p:cNvSpPr txBox="1"/>
          <p:nvPr/>
        </p:nvSpPr>
        <p:spPr>
          <a:xfrm>
            <a:off x="7726680" y="1874520"/>
            <a:ext cx="4023360" cy="73152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motifs · occlusion · GNNExplainer · PGExplainer · Captum · attention</a:t>
            </a:r>
            <a:endParaRPr lang="en-US" sz="1500" dirty="0"/>
          </a:p>
        </p:txBody>
      </p:sp>
      <p:sp>
        <p:nvSpPr>
          <p:cNvPr id="11" name="a3_i_disc"/>
          <p:cNvSpPr/>
          <p:nvPr/>
        </p:nvSpPr>
        <p:spPr>
          <a:xfrm>
            <a:off x="6675120" y="2880360"/>
            <a:ext cx="868680" cy="868680"/>
          </a:xfrm>
          <a:prstGeom prst="ellipse">
            <a:avLst/>
          </a:prstGeom>
          <a:solidFill>
            <a:srgbClr val="F5B700"/>
          </a:solidFill>
          <a:ln w="12700">
            <a:solidFill>
              <a:srgbClr val="F5B700"/>
            </a:solidFill>
            <a:prstDash val="solid"/>
          </a:ln>
        </p:spPr>
      </p:sp>
      <p:pic>
        <p:nvPicPr>
          <p:cNvPr id="12" name="a3_i_icon" descr="preencoded.png">    </p:cNvPr>
          <p:cNvPicPr>
            <a:picLocks noChangeAspect="1"/>
          </p:cNvPicPr>
          <p:nvPr/>
        </p:nvPicPr>
        <p:blipFill>
          <a:blip r:embed="rId3"/>
          <a:stretch>
            <a:fillRect/>
          </a:stretch>
        </p:blipFill>
        <p:spPr>
          <a:xfrm>
            <a:off x="6883603" y="3088843"/>
            <a:ext cx="451714" cy="451714"/>
          </a:xfrm>
          <a:prstGeom prst="rect">
            <a:avLst/>
          </a:prstGeom>
        </p:spPr>
      </p:pic>
      <p:sp>
        <p:nvSpPr>
          <p:cNvPr id="13" name="a3_t"/>
          <p:cNvSpPr txBox="1"/>
          <p:nvPr/>
        </p:nvSpPr>
        <p:spPr>
          <a:xfrm>
            <a:off x="7726680" y="2880360"/>
            <a:ext cx="4023360" cy="457200"/>
          </a:xfrm>
          <a:prstGeom prst="rect">
            <a:avLst/>
          </a:prstGeom>
          <a:noFill/>
          <a:ln/>
        </p:spPr>
        <p:txBody>
          <a:bodyPr wrap="square" lIns="0" tIns="0" rIns="0" bIns="0" rtlCol="0" anchor="ctr"/>
          <a:lstStyle/>
          <a:p>
            <a:pPr indent="0" marL="0">
              <a:buNone/>
            </a:pPr>
            <a:r>
              <a:rPr lang="en-US" sz="1900" b="1" dirty="0">
                <a:solidFill>
                  <a:srgbClr val="1B2333"/>
                </a:solidFill>
                <a:latin typeface="Calibri" pitchFamily="34" charset="0"/>
                <a:ea typeface="Calibri" pitchFamily="34" charset="-122"/>
                <a:cs typeface="Calibri" pitchFamily="34" charset="-120"/>
              </a:rPr>
              <a:t>Effet du voisinage mesuré</a:t>
            </a:r>
            <a:endParaRPr lang="en-US" sz="1900" dirty="0"/>
          </a:p>
        </p:txBody>
      </p:sp>
      <p:sp>
        <p:nvSpPr>
          <p:cNvPr id="14" name="a3_d"/>
          <p:cNvSpPr txBox="1"/>
          <p:nvPr/>
        </p:nvSpPr>
        <p:spPr>
          <a:xfrm>
            <a:off x="7726680" y="3337560"/>
            <a:ext cx="4023360" cy="73152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score 0,988–1,000 avec, 0,960–1,000 sans</a:t>
            </a:r>
            <a:endParaRPr lang="en-US" sz="1500" dirty="0"/>
          </a:p>
        </p:txBody>
      </p:sp>
      <p:sp>
        <p:nvSpPr>
          <p:cNvPr id="15" name="a4_i_disc"/>
          <p:cNvSpPr/>
          <p:nvPr/>
        </p:nvSpPr>
        <p:spPr>
          <a:xfrm>
            <a:off x="6675120" y="4343400"/>
            <a:ext cx="868680" cy="868680"/>
          </a:xfrm>
          <a:prstGeom prst="ellipse">
            <a:avLst/>
          </a:prstGeom>
          <a:solidFill>
            <a:srgbClr val="00A99D"/>
          </a:solidFill>
          <a:ln w="12700">
            <a:solidFill>
              <a:srgbClr val="00A99D"/>
            </a:solidFill>
            <a:prstDash val="solid"/>
          </a:ln>
        </p:spPr>
      </p:sp>
      <p:pic>
        <p:nvPicPr>
          <p:cNvPr id="16" name="a4_i_icon" descr="preencoded.png">    </p:cNvPr>
          <p:cNvPicPr>
            <a:picLocks noChangeAspect="1"/>
          </p:cNvPicPr>
          <p:nvPr/>
        </p:nvPicPr>
        <p:blipFill>
          <a:blip r:embed="rId4"/>
          <a:stretch>
            <a:fillRect/>
          </a:stretch>
        </p:blipFill>
        <p:spPr>
          <a:xfrm>
            <a:off x="6883603" y="4551883"/>
            <a:ext cx="451714" cy="451714"/>
          </a:xfrm>
          <a:prstGeom prst="rect">
            <a:avLst/>
          </a:prstGeom>
        </p:spPr>
      </p:pic>
      <p:sp>
        <p:nvSpPr>
          <p:cNvPr id="17" name="a4_t"/>
          <p:cNvSpPr txBox="1"/>
          <p:nvPr/>
        </p:nvSpPr>
        <p:spPr>
          <a:xfrm>
            <a:off x="7726680" y="4343400"/>
            <a:ext cx="4023360" cy="457200"/>
          </a:xfrm>
          <a:prstGeom prst="rect">
            <a:avLst/>
          </a:prstGeom>
          <a:noFill/>
          <a:ln/>
        </p:spPr>
        <p:txBody>
          <a:bodyPr wrap="square" lIns="0" tIns="0" rIns="0" bIns="0" rtlCol="0" anchor="ctr"/>
          <a:lstStyle/>
          <a:p>
            <a:pPr indent="0" marL="0">
              <a:buNone/>
            </a:pPr>
            <a:r>
              <a:rPr lang="en-US" sz="1900" b="1" dirty="0">
                <a:solidFill>
                  <a:srgbClr val="1B2333"/>
                </a:solidFill>
                <a:latin typeface="Calibri" pitchFamily="34" charset="0"/>
                <a:ea typeface="Calibri" pitchFamily="34" charset="-122"/>
                <a:cs typeface="Calibri" pitchFamily="34" charset="-120"/>
              </a:rPr>
              <a:t>Dossier d'alertes</a:t>
            </a:r>
            <a:endParaRPr lang="en-US" sz="1900" dirty="0"/>
          </a:p>
        </p:txBody>
      </p:sp>
      <p:sp>
        <p:nvSpPr>
          <p:cNvPr id="18" name="a4_d"/>
          <p:cNvSpPr txBox="1"/>
          <p:nvPr/>
        </p:nvSpPr>
        <p:spPr>
          <a:xfrm>
            <a:off x="7726680" y="4800600"/>
            <a:ext cx="4023360" cy="73152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les K alertes les plus fortes expliquées en une commande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par>
                          <p:cTn id="27" fill="hold">
                            <p:stCondLst>
                              <p:cond delay="700"/>
                            </p:stCondLst>
                            <p:childTnLst>
                              <p:par>
                                <p:cTn id="28" presetID="10"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105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Des interfaces prêtes à l'emploi, un code testé</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13</a:t>
            </a:r>
            <a:endParaRPr lang="en-US" sz="1100" dirty="0"/>
          </a:p>
        </p:txBody>
      </p:sp>
      <p:sp>
        <p:nvSpPr>
          <p:cNvPr id="4" name="a1_c"/>
          <p:cNvSpPr/>
          <p:nvPr/>
        </p:nvSpPr>
        <p:spPr>
          <a:xfrm>
            <a:off x="640080" y="1325880"/>
            <a:ext cx="2560320" cy="2286000"/>
          </a:xfrm>
          <a:prstGeom prst="roundRect">
            <a:avLst>
              <a:gd name="adj" fmla="val 48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 name="a1_i_disc"/>
          <p:cNvSpPr/>
          <p:nvPr/>
        </p:nvSpPr>
        <p:spPr>
          <a:xfrm>
            <a:off x="1508760" y="1508760"/>
            <a:ext cx="822960" cy="822960"/>
          </a:xfrm>
          <a:prstGeom prst="ellipse">
            <a:avLst/>
          </a:prstGeom>
          <a:solidFill>
            <a:srgbClr val="7B61FF"/>
          </a:solidFill>
          <a:ln w="12700">
            <a:solidFill>
              <a:srgbClr val="7B61FF"/>
            </a:solidFill>
            <a:prstDash val="solid"/>
          </a:ln>
        </p:spPr>
      </p:sp>
      <p:pic>
        <p:nvPicPr>
          <p:cNvPr id="6" name="a1_i_icon" descr="preencoded.png">    </p:cNvPr>
          <p:cNvPicPr>
            <a:picLocks noChangeAspect="1"/>
          </p:cNvPicPr>
          <p:nvPr/>
        </p:nvPicPr>
        <p:blipFill>
          <a:blip r:embed="rId1"/>
          <a:stretch>
            <a:fillRect/>
          </a:stretch>
        </p:blipFill>
        <p:spPr>
          <a:xfrm>
            <a:off x="1706270" y="1706270"/>
            <a:ext cx="427939" cy="427939"/>
          </a:xfrm>
          <a:prstGeom prst="rect">
            <a:avLst/>
          </a:prstGeom>
        </p:spPr>
      </p:pic>
      <p:sp>
        <p:nvSpPr>
          <p:cNvPr id="7" name="a1_t"/>
          <p:cNvSpPr txBox="1"/>
          <p:nvPr/>
        </p:nvSpPr>
        <p:spPr>
          <a:xfrm>
            <a:off x="731520" y="2468880"/>
            <a:ext cx="2377440" cy="41148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Interface web</a:t>
            </a:r>
            <a:endParaRPr lang="en-US" sz="1800" dirty="0"/>
          </a:p>
        </p:txBody>
      </p:sp>
      <p:sp>
        <p:nvSpPr>
          <p:cNvPr id="8" name="a1_d"/>
          <p:cNvSpPr txBox="1"/>
          <p:nvPr/>
        </p:nvSpPr>
        <p:spPr>
          <a:xfrm>
            <a:off x="731520" y="2880360"/>
            <a:ext cx="2377440" cy="548640"/>
          </a:xfrm>
          <a:prstGeom prst="rect">
            <a:avLst/>
          </a:prstGeom>
          <a:noFill/>
          <a:ln/>
        </p:spPr>
        <p:txBody>
          <a:bodyPr wrap="square" lIns="0" tIns="0" rIns="0" bIns="0" rtlCol="0" anchor="ctr"/>
          <a:lstStyle/>
          <a:p>
            <a:pPr algn="ctr" indent="0" marL="0">
              <a:buNone/>
            </a:pPr>
            <a:r>
              <a:rPr lang="en-US" sz="1400" dirty="0">
                <a:solidFill>
                  <a:srgbClr val="5B6577"/>
                </a:solidFill>
                <a:latin typeface="Calibri" pitchFamily="34" charset="0"/>
                <a:ea typeface="Calibri" pitchFamily="34" charset="-122"/>
                <a:cs typeface="Calibri" pitchFamily="34" charset="-120"/>
              </a:rPr>
              <a:t>tableau de bord · alertes · comptes</a:t>
            </a:r>
            <a:endParaRPr lang="en-US" sz="1400" dirty="0"/>
          </a:p>
        </p:txBody>
      </p:sp>
      <p:sp>
        <p:nvSpPr>
          <p:cNvPr id="9" name="a2_c"/>
          <p:cNvSpPr/>
          <p:nvPr/>
        </p:nvSpPr>
        <p:spPr>
          <a:xfrm>
            <a:off x="3474720" y="1325880"/>
            <a:ext cx="2560320" cy="2286000"/>
          </a:xfrm>
          <a:prstGeom prst="roundRect">
            <a:avLst>
              <a:gd name="adj" fmla="val 48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0" name="a2_i_disc"/>
          <p:cNvSpPr/>
          <p:nvPr/>
        </p:nvSpPr>
        <p:spPr>
          <a:xfrm>
            <a:off x="4343400" y="1508760"/>
            <a:ext cx="822960" cy="822960"/>
          </a:xfrm>
          <a:prstGeom prst="ellipse">
            <a:avLst/>
          </a:prstGeom>
          <a:solidFill>
            <a:srgbClr val="16305C"/>
          </a:solidFill>
          <a:ln w="12700">
            <a:solidFill>
              <a:srgbClr val="16305C"/>
            </a:solidFill>
            <a:prstDash val="solid"/>
          </a:ln>
        </p:spPr>
      </p:sp>
      <p:pic>
        <p:nvPicPr>
          <p:cNvPr id="11" name="a2_i_icon" descr="preencoded.png">    </p:cNvPr>
          <p:cNvPicPr>
            <a:picLocks noChangeAspect="1"/>
          </p:cNvPicPr>
          <p:nvPr/>
        </p:nvPicPr>
        <p:blipFill>
          <a:blip r:embed="rId2"/>
          <a:stretch>
            <a:fillRect/>
          </a:stretch>
        </p:blipFill>
        <p:spPr>
          <a:xfrm>
            <a:off x="4540910" y="1706270"/>
            <a:ext cx="427939" cy="427939"/>
          </a:xfrm>
          <a:prstGeom prst="rect">
            <a:avLst/>
          </a:prstGeom>
        </p:spPr>
      </p:pic>
      <p:sp>
        <p:nvSpPr>
          <p:cNvPr id="12" name="a2_t"/>
          <p:cNvSpPr txBox="1"/>
          <p:nvPr/>
        </p:nvSpPr>
        <p:spPr>
          <a:xfrm>
            <a:off x="3566160" y="2468880"/>
            <a:ext cx="2377440" cy="41148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CLI amlgm</a:t>
            </a:r>
            <a:endParaRPr lang="en-US" sz="1800" dirty="0"/>
          </a:p>
        </p:txBody>
      </p:sp>
      <p:sp>
        <p:nvSpPr>
          <p:cNvPr id="13" name="a2_d"/>
          <p:cNvSpPr txBox="1"/>
          <p:nvPr/>
        </p:nvSpPr>
        <p:spPr>
          <a:xfrm>
            <a:off x="3566160" y="2880360"/>
            <a:ext cx="2377440" cy="548640"/>
          </a:xfrm>
          <a:prstGeom prst="rect">
            <a:avLst/>
          </a:prstGeom>
          <a:noFill/>
          <a:ln/>
        </p:spPr>
        <p:txBody>
          <a:bodyPr wrap="square" lIns="0" tIns="0" rIns="0" bIns="0" rtlCol="0" anchor="ctr"/>
          <a:lstStyle/>
          <a:p>
            <a:pPr algn="ctr" indent="0" marL="0">
              <a:buNone/>
            </a:pPr>
            <a:r>
              <a:rPr lang="en-US" sz="1400" dirty="0">
                <a:solidFill>
                  <a:srgbClr val="5B6577"/>
                </a:solidFill>
                <a:latin typeface="Calibri" pitchFamily="34" charset="0"/>
                <a:ea typeface="Calibri" pitchFamily="34" charset="-122"/>
                <a:cs typeface="Calibri" pitchFamily="34" charset="-120"/>
              </a:rPr>
              <a:t>scan · train · explain · serve</a:t>
            </a:r>
            <a:endParaRPr lang="en-US" sz="1400" dirty="0"/>
          </a:p>
        </p:txBody>
      </p:sp>
      <p:sp>
        <p:nvSpPr>
          <p:cNvPr id="14" name="a3_c"/>
          <p:cNvSpPr/>
          <p:nvPr/>
        </p:nvSpPr>
        <p:spPr>
          <a:xfrm>
            <a:off x="6309360" y="1325880"/>
            <a:ext cx="2560320" cy="2286000"/>
          </a:xfrm>
          <a:prstGeom prst="roundRect">
            <a:avLst>
              <a:gd name="adj" fmla="val 48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5" name="a3_i_disc"/>
          <p:cNvSpPr/>
          <p:nvPr/>
        </p:nvSpPr>
        <p:spPr>
          <a:xfrm>
            <a:off x="7178040" y="1508760"/>
            <a:ext cx="822960" cy="822960"/>
          </a:xfrm>
          <a:prstGeom prst="ellipse">
            <a:avLst/>
          </a:prstGeom>
          <a:solidFill>
            <a:srgbClr val="4C9BE8"/>
          </a:solidFill>
          <a:ln w="12700">
            <a:solidFill>
              <a:srgbClr val="4C9BE8"/>
            </a:solidFill>
            <a:prstDash val="solid"/>
          </a:ln>
        </p:spPr>
      </p:sp>
      <p:pic>
        <p:nvPicPr>
          <p:cNvPr id="16" name="a3_i_icon" descr="preencoded.png">    </p:cNvPr>
          <p:cNvPicPr>
            <a:picLocks noChangeAspect="1"/>
          </p:cNvPicPr>
          <p:nvPr/>
        </p:nvPicPr>
        <p:blipFill>
          <a:blip r:embed="rId3"/>
          <a:stretch>
            <a:fillRect/>
          </a:stretch>
        </p:blipFill>
        <p:spPr>
          <a:xfrm>
            <a:off x="7375550" y="1706270"/>
            <a:ext cx="427939" cy="427939"/>
          </a:xfrm>
          <a:prstGeom prst="rect">
            <a:avLst/>
          </a:prstGeom>
        </p:spPr>
      </p:pic>
      <p:sp>
        <p:nvSpPr>
          <p:cNvPr id="17" name="a3_t"/>
          <p:cNvSpPr txBox="1"/>
          <p:nvPr/>
        </p:nvSpPr>
        <p:spPr>
          <a:xfrm>
            <a:off x="6400800" y="2468880"/>
            <a:ext cx="2377440" cy="41148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API REST</a:t>
            </a:r>
            <a:endParaRPr lang="en-US" sz="1800" dirty="0"/>
          </a:p>
        </p:txBody>
      </p:sp>
      <p:sp>
        <p:nvSpPr>
          <p:cNvPr id="18" name="a3_d"/>
          <p:cNvSpPr txBox="1"/>
          <p:nvPr/>
        </p:nvSpPr>
        <p:spPr>
          <a:xfrm>
            <a:off x="6400800" y="2880360"/>
            <a:ext cx="2377440" cy="548640"/>
          </a:xfrm>
          <a:prstGeom prst="rect">
            <a:avLst/>
          </a:prstGeom>
          <a:noFill/>
          <a:ln/>
        </p:spPr>
        <p:txBody>
          <a:bodyPr wrap="square" lIns="0" tIns="0" rIns="0" bIns="0" rtlCol="0" anchor="ctr"/>
          <a:lstStyle/>
          <a:p>
            <a:pPr algn="ctr" indent="0" marL="0">
              <a:buNone/>
            </a:pPr>
            <a:r>
              <a:rPr lang="en-US" sz="1400" dirty="0">
                <a:solidFill>
                  <a:srgbClr val="5B6577"/>
                </a:solidFill>
                <a:latin typeface="Calibri" pitchFamily="34" charset="0"/>
                <a:ea typeface="Calibri" pitchFamily="34" charset="-122"/>
                <a:cs typeface="Calibri" pitchFamily="34" charset="-120"/>
              </a:rPr>
              <a:t>FastAPI · OpenAPI 3.1</a:t>
            </a:r>
            <a:endParaRPr lang="en-US" sz="1400" dirty="0"/>
          </a:p>
        </p:txBody>
      </p:sp>
      <p:sp>
        <p:nvSpPr>
          <p:cNvPr id="19" name="a4_c"/>
          <p:cNvSpPr/>
          <p:nvPr/>
        </p:nvSpPr>
        <p:spPr>
          <a:xfrm>
            <a:off x="9144000" y="1325880"/>
            <a:ext cx="2560320" cy="2286000"/>
          </a:xfrm>
          <a:prstGeom prst="roundRect">
            <a:avLst>
              <a:gd name="adj" fmla="val 4800"/>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20" name="a4_i_disc"/>
          <p:cNvSpPr/>
          <p:nvPr/>
        </p:nvSpPr>
        <p:spPr>
          <a:xfrm>
            <a:off x="10012680" y="1508760"/>
            <a:ext cx="822960" cy="822960"/>
          </a:xfrm>
          <a:prstGeom prst="ellipse">
            <a:avLst/>
          </a:prstGeom>
          <a:solidFill>
            <a:srgbClr val="2496ED"/>
          </a:solidFill>
          <a:ln w="12700">
            <a:solidFill>
              <a:srgbClr val="2496ED"/>
            </a:solidFill>
            <a:prstDash val="solid"/>
          </a:ln>
        </p:spPr>
      </p:sp>
      <p:pic>
        <p:nvPicPr>
          <p:cNvPr id="21" name="a4_i_icon" descr="preencoded.png">    </p:cNvPr>
          <p:cNvPicPr>
            <a:picLocks noChangeAspect="1"/>
          </p:cNvPicPr>
          <p:nvPr/>
        </p:nvPicPr>
        <p:blipFill>
          <a:blip r:embed="rId4"/>
          <a:stretch>
            <a:fillRect/>
          </a:stretch>
        </p:blipFill>
        <p:spPr>
          <a:xfrm>
            <a:off x="10210190" y="1706270"/>
            <a:ext cx="427939" cy="427939"/>
          </a:xfrm>
          <a:prstGeom prst="rect">
            <a:avLst/>
          </a:prstGeom>
        </p:spPr>
      </p:pic>
      <p:sp>
        <p:nvSpPr>
          <p:cNvPr id="22" name="a4_t"/>
          <p:cNvSpPr txBox="1"/>
          <p:nvPr/>
        </p:nvSpPr>
        <p:spPr>
          <a:xfrm>
            <a:off x="9235440" y="2468880"/>
            <a:ext cx="2377440" cy="41148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Docker</a:t>
            </a:r>
            <a:endParaRPr lang="en-US" sz="1800" dirty="0"/>
          </a:p>
        </p:txBody>
      </p:sp>
      <p:sp>
        <p:nvSpPr>
          <p:cNvPr id="23" name="a4_d"/>
          <p:cNvSpPr txBox="1"/>
          <p:nvPr/>
        </p:nvSpPr>
        <p:spPr>
          <a:xfrm>
            <a:off x="9235440" y="2880360"/>
            <a:ext cx="2377440" cy="548640"/>
          </a:xfrm>
          <a:prstGeom prst="rect">
            <a:avLst/>
          </a:prstGeom>
          <a:noFill/>
          <a:ln/>
        </p:spPr>
        <p:txBody>
          <a:bodyPr wrap="square" lIns="0" tIns="0" rIns="0" bIns="0" rtlCol="0" anchor="ctr"/>
          <a:lstStyle/>
          <a:p>
            <a:pPr algn="ctr" indent="0" marL="0">
              <a:buNone/>
            </a:pPr>
            <a:r>
              <a:rPr lang="en-US" sz="1400" dirty="0">
                <a:solidFill>
                  <a:srgbClr val="5B6577"/>
                </a:solidFill>
                <a:latin typeface="Calibri" pitchFamily="34" charset="0"/>
                <a:ea typeface="Calibri" pitchFamily="34" charset="-122"/>
                <a:cs typeface="Calibri" pitchFamily="34" charset="-120"/>
              </a:rPr>
              <a:t>démo en une commande</a:t>
            </a:r>
            <a:endParaRPr lang="en-US" sz="1400" dirty="0"/>
          </a:p>
        </p:txBody>
      </p:sp>
      <p:sp>
        <p:nvSpPr>
          <p:cNvPr id="24" name="a5_q0"/>
          <p:cNvSpPr txBox="1"/>
          <p:nvPr/>
        </p:nvSpPr>
        <p:spPr>
          <a:xfrm>
            <a:off x="640080" y="4114800"/>
            <a:ext cx="3383280" cy="1005840"/>
          </a:xfrm>
          <a:prstGeom prst="rect">
            <a:avLst/>
          </a:prstGeom>
          <a:noFill/>
          <a:ln/>
        </p:spPr>
        <p:txBody>
          <a:bodyPr wrap="square" lIns="0" tIns="0" rIns="0" bIns="0" rtlCol="0" anchor="ctr"/>
          <a:lstStyle/>
          <a:p>
            <a:pPr algn="ctr" indent="0" marL="0">
              <a:buNone/>
            </a:pPr>
            <a:r>
              <a:rPr lang="en-US" sz="5400" b="1" dirty="0">
                <a:solidFill>
                  <a:srgbClr val="00A99D"/>
                </a:solidFill>
                <a:latin typeface="Cambria" pitchFamily="34" charset="0"/>
                <a:ea typeface="Cambria" pitchFamily="34" charset="-122"/>
                <a:cs typeface="Cambria" pitchFamily="34" charset="-120"/>
              </a:rPr>
              <a:t>475</a:t>
            </a:r>
            <a:endParaRPr lang="en-US" sz="5400" dirty="0"/>
          </a:p>
        </p:txBody>
      </p:sp>
      <p:sp>
        <p:nvSpPr>
          <p:cNvPr id="25" name="a5_l0"/>
          <p:cNvSpPr txBox="1"/>
          <p:nvPr/>
        </p:nvSpPr>
        <p:spPr>
          <a:xfrm>
            <a:off x="640080" y="5120640"/>
            <a:ext cx="3383280" cy="45720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tests automatiques</a:t>
            </a:r>
            <a:endParaRPr lang="en-US" sz="1600" dirty="0"/>
          </a:p>
        </p:txBody>
      </p:sp>
      <p:sp>
        <p:nvSpPr>
          <p:cNvPr id="26" name="a5_q1"/>
          <p:cNvSpPr txBox="1"/>
          <p:nvPr/>
        </p:nvSpPr>
        <p:spPr>
          <a:xfrm>
            <a:off x="4389120" y="4114800"/>
            <a:ext cx="3383280" cy="1005840"/>
          </a:xfrm>
          <a:prstGeom prst="rect">
            <a:avLst/>
          </a:prstGeom>
          <a:noFill/>
          <a:ln/>
        </p:spPr>
        <p:txBody>
          <a:bodyPr wrap="square" lIns="0" tIns="0" rIns="0" bIns="0" rtlCol="0" anchor="ctr"/>
          <a:lstStyle/>
          <a:p>
            <a:pPr algn="ctr" indent="0" marL="0">
              <a:buNone/>
            </a:pPr>
            <a:r>
              <a:rPr lang="en-US" sz="5400" b="1" dirty="0">
                <a:solidFill>
                  <a:srgbClr val="F5B700"/>
                </a:solidFill>
                <a:latin typeface="Cambria" pitchFamily="34" charset="0"/>
                <a:ea typeface="Cambria" pitchFamily="34" charset="-122"/>
                <a:cs typeface="Cambria" pitchFamily="34" charset="-120"/>
              </a:rPr>
              <a:t>98 %</a:t>
            </a:r>
            <a:endParaRPr lang="en-US" sz="5400" dirty="0"/>
          </a:p>
        </p:txBody>
      </p:sp>
      <p:sp>
        <p:nvSpPr>
          <p:cNvPr id="27" name="a5_l1"/>
          <p:cNvSpPr txBox="1"/>
          <p:nvPr/>
        </p:nvSpPr>
        <p:spPr>
          <a:xfrm>
            <a:off x="4389120" y="5120640"/>
            <a:ext cx="3383280" cy="45720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du code couvert</a:t>
            </a:r>
            <a:endParaRPr lang="en-US" sz="1600" dirty="0"/>
          </a:p>
        </p:txBody>
      </p:sp>
      <p:sp>
        <p:nvSpPr>
          <p:cNvPr id="28" name="a5_q2"/>
          <p:cNvSpPr txBox="1"/>
          <p:nvPr/>
        </p:nvSpPr>
        <p:spPr>
          <a:xfrm>
            <a:off x="8138160" y="4114800"/>
            <a:ext cx="3383280" cy="1005840"/>
          </a:xfrm>
          <a:prstGeom prst="rect">
            <a:avLst/>
          </a:prstGeom>
          <a:noFill/>
          <a:ln/>
        </p:spPr>
        <p:txBody>
          <a:bodyPr wrap="square" lIns="0" tIns="0" rIns="0" bIns="0" rtlCol="0" anchor="ctr"/>
          <a:lstStyle/>
          <a:p>
            <a:pPr algn="ctr" indent="0" marL="0">
              <a:buNone/>
            </a:pPr>
            <a:r>
              <a:rPr lang="en-US" sz="5400" b="1" dirty="0">
                <a:solidFill>
                  <a:srgbClr val="F2545B"/>
                </a:solidFill>
                <a:latin typeface="Cambria" pitchFamily="34" charset="0"/>
                <a:ea typeface="Cambria" pitchFamily="34" charset="-122"/>
                <a:cs typeface="Cambria" pitchFamily="34" charset="-120"/>
              </a:rPr>
              <a:t>CI</a:t>
            </a:r>
            <a:endParaRPr lang="en-US" sz="5400" dirty="0"/>
          </a:p>
        </p:txBody>
      </p:sp>
      <p:sp>
        <p:nvSpPr>
          <p:cNvPr id="29" name="a5_l2"/>
          <p:cNvSpPr txBox="1"/>
          <p:nvPr/>
        </p:nvSpPr>
        <p:spPr>
          <a:xfrm>
            <a:off x="8138160" y="5120640"/>
            <a:ext cx="3383280" cy="457200"/>
          </a:xfrm>
          <a:prstGeom prst="rect">
            <a:avLst/>
          </a:prstGeom>
          <a:noFill/>
          <a:ln/>
        </p:spPr>
        <p:txBody>
          <a:bodyPr wrap="square" lIns="0" tIns="0" rIns="0" bIns="0" rtlCol="0" anchor="ctr"/>
          <a:lstStyle/>
          <a:p>
            <a:pPr algn="ctr" indent="0" marL="0">
              <a:buNone/>
            </a:pPr>
            <a:r>
              <a:rPr lang="en-US" sz="1600" dirty="0">
                <a:solidFill>
                  <a:srgbClr val="5B6577"/>
                </a:solidFill>
                <a:latin typeface="Calibri" pitchFamily="34" charset="0"/>
                <a:ea typeface="Calibri" pitchFamily="34" charset="-122"/>
                <a:cs typeface="Calibri" pitchFamily="34" charset="-120"/>
              </a:rPr>
              <a:t>Linux · Windows · macOS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35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7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52" fill="hold">
                            <p:stCondLst>
                              <p:cond delay="105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4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Bilan par rapport au cahier des charges</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14</a:t>
            </a:r>
            <a:endParaRPr lang="en-US" sz="1100" dirty="0"/>
          </a:p>
        </p:txBody>
      </p:sp>
      <p:sp>
        <p:nvSpPr>
          <p:cNvPr id="4" name="a1_c0"/>
          <p:cNvSpPr/>
          <p:nvPr/>
        </p:nvSpPr>
        <p:spPr>
          <a:xfrm>
            <a:off x="640080" y="137160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 name="a1_s0_disc"/>
          <p:cNvSpPr/>
          <p:nvPr/>
        </p:nvSpPr>
        <p:spPr>
          <a:xfrm>
            <a:off x="822960" y="1645920"/>
            <a:ext cx="640080" cy="640080"/>
          </a:xfrm>
          <a:prstGeom prst="ellipse">
            <a:avLst/>
          </a:prstGeom>
          <a:solidFill>
            <a:srgbClr val="00A99D"/>
          </a:solidFill>
          <a:ln w="12700">
            <a:solidFill>
              <a:srgbClr val="00A99D"/>
            </a:solidFill>
            <a:prstDash val="solid"/>
          </a:ln>
        </p:spPr>
      </p:sp>
      <p:pic>
        <p:nvPicPr>
          <p:cNvPr id="6" name="a1_s0_icon"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7" name="a1_k0"/>
          <p:cNvSpPr txBox="1"/>
          <p:nvPr/>
        </p:nvSpPr>
        <p:spPr>
          <a:xfrm>
            <a:off x="1600200" y="153619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J1</a:t>
            </a:r>
            <a:endParaRPr lang="en-US" sz="2000" dirty="0"/>
          </a:p>
        </p:txBody>
      </p:sp>
      <p:sp>
        <p:nvSpPr>
          <p:cNvPr id="8" name="a1_l0"/>
          <p:cNvSpPr txBox="1"/>
          <p:nvPr/>
        </p:nvSpPr>
        <p:spPr>
          <a:xfrm>
            <a:off x="1600200" y="194767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Pipeline + EDA</a:t>
            </a:r>
            <a:endParaRPr lang="en-US" sz="1400" dirty="0"/>
          </a:p>
        </p:txBody>
      </p:sp>
      <p:sp>
        <p:nvSpPr>
          <p:cNvPr id="9" name="a1_c1"/>
          <p:cNvSpPr/>
          <p:nvPr/>
        </p:nvSpPr>
        <p:spPr>
          <a:xfrm>
            <a:off x="3474720" y="137160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0" name="a1_s1_disc"/>
          <p:cNvSpPr/>
          <p:nvPr/>
        </p:nvSpPr>
        <p:spPr>
          <a:xfrm>
            <a:off x="3657600" y="1645920"/>
            <a:ext cx="640080" cy="640080"/>
          </a:xfrm>
          <a:prstGeom prst="ellipse">
            <a:avLst/>
          </a:prstGeom>
          <a:solidFill>
            <a:srgbClr val="00A99D"/>
          </a:solidFill>
          <a:ln w="12700">
            <a:solidFill>
              <a:srgbClr val="00A99D"/>
            </a:solidFill>
            <a:prstDash val="solid"/>
          </a:ln>
        </p:spPr>
      </p:sp>
      <p:pic>
        <p:nvPicPr>
          <p:cNvPr id="11" name="a1_s1_icon" descr="preencoded.png">    </p:cNvPr>
          <p:cNvPicPr>
            <a:picLocks noChangeAspect="1"/>
          </p:cNvPicPr>
          <p:nvPr/>
        </p:nvPicPr>
        <p:blipFill>
          <a:blip r:embed="rId2"/>
          <a:stretch>
            <a:fillRect/>
          </a:stretch>
        </p:blipFill>
        <p:spPr>
          <a:xfrm>
            <a:off x="3811219" y="1799539"/>
            <a:ext cx="332842" cy="332842"/>
          </a:xfrm>
          <a:prstGeom prst="rect">
            <a:avLst/>
          </a:prstGeom>
        </p:spPr>
      </p:pic>
      <p:sp>
        <p:nvSpPr>
          <p:cNvPr id="12" name="a1_k1"/>
          <p:cNvSpPr txBox="1"/>
          <p:nvPr/>
        </p:nvSpPr>
        <p:spPr>
          <a:xfrm>
            <a:off x="4434840" y="153619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J2</a:t>
            </a:r>
            <a:endParaRPr lang="en-US" sz="2000" dirty="0"/>
          </a:p>
        </p:txBody>
      </p:sp>
      <p:sp>
        <p:nvSpPr>
          <p:cNvPr id="13" name="a1_l1"/>
          <p:cNvSpPr txBox="1"/>
          <p:nvPr/>
        </p:nvSpPr>
        <p:spPr>
          <a:xfrm>
            <a:off x="4434840" y="194767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Motifs &gt; 0,5</a:t>
            </a:r>
            <a:endParaRPr lang="en-US" sz="1400" dirty="0"/>
          </a:p>
        </p:txBody>
      </p:sp>
      <p:sp>
        <p:nvSpPr>
          <p:cNvPr id="14" name="a1_c2"/>
          <p:cNvSpPr/>
          <p:nvPr/>
        </p:nvSpPr>
        <p:spPr>
          <a:xfrm>
            <a:off x="6309360" y="137160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15" name="a1_s2_disc"/>
          <p:cNvSpPr/>
          <p:nvPr/>
        </p:nvSpPr>
        <p:spPr>
          <a:xfrm>
            <a:off x="6492240" y="1645920"/>
            <a:ext cx="640080" cy="640080"/>
          </a:xfrm>
          <a:prstGeom prst="ellipse">
            <a:avLst/>
          </a:prstGeom>
          <a:solidFill>
            <a:srgbClr val="00A99D"/>
          </a:solidFill>
          <a:ln w="12700">
            <a:solidFill>
              <a:srgbClr val="00A99D"/>
            </a:solidFill>
            <a:prstDash val="solid"/>
          </a:ln>
        </p:spPr>
      </p:sp>
      <p:pic>
        <p:nvPicPr>
          <p:cNvPr id="16" name="a1_s2_icon" descr="preencoded.png">    </p:cNvPr>
          <p:cNvPicPr>
            <a:picLocks noChangeAspect="1"/>
          </p:cNvPicPr>
          <p:nvPr/>
        </p:nvPicPr>
        <p:blipFill>
          <a:blip r:embed="rId3"/>
          <a:stretch>
            <a:fillRect/>
          </a:stretch>
        </p:blipFill>
        <p:spPr>
          <a:xfrm>
            <a:off x="6645859" y="1799539"/>
            <a:ext cx="332842" cy="332842"/>
          </a:xfrm>
          <a:prstGeom prst="rect">
            <a:avLst/>
          </a:prstGeom>
        </p:spPr>
      </p:pic>
      <p:sp>
        <p:nvSpPr>
          <p:cNvPr id="17" name="a1_k2"/>
          <p:cNvSpPr txBox="1"/>
          <p:nvPr/>
        </p:nvSpPr>
        <p:spPr>
          <a:xfrm>
            <a:off x="7269480" y="153619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J3</a:t>
            </a:r>
            <a:endParaRPr lang="en-US" sz="2000" dirty="0"/>
          </a:p>
        </p:txBody>
      </p:sp>
      <p:sp>
        <p:nvSpPr>
          <p:cNvPr id="18" name="a1_l2"/>
          <p:cNvSpPr txBox="1"/>
          <p:nvPr/>
        </p:nvSpPr>
        <p:spPr>
          <a:xfrm>
            <a:off x="7269480" y="194767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3 GNN + benchmark</a:t>
            </a:r>
            <a:endParaRPr lang="en-US" sz="1400" dirty="0"/>
          </a:p>
        </p:txBody>
      </p:sp>
      <p:sp>
        <p:nvSpPr>
          <p:cNvPr id="19" name="a1_c3"/>
          <p:cNvSpPr/>
          <p:nvPr/>
        </p:nvSpPr>
        <p:spPr>
          <a:xfrm>
            <a:off x="9144000" y="137160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20" name="a1_s3_disc"/>
          <p:cNvSpPr/>
          <p:nvPr/>
        </p:nvSpPr>
        <p:spPr>
          <a:xfrm>
            <a:off x="9326880" y="1645920"/>
            <a:ext cx="640080" cy="640080"/>
          </a:xfrm>
          <a:prstGeom prst="ellipse">
            <a:avLst/>
          </a:prstGeom>
          <a:solidFill>
            <a:srgbClr val="9AA7BD"/>
          </a:solidFill>
          <a:ln w="12700">
            <a:solidFill>
              <a:srgbClr val="9AA7BD"/>
            </a:solidFill>
            <a:prstDash val="solid"/>
          </a:ln>
        </p:spPr>
      </p:sp>
      <p:pic>
        <p:nvPicPr>
          <p:cNvPr id="21" name="a1_s3_icon" descr="preencoded.png">    </p:cNvPr>
          <p:cNvPicPr>
            <a:picLocks noChangeAspect="1"/>
          </p:cNvPicPr>
          <p:nvPr/>
        </p:nvPicPr>
        <p:blipFill>
          <a:blip r:embed="rId4"/>
          <a:stretch>
            <a:fillRect/>
          </a:stretch>
        </p:blipFill>
        <p:spPr>
          <a:xfrm>
            <a:off x="9480499" y="1799539"/>
            <a:ext cx="332842" cy="332842"/>
          </a:xfrm>
          <a:prstGeom prst="rect">
            <a:avLst/>
          </a:prstGeom>
        </p:spPr>
      </p:pic>
      <p:sp>
        <p:nvSpPr>
          <p:cNvPr id="22" name="a1_k3"/>
          <p:cNvSpPr txBox="1"/>
          <p:nvPr/>
        </p:nvSpPr>
        <p:spPr>
          <a:xfrm>
            <a:off x="10104120" y="153619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J4</a:t>
            </a:r>
            <a:endParaRPr lang="en-US" sz="2000" dirty="0"/>
          </a:p>
        </p:txBody>
      </p:sp>
      <p:sp>
        <p:nvSpPr>
          <p:cNvPr id="23" name="a1_l3"/>
          <p:cNvSpPr txBox="1"/>
          <p:nvPr/>
        </p:nvSpPr>
        <p:spPr>
          <a:xfrm>
            <a:off x="10104120" y="194767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Article soumis</a:t>
            </a:r>
            <a:endParaRPr lang="en-US" sz="1400" dirty="0"/>
          </a:p>
        </p:txBody>
      </p:sp>
      <p:sp>
        <p:nvSpPr>
          <p:cNvPr id="24" name="a2_c4"/>
          <p:cNvSpPr/>
          <p:nvPr/>
        </p:nvSpPr>
        <p:spPr>
          <a:xfrm>
            <a:off x="640080" y="283464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25" name="a2_s4_disc"/>
          <p:cNvSpPr/>
          <p:nvPr/>
        </p:nvSpPr>
        <p:spPr>
          <a:xfrm>
            <a:off x="822960" y="3108960"/>
            <a:ext cx="640080" cy="640080"/>
          </a:xfrm>
          <a:prstGeom prst="ellipse">
            <a:avLst/>
          </a:prstGeom>
          <a:solidFill>
            <a:srgbClr val="00A99D"/>
          </a:solidFill>
          <a:ln w="12700">
            <a:solidFill>
              <a:srgbClr val="00A99D"/>
            </a:solidFill>
            <a:prstDash val="solid"/>
          </a:ln>
        </p:spPr>
      </p:sp>
      <p:pic>
        <p:nvPicPr>
          <p:cNvPr id="26" name="a2_s4_icon" descr="preencoded.png">    </p:cNvPr>
          <p:cNvPicPr>
            <a:picLocks noChangeAspect="1"/>
          </p:cNvPicPr>
          <p:nvPr/>
        </p:nvPicPr>
        <p:blipFill>
          <a:blip r:embed="rId5"/>
          <a:stretch>
            <a:fillRect/>
          </a:stretch>
        </p:blipFill>
        <p:spPr>
          <a:xfrm>
            <a:off x="976579" y="3262579"/>
            <a:ext cx="332842" cy="332842"/>
          </a:xfrm>
          <a:prstGeom prst="rect">
            <a:avLst/>
          </a:prstGeom>
        </p:spPr>
      </p:pic>
      <p:sp>
        <p:nvSpPr>
          <p:cNvPr id="27" name="a2_k4"/>
          <p:cNvSpPr txBox="1"/>
          <p:nvPr/>
        </p:nvSpPr>
        <p:spPr>
          <a:xfrm>
            <a:off x="1600200" y="299923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L1</a:t>
            </a:r>
            <a:endParaRPr lang="en-US" sz="2000" dirty="0"/>
          </a:p>
        </p:txBody>
      </p:sp>
      <p:sp>
        <p:nvSpPr>
          <p:cNvPr id="28" name="a2_l4"/>
          <p:cNvSpPr txBox="1"/>
          <p:nvPr/>
        </p:nvSpPr>
        <p:spPr>
          <a:xfrm>
            <a:off x="1600200" y="341071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Dépôt GitHub</a:t>
            </a:r>
            <a:endParaRPr lang="en-US" sz="1400" dirty="0"/>
          </a:p>
        </p:txBody>
      </p:sp>
      <p:sp>
        <p:nvSpPr>
          <p:cNvPr id="29" name="a2_c5"/>
          <p:cNvSpPr/>
          <p:nvPr/>
        </p:nvSpPr>
        <p:spPr>
          <a:xfrm>
            <a:off x="3474720" y="283464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30" name="a2_s5_disc"/>
          <p:cNvSpPr/>
          <p:nvPr/>
        </p:nvSpPr>
        <p:spPr>
          <a:xfrm>
            <a:off x="3657600" y="3108960"/>
            <a:ext cx="640080" cy="640080"/>
          </a:xfrm>
          <a:prstGeom prst="ellipse">
            <a:avLst/>
          </a:prstGeom>
          <a:solidFill>
            <a:srgbClr val="9AA7BD"/>
          </a:solidFill>
          <a:ln w="12700">
            <a:solidFill>
              <a:srgbClr val="9AA7BD"/>
            </a:solidFill>
            <a:prstDash val="solid"/>
          </a:ln>
        </p:spPr>
      </p:sp>
      <p:pic>
        <p:nvPicPr>
          <p:cNvPr id="31" name="a2_s5_icon" descr="preencoded.png">    </p:cNvPr>
          <p:cNvPicPr>
            <a:picLocks noChangeAspect="1"/>
          </p:cNvPicPr>
          <p:nvPr/>
        </p:nvPicPr>
        <p:blipFill>
          <a:blip r:embed="rId6"/>
          <a:stretch>
            <a:fillRect/>
          </a:stretch>
        </p:blipFill>
        <p:spPr>
          <a:xfrm>
            <a:off x="3811219" y="3262579"/>
            <a:ext cx="332842" cy="332842"/>
          </a:xfrm>
          <a:prstGeom prst="rect">
            <a:avLst/>
          </a:prstGeom>
        </p:spPr>
      </p:pic>
      <p:sp>
        <p:nvSpPr>
          <p:cNvPr id="32" name="a2_k5"/>
          <p:cNvSpPr txBox="1"/>
          <p:nvPr/>
        </p:nvSpPr>
        <p:spPr>
          <a:xfrm>
            <a:off x="4434840" y="299923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L2</a:t>
            </a:r>
            <a:endParaRPr lang="en-US" sz="2000" dirty="0"/>
          </a:p>
        </p:txBody>
      </p:sp>
      <p:sp>
        <p:nvSpPr>
          <p:cNvPr id="33" name="a2_l5"/>
          <p:cNvSpPr txBox="1"/>
          <p:nvPr/>
        </p:nvSpPr>
        <p:spPr>
          <a:xfrm>
            <a:off x="4434840" y="341071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Package PyPI</a:t>
            </a:r>
            <a:endParaRPr lang="en-US" sz="1400" dirty="0"/>
          </a:p>
        </p:txBody>
      </p:sp>
      <p:sp>
        <p:nvSpPr>
          <p:cNvPr id="34" name="a2_c6"/>
          <p:cNvSpPr/>
          <p:nvPr/>
        </p:nvSpPr>
        <p:spPr>
          <a:xfrm>
            <a:off x="6309360" y="283464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35" name="a2_s6_disc"/>
          <p:cNvSpPr/>
          <p:nvPr/>
        </p:nvSpPr>
        <p:spPr>
          <a:xfrm>
            <a:off x="6492240" y="3108960"/>
            <a:ext cx="640080" cy="640080"/>
          </a:xfrm>
          <a:prstGeom prst="ellipse">
            <a:avLst/>
          </a:prstGeom>
          <a:solidFill>
            <a:srgbClr val="00A99D"/>
          </a:solidFill>
          <a:ln w="12700">
            <a:solidFill>
              <a:srgbClr val="00A99D"/>
            </a:solidFill>
            <a:prstDash val="solid"/>
          </a:ln>
        </p:spPr>
      </p:sp>
      <p:pic>
        <p:nvPicPr>
          <p:cNvPr id="36" name="a2_s6_icon" descr="preencoded.png">    </p:cNvPr>
          <p:cNvPicPr>
            <a:picLocks noChangeAspect="1"/>
          </p:cNvPicPr>
          <p:nvPr/>
        </p:nvPicPr>
        <p:blipFill>
          <a:blip r:embed="rId7"/>
          <a:stretch>
            <a:fillRect/>
          </a:stretch>
        </p:blipFill>
        <p:spPr>
          <a:xfrm>
            <a:off x="6645859" y="3262579"/>
            <a:ext cx="332842" cy="332842"/>
          </a:xfrm>
          <a:prstGeom prst="rect">
            <a:avLst/>
          </a:prstGeom>
        </p:spPr>
      </p:pic>
      <p:sp>
        <p:nvSpPr>
          <p:cNvPr id="37" name="a2_k6"/>
          <p:cNvSpPr txBox="1"/>
          <p:nvPr/>
        </p:nvSpPr>
        <p:spPr>
          <a:xfrm>
            <a:off x="7269480" y="299923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L3</a:t>
            </a:r>
            <a:endParaRPr lang="en-US" sz="2000" dirty="0"/>
          </a:p>
        </p:txBody>
      </p:sp>
      <p:sp>
        <p:nvSpPr>
          <p:cNvPr id="38" name="a2_l6"/>
          <p:cNvSpPr txBox="1"/>
          <p:nvPr/>
        </p:nvSpPr>
        <p:spPr>
          <a:xfrm>
            <a:off x="7269480" y="341071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API déployée</a:t>
            </a:r>
            <a:endParaRPr lang="en-US" sz="1400" dirty="0"/>
          </a:p>
        </p:txBody>
      </p:sp>
      <p:sp>
        <p:nvSpPr>
          <p:cNvPr id="39" name="a2_c7"/>
          <p:cNvSpPr/>
          <p:nvPr/>
        </p:nvSpPr>
        <p:spPr>
          <a:xfrm>
            <a:off x="9144000" y="283464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40" name="a2_s7_disc"/>
          <p:cNvSpPr/>
          <p:nvPr/>
        </p:nvSpPr>
        <p:spPr>
          <a:xfrm>
            <a:off x="9326880" y="3108960"/>
            <a:ext cx="640080" cy="640080"/>
          </a:xfrm>
          <a:prstGeom prst="ellipse">
            <a:avLst/>
          </a:prstGeom>
          <a:solidFill>
            <a:srgbClr val="00A99D"/>
          </a:solidFill>
          <a:ln w="12700">
            <a:solidFill>
              <a:srgbClr val="00A99D"/>
            </a:solidFill>
            <a:prstDash val="solid"/>
          </a:ln>
        </p:spPr>
      </p:sp>
      <p:pic>
        <p:nvPicPr>
          <p:cNvPr id="41" name="a2_s7_icon" descr="preencoded.png">    </p:cNvPr>
          <p:cNvPicPr>
            <a:picLocks noChangeAspect="1"/>
          </p:cNvPicPr>
          <p:nvPr/>
        </p:nvPicPr>
        <p:blipFill>
          <a:blip r:embed="rId8"/>
          <a:stretch>
            <a:fillRect/>
          </a:stretch>
        </p:blipFill>
        <p:spPr>
          <a:xfrm>
            <a:off x="9480499" y="3262579"/>
            <a:ext cx="332842" cy="332842"/>
          </a:xfrm>
          <a:prstGeom prst="rect">
            <a:avLst/>
          </a:prstGeom>
        </p:spPr>
      </p:pic>
      <p:sp>
        <p:nvSpPr>
          <p:cNvPr id="42" name="a2_k7"/>
          <p:cNvSpPr txBox="1"/>
          <p:nvPr/>
        </p:nvSpPr>
        <p:spPr>
          <a:xfrm>
            <a:off x="10104120" y="299923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L4</a:t>
            </a:r>
            <a:endParaRPr lang="en-US" sz="2000" dirty="0"/>
          </a:p>
        </p:txBody>
      </p:sp>
      <p:sp>
        <p:nvSpPr>
          <p:cNvPr id="43" name="a2_l7"/>
          <p:cNvSpPr txBox="1"/>
          <p:nvPr/>
        </p:nvSpPr>
        <p:spPr>
          <a:xfrm>
            <a:off x="10104120" y="341071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CLI</a:t>
            </a:r>
            <a:endParaRPr lang="en-US" sz="1400" dirty="0"/>
          </a:p>
        </p:txBody>
      </p:sp>
      <p:sp>
        <p:nvSpPr>
          <p:cNvPr id="44" name="a3_c8"/>
          <p:cNvSpPr/>
          <p:nvPr/>
        </p:nvSpPr>
        <p:spPr>
          <a:xfrm>
            <a:off x="640080" y="429768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45" name="a3_s8_disc"/>
          <p:cNvSpPr/>
          <p:nvPr/>
        </p:nvSpPr>
        <p:spPr>
          <a:xfrm>
            <a:off x="822960" y="4572000"/>
            <a:ext cx="640080" cy="640080"/>
          </a:xfrm>
          <a:prstGeom prst="ellipse">
            <a:avLst/>
          </a:prstGeom>
          <a:solidFill>
            <a:srgbClr val="F5B700"/>
          </a:solidFill>
          <a:ln w="12700">
            <a:solidFill>
              <a:srgbClr val="F5B700"/>
            </a:solidFill>
            <a:prstDash val="solid"/>
          </a:ln>
        </p:spPr>
      </p:sp>
      <p:pic>
        <p:nvPicPr>
          <p:cNvPr id="46" name="a3_s8_icon" descr="preencoded.png">    </p:cNvPr>
          <p:cNvPicPr>
            <a:picLocks noChangeAspect="1"/>
          </p:cNvPicPr>
          <p:nvPr/>
        </p:nvPicPr>
        <p:blipFill>
          <a:blip r:embed="rId9"/>
          <a:stretch>
            <a:fillRect/>
          </a:stretch>
        </p:blipFill>
        <p:spPr>
          <a:xfrm>
            <a:off x="976579" y="4725619"/>
            <a:ext cx="332842" cy="332842"/>
          </a:xfrm>
          <a:prstGeom prst="rect">
            <a:avLst/>
          </a:prstGeom>
        </p:spPr>
      </p:pic>
      <p:sp>
        <p:nvSpPr>
          <p:cNvPr id="47" name="a3_k8"/>
          <p:cNvSpPr txBox="1"/>
          <p:nvPr/>
        </p:nvSpPr>
        <p:spPr>
          <a:xfrm>
            <a:off x="1600200" y="446227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L5</a:t>
            </a:r>
            <a:endParaRPr lang="en-US" sz="2000" dirty="0"/>
          </a:p>
        </p:txBody>
      </p:sp>
      <p:sp>
        <p:nvSpPr>
          <p:cNvPr id="48" name="a3_l8"/>
          <p:cNvSpPr txBox="1"/>
          <p:nvPr/>
        </p:nvSpPr>
        <p:spPr>
          <a:xfrm>
            <a:off x="1600200" y="487375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Docs + notebooks</a:t>
            </a:r>
            <a:endParaRPr lang="en-US" sz="1400" dirty="0"/>
          </a:p>
        </p:txBody>
      </p:sp>
      <p:sp>
        <p:nvSpPr>
          <p:cNvPr id="49" name="a3_c9"/>
          <p:cNvSpPr/>
          <p:nvPr/>
        </p:nvSpPr>
        <p:spPr>
          <a:xfrm>
            <a:off x="3474720" y="429768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0" name="a3_s9_disc"/>
          <p:cNvSpPr/>
          <p:nvPr/>
        </p:nvSpPr>
        <p:spPr>
          <a:xfrm>
            <a:off x="3657600" y="4572000"/>
            <a:ext cx="640080" cy="640080"/>
          </a:xfrm>
          <a:prstGeom prst="ellipse">
            <a:avLst/>
          </a:prstGeom>
          <a:solidFill>
            <a:srgbClr val="00A99D"/>
          </a:solidFill>
          <a:ln w="12700">
            <a:solidFill>
              <a:srgbClr val="00A99D"/>
            </a:solidFill>
            <a:prstDash val="solid"/>
          </a:ln>
        </p:spPr>
      </p:sp>
      <p:pic>
        <p:nvPicPr>
          <p:cNvPr id="51" name="a3_s9_icon" descr="preencoded.png">    </p:cNvPr>
          <p:cNvPicPr>
            <a:picLocks noChangeAspect="1"/>
          </p:cNvPicPr>
          <p:nvPr/>
        </p:nvPicPr>
        <p:blipFill>
          <a:blip r:embed="rId10"/>
          <a:stretch>
            <a:fillRect/>
          </a:stretch>
        </p:blipFill>
        <p:spPr>
          <a:xfrm>
            <a:off x="3811219" y="4725619"/>
            <a:ext cx="332842" cy="332842"/>
          </a:xfrm>
          <a:prstGeom prst="rect">
            <a:avLst/>
          </a:prstGeom>
        </p:spPr>
      </p:pic>
      <p:sp>
        <p:nvSpPr>
          <p:cNvPr id="52" name="a3_k9"/>
          <p:cNvSpPr txBox="1"/>
          <p:nvPr/>
        </p:nvSpPr>
        <p:spPr>
          <a:xfrm>
            <a:off x="4434840" y="446227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L6</a:t>
            </a:r>
            <a:endParaRPr lang="en-US" sz="2000" dirty="0"/>
          </a:p>
        </p:txBody>
      </p:sp>
      <p:sp>
        <p:nvSpPr>
          <p:cNvPr id="53" name="a3_l9"/>
          <p:cNvSpPr txBox="1"/>
          <p:nvPr/>
        </p:nvSpPr>
        <p:spPr>
          <a:xfrm>
            <a:off x="4434840" y="487375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Modèles sur le Hub</a:t>
            </a:r>
            <a:endParaRPr lang="en-US" sz="1400" dirty="0"/>
          </a:p>
        </p:txBody>
      </p:sp>
      <p:sp>
        <p:nvSpPr>
          <p:cNvPr id="54" name="a3_c10"/>
          <p:cNvSpPr/>
          <p:nvPr/>
        </p:nvSpPr>
        <p:spPr>
          <a:xfrm>
            <a:off x="6309360" y="429768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55" name="a3_s10_disc"/>
          <p:cNvSpPr/>
          <p:nvPr/>
        </p:nvSpPr>
        <p:spPr>
          <a:xfrm>
            <a:off x="6492240" y="4572000"/>
            <a:ext cx="640080" cy="640080"/>
          </a:xfrm>
          <a:prstGeom prst="ellipse">
            <a:avLst/>
          </a:prstGeom>
          <a:solidFill>
            <a:srgbClr val="F5B700"/>
          </a:solidFill>
          <a:ln w="12700">
            <a:solidFill>
              <a:srgbClr val="F5B700"/>
            </a:solidFill>
            <a:prstDash val="solid"/>
          </a:ln>
        </p:spPr>
      </p:sp>
      <p:pic>
        <p:nvPicPr>
          <p:cNvPr id="56" name="a3_s10_icon" descr="preencoded.png">    </p:cNvPr>
          <p:cNvPicPr>
            <a:picLocks noChangeAspect="1"/>
          </p:cNvPicPr>
          <p:nvPr/>
        </p:nvPicPr>
        <p:blipFill>
          <a:blip r:embed="rId11"/>
          <a:stretch>
            <a:fillRect/>
          </a:stretch>
        </p:blipFill>
        <p:spPr>
          <a:xfrm>
            <a:off x="6645859" y="4725619"/>
            <a:ext cx="332842" cy="332842"/>
          </a:xfrm>
          <a:prstGeom prst="rect">
            <a:avLst/>
          </a:prstGeom>
        </p:spPr>
      </p:pic>
      <p:sp>
        <p:nvSpPr>
          <p:cNvPr id="57" name="a3_k10"/>
          <p:cNvSpPr txBox="1"/>
          <p:nvPr/>
        </p:nvSpPr>
        <p:spPr>
          <a:xfrm>
            <a:off x="7269480" y="446227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L7</a:t>
            </a:r>
            <a:endParaRPr lang="en-US" sz="2000" dirty="0"/>
          </a:p>
        </p:txBody>
      </p:sp>
      <p:sp>
        <p:nvSpPr>
          <p:cNvPr id="58" name="a3_l10"/>
          <p:cNvSpPr txBox="1"/>
          <p:nvPr/>
        </p:nvSpPr>
        <p:spPr>
          <a:xfrm>
            <a:off x="7269480" y="487375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Article</a:t>
            </a:r>
            <a:endParaRPr lang="en-US" sz="1400" dirty="0"/>
          </a:p>
        </p:txBody>
      </p:sp>
      <p:sp>
        <p:nvSpPr>
          <p:cNvPr id="59" name="a3_c11"/>
          <p:cNvSpPr/>
          <p:nvPr/>
        </p:nvSpPr>
        <p:spPr>
          <a:xfrm>
            <a:off x="9144000" y="4297680"/>
            <a:ext cx="2606040" cy="1188720"/>
          </a:xfrm>
          <a:prstGeom prst="roundRect">
            <a:avLst>
              <a:gd name="adj" fmla="val 9231"/>
            </a:avLst>
          </a:prstGeom>
          <a:solidFill>
            <a:srgbClr val="EEF3FA"/>
          </a:solidFill>
          <a:ln w="12700">
            <a:solidFill>
              <a:srgbClr val="EEF3FA"/>
            </a:solidFill>
            <a:prstDash val="solid"/>
          </a:ln>
          <a:effectLst>
            <a:outerShdw sx="100000" sy="100000" kx="0" ky="0" algn="bl" rotWithShape="0" blurRad="76200" dist="25400" dir="5400000">
              <a:srgbClr val="9AA7BD">
                <a:alpha val="35000"/>
              </a:srgbClr>
            </a:outerShdw>
          </a:effectLst>
        </p:spPr>
      </p:sp>
      <p:sp>
        <p:nvSpPr>
          <p:cNvPr id="60" name="a3_s11_disc"/>
          <p:cNvSpPr/>
          <p:nvPr/>
        </p:nvSpPr>
        <p:spPr>
          <a:xfrm>
            <a:off x="9326880" y="4572000"/>
            <a:ext cx="640080" cy="640080"/>
          </a:xfrm>
          <a:prstGeom prst="ellipse">
            <a:avLst/>
          </a:prstGeom>
          <a:solidFill>
            <a:srgbClr val="F5B700"/>
          </a:solidFill>
          <a:ln w="12700">
            <a:solidFill>
              <a:srgbClr val="F5B700"/>
            </a:solidFill>
            <a:prstDash val="solid"/>
          </a:ln>
        </p:spPr>
      </p:sp>
      <p:pic>
        <p:nvPicPr>
          <p:cNvPr id="61" name="a3_s11_icon" descr="preencoded.png">    </p:cNvPr>
          <p:cNvPicPr>
            <a:picLocks noChangeAspect="1"/>
          </p:cNvPicPr>
          <p:nvPr/>
        </p:nvPicPr>
        <p:blipFill>
          <a:blip r:embed="rId12"/>
          <a:stretch>
            <a:fillRect/>
          </a:stretch>
        </p:blipFill>
        <p:spPr>
          <a:xfrm>
            <a:off x="9480499" y="4725619"/>
            <a:ext cx="332842" cy="332842"/>
          </a:xfrm>
          <a:prstGeom prst="rect">
            <a:avLst/>
          </a:prstGeom>
        </p:spPr>
      </p:pic>
      <p:sp>
        <p:nvSpPr>
          <p:cNvPr id="62" name="a3_k11"/>
          <p:cNvSpPr txBox="1"/>
          <p:nvPr/>
        </p:nvSpPr>
        <p:spPr>
          <a:xfrm>
            <a:off x="10104120" y="4462272"/>
            <a:ext cx="1554480" cy="411480"/>
          </a:xfrm>
          <a:prstGeom prst="rect">
            <a:avLst/>
          </a:prstGeom>
          <a:noFill/>
          <a:ln/>
        </p:spPr>
        <p:txBody>
          <a:bodyPr wrap="square" lIns="0" tIns="0" rIns="0" bIns="0" rtlCol="0" anchor="ctr"/>
          <a:lstStyle/>
          <a:p>
            <a:pPr indent="0" marL="0">
              <a:buNone/>
            </a:pPr>
            <a:r>
              <a:rPr lang="en-US" sz="2000" b="1" dirty="0">
                <a:solidFill>
                  <a:srgbClr val="1B2333"/>
                </a:solidFill>
                <a:latin typeface="Cambria" pitchFamily="34" charset="0"/>
                <a:ea typeface="Cambria" pitchFamily="34" charset="-122"/>
                <a:cs typeface="Cambria" pitchFamily="34" charset="-120"/>
              </a:rPr>
              <a:t>L8</a:t>
            </a:r>
            <a:endParaRPr lang="en-US" sz="2000" dirty="0"/>
          </a:p>
        </p:txBody>
      </p:sp>
      <p:sp>
        <p:nvSpPr>
          <p:cNvPr id="63" name="a3_l11"/>
          <p:cNvSpPr txBox="1"/>
          <p:nvPr/>
        </p:nvSpPr>
        <p:spPr>
          <a:xfrm>
            <a:off x="10104120" y="4873752"/>
            <a:ext cx="1600200" cy="45720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Mémoire</a:t>
            </a:r>
            <a:endParaRPr lang="en-US" sz="1400" dirty="0"/>
          </a:p>
        </p:txBody>
      </p:sp>
      <p:sp>
        <p:nvSpPr>
          <p:cNvPr id="64" name="a4_lg0"/>
          <p:cNvSpPr/>
          <p:nvPr/>
        </p:nvSpPr>
        <p:spPr>
          <a:xfrm>
            <a:off x="640080" y="5897880"/>
            <a:ext cx="256032" cy="256032"/>
          </a:xfrm>
          <a:prstGeom prst="ellipse">
            <a:avLst/>
          </a:prstGeom>
          <a:solidFill>
            <a:srgbClr val="00A99D"/>
          </a:solidFill>
          <a:ln w="12700">
            <a:solidFill>
              <a:srgbClr val="00A99D"/>
            </a:solidFill>
            <a:prstDash val="solid"/>
          </a:ln>
        </p:spPr>
      </p:sp>
      <p:sp>
        <p:nvSpPr>
          <p:cNvPr id="65" name="a4_lt0"/>
          <p:cNvSpPr txBox="1"/>
          <p:nvPr/>
        </p:nvSpPr>
        <p:spPr>
          <a:xfrm>
            <a:off x="987552" y="5833872"/>
            <a:ext cx="1920240" cy="384048"/>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fait</a:t>
            </a:r>
            <a:endParaRPr lang="en-US" sz="1400" dirty="0"/>
          </a:p>
        </p:txBody>
      </p:sp>
      <p:sp>
        <p:nvSpPr>
          <p:cNvPr id="66" name="a4_lg1"/>
          <p:cNvSpPr/>
          <p:nvPr/>
        </p:nvSpPr>
        <p:spPr>
          <a:xfrm>
            <a:off x="3017520" y="5897880"/>
            <a:ext cx="256032" cy="256032"/>
          </a:xfrm>
          <a:prstGeom prst="ellipse">
            <a:avLst/>
          </a:prstGeom>
          <a:solidFill>
            <a:srgbClr val="F5B700"/>
          </a:solidFill>
          <a:ln w="12700">
            <a:solidFill>
              <a:srgbClr val="F5B700"/>
            </a:solidFill>
            <a:prstDash val="solid"/>
          </a:ln>
        </p:spPr>
      </p:sp>
      <p:sp>
        <p:nvSpPr>
          <p:cNvPr id="67" name="a4_lt1"/>
          <p:cNvSpPr txBox="1"/>
          <p:nvPr/>
        </p:nvSpPr>
        <p:spPr>
          <a:xfrm>
            <a:off x="3364992" y="5833872"/>
            <a:ext cx="1920240" cy="384048"/>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prêt, à publier</a:t>
            </a:r>
            <a:endParaRPr lang="en-US" sz="1400" dirty="0"/>
          </a:p>
        </p:txBody>
      </p:sp>
      <p:sp>
        <p:nvSpPr>
          <p:cNvPr id="68" name="a4_lg2"/>
          <p:cNvSpPr/>
          <p:nvPr/>
        </p:nvSpPr>
        <p:spPr>
          <a:xfrm>
            <a:off x="5394960" y="5897880"/>
            <a:ext cx="256032" cy="256032"/>
          </a:xfrm>
          <a:prstGeom prst="ellipse">
            <a:avLst/>
          </a:prstGeom>
          <a:solidFill>
            <a:srgbClr val="9AA7BD"/>
          </a:solidFill>
          <a:ln w="12700">
            <a:solidFill>
              <a:srgbClr val="9AA7BD"/>
            </a:solidFill>
            <a:prstDash val="solid"/>
          </a:ln>
        </p:spPr>
      </p:sp>
      <p:sp>
        <p:nvSpPr>
          <p:cNvPr id="69" name="a4_lt2"/>
          <p:cNvSpPr txBox="1"/>
          <p:nvPr/>
        </p:nvSpPr>
        <p:spPr>
          <a:xfrm>
            <a:off x="5742432" y="5833872"/>
            <a:ext cx="1920240" cy="384048"/>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à venir</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par>
                          <p:cTn id="65" fill="hold">
                            <p:stCondLst>
                              <p:cond delay="350"/>
                            </p:stCondLst>
                            <p:childTnLst>
                              <p:par>
                                <p:cTn id="66" presetID="10" presetClass="entr" presetSubtype="0" fill="hold" grpId="0"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500"/>
                                        <p:tgtEl>
                                          <p:spTgt spid="3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0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500"/>
                                        <p:tgtEl>
                                          <p:spTgt spid="3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500"/>
                                        <p:tgtEl>
                                          <p:spTgt spid="4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00"/>
                                        <p:tgtEl>
                                          <p:spTgt spid="4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Effect transition="in" filter="fade">
                                      <p:cBhvr>
                                        <p:cTn id="122" dur="500"/>
                                        <p:tgtEl>
                                          <p:spTgt spid="4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fade">
                                      <p:cBhvr>
                                        <p:cTn id="125" dur="500"/>
                                        <p:tgtEl>
                                          <p:spTgt spid="43"/>
                                        </p:tgtEl>
                                      </p:cBhvr>
                                    </p:animEffect>
                                  </p:childTnLst>
                                </p:cTn>
                              </p:par>
                            </p:childTnLst>
                          </p:cTn>
                        </p:par>
                        <p:par>
                          <p:cTn id="126" fill="hold">
                            <p:stCondLst>
                              <p:cond delay="700"/>
                            </p:stCondLst>
                            <p:childTnLst>
                              <p:par>
                                <p:cTn id="127" presetID="10" presetClass="entr" presetSubtype="0" fill="hold" grpId="0" nodeType="after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500"/>
                                        <p:tgtEl>
                                          <p:spTgt spid="44"/>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500"/>
                                        <p:tgtEl>
                                          <p:spTgt spid="4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500"/>
                                        <p:tgtEl>
                                          <p:spTgt spid="4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500"/>
                                        <p:tgtEl>
                                          <p:spTgt spid="47"/>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500"/>
                                        <p:tgtEl>
                                          <p:spTgt spid="48"/>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500"/>
                                        <p:tgtEl>
                                          <p:spTgt spid="4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500"/>
                                        <p:tgtEl>
                                          <p:spTgt spid="50"/>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500"/>
                                        <p:tgtEl>
                                          <p:spTgt spid="51"/>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500"/>
                                        <p:tgtEl>
                                          <p:spTgt spid="52"/>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500"/>
                                        <p:tgtEl>
                                          <p:spTgt spid="53"/>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500"/>
                                        <p:tgtEl>
                                          <p:spTgt spid="5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500"/>
                                        <p:tgtEl>
                                          <p:spTgt spid="5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500"/>
                                        <p:tgtEl>
                                          <p:spTgt spid="5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500"/>
                                        <p:tgtEl>
                                          <p:spTgt spid="57"/>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500"/>
                                        <p:tgtEl>
                                          <p:spTgt spid="5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500"/>
                                        <p:tgtEl>
                                          <p:spTgt spid="59"/>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500"/>
                                        <p:tgtEl>
                                          <p:spTgt spid="60"/>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500"/>
                                        <p:tgtEl>
                                          <p:spTgt spid="61"/>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500"/>
                                        <p:tgtEl>
                                          <p:spTgt spid="62"/>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500"/>
                                        <p:tgtEl>
                                          <p:spTgt spid="63"/>
                                        </p:tgtEl>
                                      </p:cBhvr>
                                    </p:animEffect>
                                  </p:childTnLst>
                                </p:cTn>
                              </p:par>
                            </p:childTnLst>
                          </p:cTn>
                        </p:par>
                        <p:par>
                          <p:cTn id="187" fill="hold">
                            <p:stCondLst>
                              <p:cond delay="1050"/>
                            </p:stCondLst>
                            <p:childTnLst>
                              <p:par>
                                <p:cTn id="188" presetID="10" presetClass="entr" presetSubtype="0" fill="hold" grpId="0" nodeType="afterEffect">
                                  <p:stCondLst>
                                    <p:cond delay="0"/>
                                  </p:stCondLst>
                                  <p:childTnLst>
                                    <p:set>
                                      <p:cBhvr>
                                        <p:cTn id="189" dur="1" fill="hold">
                                          <p:stCondLst>
                                            <p:cond delay="0"/>
                                          </p:stCondLst>
                                        </p:cTn>
                                        <p:tgtEl>
                                          <p:spTgt spid="64"/>
                                        </p:tgtEl>
                                        <p:attrNameLst>
                                          <p:attrName>style.visibility</p:attrName>
                                        </p:attrNameLst>
                                      </p:cBhvr>
                                      <p:to>
                                        <p:strVal val="visible"/>
                                      </p:to>
                                    </p:set>
                                    <p:animEffect transition="in" filter="fade">
                                      <p:cBhvr>
                                        <p:cTn id="190" dur="500"/>
                                        <p:tgtEl>
                                          <p:spTgt spid="64"/>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65"/>
                                        </p:tgtEl>
                                        <p:attrNameLst>
                                          <p:attrName>style.visibility</p:attrName>
                                        </p:attrNameLst>
                                      </p:cBhvr>
                                      <p:to>
                                        <p:strVal val="visible"/>
                                      </p:to>
                                    </p:set>
                                    <p:animEffect transition="in" filter="fade">
                                      <p:cBhvr>
                                        <p:cTn id="193" dur="500"/>
                                        <p:tgtEl>
                                          <p:spTgt spid="65"/>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66"/>
                                        </p:tgtEl>
                                        <p:attrNameLst>
                                          <p:attrName>style.visibility</p:attrName>
                                        </p:attrNameLst>
                                      </p:cBhvr>
                                      <p:to>
                                        <p:strVal val="visible"/>
                                      </p:to>
                                    </p:set>
                                    <p:animEffect transition="in" filter="fade">
                                      <p:cBhvr>
                                        <p:cTn id="196" dur="500"/>
                                        <p:tgtEl>
                                          <p:spTgt spid="66"/>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67"/>
                                        </p:tgtEl>
                                        <p:attrNameLst>
                                          <p:attrName>style.visibility</p:attrName>
                                        </p:attrNameLst>
                                      </p:cBhvr>
                                      <p:to>
                                        <p:strVal val="visible"/>
                                      </p:to>
                                    </p:set>
                                    <p:animEffect transition="in" filter="fade">
                                      <p:cBhvr>
                                        <p:cTn id="199" dur="500"/>
                                        <p:tgtEl>
                                          <p:spTgt spid="67"/>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Effect transition="in" filter="fade">
                                      <p:cBhvr>
                                        <p:cTn id="202" dur="500"/>
                                        <p:tgtEl>
                                          <p:spTgt spid="68"/>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69"/>
                                        </p:tgtEl>
                                        <p:attrNameLst>
                                          <p:attrName>style.visibility</p:attrName>
                                        </p:attrNameLst>
                                      </p:cBhvr>
                                      <p:to>
                                        <p:strVal val="visible"/>
                                      </p:to>
                                    </p:set>
                                    <p:animEffect transition="in" filter="fade">
                                      <p:cBhvr>
                                        <p:cTn id="205"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7" grpId="0" animBg="1"/>
      <p:bldP spid="48" grpId="0" animBg="1"/>
      <p:bldP spid="49" grpId="0" animBg="1"/>
      <p:bldP spid="50" grpId="0" animBg="1"/>
      <p:bldP spid="52" grpId="0" animBg="1"/>
      <p:bldP spid="53" grpId="0" animBg="1"/>
      <p:bldP spid="54" grpId="0" animBg="1"/>
      <p:bldP spid="55" grpId="0" animBg="1"/>
      <p:bldP spid="57" grpId="0" animBg="1"/>
      <p:bldP spid="58" grpId="0" animBg="1"/>
      <p:bldP spid="59" grpId="0" animBg="1"/>
      <p:bldP spid="60"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rgbClr val="1B2333"/>
                </a:solidFill>
                <a:latin typeface="Cambria" pitchFamily="34" charset="0"/>
                <a:ea typeface="Cambria" pitchFamily="34" charset="-122"/>
                <a:cs typeface="Cambria" pitchFamily="34" charset="-120"/>
              </a:rPr>
              <a:t>Limites et perspectives</a:t>
            </a:r>
            <a:endParaRPr lang="en-US" sz="3400" dirty="0"/>
          </a:p>
        </p:txBody>
      </p:sp>
      <p:sp>
        <p:nvSpPr>
          <p:cNvPr id="3"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5B6577"/>
                </a:solidFill>
                <a:latin typeface="Calibri" pitchFamily="34" charset="0"/>
                <a:ea typeface="Calibri" pitchFamily="34" charset="-122"/>
                <a:cs typeface="Calibri" pitchFamily="34" charset="-120"/>
              </a:rPr>
              <a:t>15</a:t>
            </a:r>
            <a:endParaRPr lang="en-US" sz="1100" dirty="0"/>
          </a:p>
        </p:txBody>
      </p:sp>
      <p:sp>
        <p:nvSpPr>
          <p:cNvPr id="4" name="a1_h"/>
          <p:cNvSpPr txBox="1"/>
          <p:nvPr/>
        </p:nvSpPr>
        <p:spPr>
          <a:xfrm>
            <a:off x="640080" y="1280160"/>
            <a:ext cx="5120640" cy="457200"/>
          </a:xfrm>
          <a:prstGeom prst="rect">
            <a:avLst/>
          </a:prstGeom>
          <a:noFill/>
          <a:ln/>
        </p:spPr>
        <p:txBody>
          <a:bodyPr wrap="square" lIns="0" tIns="0" rIns="0" bIns="0" rtlCol="0" anchor="ctr"/>
          <a:lstStyle/>
          <a:p>
            <a:pPr indent="0" marL="0">
              <a:buNone/>
            </a:pPr>
            <a:r>
              <a:rPr lang="en-US" sz="2200" b="1" dirty="0">
                <a:solidFill>
                  <a:srgbClr val="F2545B"/>
                </a:solidFill>
                <a:latin typeface="Cambria" pitchFamily="34" charset="0"/>
                <a:ea typeface="Cambria" pitchFamily="34" charset="-122"/>
                <a:cs typeface="Cambria" pitchFamily="34" charset="-120"/>
              </a:rPr>
              <a:t>Limites</a:t>
            </a:r>
            <a:endParaRPr lang="en-US" sz="2200" dirty="0"/>
          </a:p>
        </p:txBody>
      </p:sp>
      <p:sp>
        <p:nvSpPr>
          <p:cNvPr id="5" name="a2_i_disc"/>
          <p:cNvSpPr/>
          <p:nvPr/>
        </p:nvSpPr>
        <p:spPr>
          <a:xfrm>
            <a:off x="640080" y="1920240"/>
            <a:ext cx="777240" cy="777240"/>
          </a:xfrm>
          <a:prstGeom prst="ellipse">
            <a:avLst/>
          </a:prstGeom>
          <a:solidFill>
            <a:srgbClr val="F2545B"/>
          </a:solidFill>
          <a:ln w="12700">
            <a:solidFill>
              <a:srgbClr val="F2545B"/>
            </a:solidFill>
            <a:prstDash val="solid"/>
          </a:ln>
        </p:spPr>
      </p:sp>
      <p:pic>
        <p:nvPicPr>
          <p:cNvPr id="6" name="a2_i_icon" descr="preencoded.png">    </p:cNvPr>
          <p:cNvPicPr>
            <a:picLocks noChangeAspect="1"/>
          </p:cNvPicPr>
          <p:nvPr/>
        </p:nvPicPr>
        <p:blipFill>
          <a:blip r:embed="rId1"/>
          <a:stretch>
            <a:fillRect/>
          </a:stretch>
        </p:blipFill>
        <p:spPr>
          <a:xfrm>
            <a:off x="826618" y="2106778"/>
            <a:ext cx="404165" cy="404165"/>
          </a:xfrm>
          <a:prstGeom prst="rect">
            <a:avLst/>
          </a:prstGeom>
        </p:spPr>
      </p:pic>
      <p:sp>
        <p:nvSpPr>
          <p:cNvPr id="7" name="a2_t"/>
          <p:cNvSpPr txBox="1"/>
          <p:nvPr/>
        </p:nvSpPr>
        <p:spPr>
          <a:xfrm>
            <a:off x="1600200" y="1920240"/>
            <a:ext cx="4297680" cy="41148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Données simulées</a:t>
            </a:r>
            <a:endParaRPr lang="en-US" sz="1800" dirty="0"/>
          </a:p>
        </p:txBody>
      </p:sp>
      <p:sp>
        <p:nvSpPr>
          <p:cNvPr id="8" name="a2_d"/>
          <p:cNvSpPr txBox="1"/>
          <p:nvPr/>
        </p:nvSpPr>
        <p:spPr>
          <a:xfrm>
            <a:off x="1600200" y="2331720"/>
            <a:ext cx="4297680" cy="54864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les scores mesurent la capacité à retrouver les motifs du générateur</a:t>
            </a:r>
            <a:endParaRPr lang="en-US" sz="1500" dirty="0"/>
          </a:p>
        </p:txBody>
      </p:sp>
      <p:sp>
        <p:nvSpPr>
          <p:cNvPr id="9" name="a3_i_disc"/>
          <p:cNvSpPr/>
          <p:nvPr/>
        </p:nvSpPr>
        <p:spPr>
          <a:xfrm>
            <a:off x="640080" y="3291840"/>
            <a:ext cx="777240" cy="777240"/>
          </a:xfrm>
          <a:prstGeom prst="ellipse">
            <a:avLst/>
          </a:prstGeom>
          <a:solidFill>
            <a:srgbClr val="F2545B"/>
          </a:solidFill>
          <a:ln w="12700">
            <a:solidFill>
              <a:srgbClr val="F2545B"/>
            </a:solidFill>
            <a:prstDash val="solid"/>
          </a:ln>
        </p:spPr>
      </p:sp>
      <p:pic>
        <p:nvPicPr>
          <p:cNvPr id="10" name="a3_i_icon" descr="preencoded.png">    </p:cNvPr>
          <p:cNvPicPr>
            <a:picLocks noChangeAspect="1"/>
          </p:cNvPicPr>
          <p:nvPr/>
        </p:nvPicPr>
        <p:blipFill>
          <a:blip r:embed="rId2"/>
          <a:stretch>
            <a:fillRect/>
          </a:stretch>
        </p:blipFill>
        <p:spPr>
          <a:xfrm>
            <a:off x="826618" y="3478378"/>
            <a:ext cx="404165" cy="404165"/>
          </a:xfrm>
          <a:prstGeom prst="rect">
            <a:avLst/>
          </a:prstGeom>
        </p:spPr>
      </p:pic>
      <p:sp>
        <p:nvSpPr>
          <p:cNvPr id="11" name="a3_t"/>
          <p:cNvSpPr txBox="1"/>
          <p:nvPr/>
        </p:nvSpPr>
        <p:spPr>
          <a:xfrm>
            <a:off x="1600200" y="3291840"/>
            <a:ext cx="4297680" cy="41148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Règles propres à IBM</a:t>
            </a:r>
            <a:endParaRPr lang="en-US" sz="1800" dirty="0"/>
          </a:p>
        </p:txBody>
      </p:sp>
      <p:sp>
        <p:nvSpPr>
          <p:cNvPr id="12" name="a3_d"/>
          <p:cNvSpPr txBox="1"/>
          <p:nvPr/>
        </p:nvSpPr>
        <p:spPr>
          <a:xfrm>
            <a:off x="1600200" y="3703320"/>
            <a:ext cx="4297680" cy="54864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ACH seul, pas de multi-devises : à revoir sur données réelles</a:t>
            </a:r>
            <a:endParaRPr lang="en-US" sz="1500" dirty="0"/>
          </a:p>
        </p:txBody>
      </p:sp>
      <p:sp>
        <p:nvSpPr>
          <p:cNvPr id="13" name="a4_i_disc"/>
          <p:cNvSpPr/>
          <p:nvPr/>
        </p:nvSpPr>
        <p:spPr>
          <a:xfrm>
            <a:off x="640080" y="4663440"/>
            <a:ext cx="777240" cy="777240"/>
          </a:xfrm>
          <a:prstGeom prst="ellipse">
            <a:avLst/>
          </a:prstGeom>
          <a:solidFill>
            <a:srgbClr val="F2545B"/>
          </a:solidFill>
          <a:ln w="12700">
            <a:solidFill>
              <a:srgbClr val="F2545B"/>
            </a:solidFill>
            <a:prstDash val="solid"/>
          </a:ln>
        </p:spPr>
      </p:sp>
      <p:pic>
        <p:nvPicPr>
          <p:cNvPr id="14" name="a4_i_icon" descr="preencoded.png">    </p:cNvPr>
          <p:cNvPicPr>
            <a:picLocks noChangeAspect="1"/>
          </p:cNvPicPr>
          <p:nvPr/>
        </p:nvPicPr>
        <p:blipFill>
          <a:blip r:embed="rId3"/>
          <a:stretch>
            <a:fillRect/>
          </a:stretch>
        </p:blipFill>
        <p:spPr>
          <a:xfrm>
            <a:off x="826618" y="4849978"/>
            <a:ext cx="404165" cy="404165"/>
          </a:xfrm>
          <a:prstGeom prst="rect">
            <a:avLst/>
          </a:prstGeom>
        </p:spPr>
      </p:pic>
      <p:sp>
        <p:nvSpPr>
          <p:cNvPr id="15" name="a4_t"/>
          <p:cNvSpPr txBox="1"/>
          <p:nvPr/>
        </p:nvSpPr>
        <p:spPr>
          <a:xfrm>
            <a:off x="1600200" y="4663440"/>
            <a:ext cx="4297680" cy="41148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36 % hors motif</a:t>
            </a:r>
            <a:endParaRPr lang="en-US" sz="1800" dirty="0"/>
          </a:p>
        </p:txBody>
      </p:sp>
      <p:sp>
        <p:nvSpPr>
          <p:cNvPr id="16" name="a4_d"/>
          <p:cNvSpPr txBox="1"/>
          <p:nvPr/>
        </p:nvSpPr>
        <p:spPr>
          <a:xfrm>
            <a:off x="1600200" y="5074920"/>
            <a:ext cx="4297680" cy="54864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aucune règle ne peut voir ce blanchiment</a:t>
            </a:r>
            <a:endParaRPr lang="en-US" sz="1500" dirty="0"/>
          </a:p>
        </p:txBody>
      </p:sp>
      <p:sp>
        <p:nvSpPr>
          <p:cNvPr id="17" name="a5_h"/>
          <p:cNvSpPr txBox="1"/>
          <p:nvPr/>
        </p:nvSpPr>
        <p:spPr>
          <a:xfrm>
            <a:off x="6309360" y="1280160"/>
            <a:ext cx="5120640" cy="457200"/>
          </a:xfrm>
          <a:prstGeom prst="rect">
            <a:avLst/>
          </a:prstGeom>
          <a:noFill/>
          <a:ln/>
        </p:spPr>
        <p:txBody>
          <a:bodyPr wrap="square" lIns="0" tIns="0" rIns="0" bIns="0" rtlCol="0" anchor="ctr"/>
          <a:lstStyle/>
          <a:p>
            <a:pPr indent="0" marL="0">
              <a:buNone/>
            </a:pPr>
            <a:r>
              <a:rPr lang="en-US" sz="2200" b="1" dirty="0">
                <a:solidFill>
                  <a:srgbClr val="00A99D"/>
                </a:solidFill>
                <a:latin typeface="Cambria" pitchFamily="34" charset="0"/>
                <a:ea typeface="Cambria" pitchFamily="34" charset="-122"/>
                <a:cs typeface="Cambria" pitchFamily="34" charset="-120"/>
              </a:rPr>
              <a:t>Perspectives</a:t>
            </a:r>
            <a:endParaRPr lang="en-US" sz="2200" dirty="0"/>
          </a:p>
        </p:txBody>
      </p:sp>
      <p:sp>
        <p:nvSpPr>
          <p:cNvPr id="18" name="a6_i_disc"/>
          <p:cNvSpPr/>
          <p:nvPr/>
        </p:nvSpPr>
        <p:spPr>
          <a:xfrm>
            <a:off x="6309360" y="1920240"/>
            <a:ext cx="777240" cy="777240"/>
          </a:xfrm>
          <a:prstGeom prst="ellipse">
            <a:avLst/>
          </a:prstGeom>
          <a:solidFill>
            <a:srgbClr val="00A99D"/>
          </a:solidFill>
          <a:ln w="12700">
            <a:solidFill>
              <a:srgbClr val="00A99D"/>
            </a:solidFill>
            <a:prstDash val="solid"/>
          </a:ln>
        </p:spPr>
      </p:sp>
      <p:pic>
        <p:nvPicPr>
          <p:cNvPr id="19" name="a6_i_icon" descr="preencoded.png">    </p:cNvPr>
          <p:cNvPicPr>
            <a:picLocks noChangeAspect="1"/>
          </p:cNvPicPr>
          <p:nvPr/>
        </p:nvPicPr>
        <p:blipFill>
          <a:blip r:embed="rId4"/>
          <a:stretch>
            <a:fillRect/>
          </a:stretch>
        </p:blipFill>
        <p:spPr>
          <a:xfrm>
            <a:off x="6495898" y="2106778"/>
            <a:ext cx="404165" cy="404165"/>
          </a:xfrm>
          <a:prstGeom prst="rect">
            <a:avLst/>
          </a:prstGeom>
        </p:spPr>
      </p:pic>
      <p:sp>
        <p:nvSpPr>
          <p:cNvPr id="20" name="a6_t"/>
          <p:cNvSpPr txBox="1"/>
          <p:nvPr/>
        </p:nvSpPr>
        <p:spPr>
          <a:xfrm>
            <a:off x="7269480" y="1920240"/>
            <a:ext cx="4297680" cy="41148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GNN temporels et hétérogènes</a:t>
            </a:r>
            <a:endParaRPr lang="en-US" sz="1800" dirty="0"/>
          </a:p>
        </p:txBody>
      </p:sp>
      <p:sp>
        <p:nvSpPr>
          <p:cNvPr id="21" name="a6_d"/>
          <p:cNvSpPr txBox="1"/>
          <p:nvPr/>
        </p:nvSpPr>
        <p:spPr>
          <a:xfrm>
            <a:off x="7269480" y="2331720"/>
            <a:ext cx="4297680" cy="54864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suivre l'évolution des comptes</a:t>
            </a:r>
            <a:endParaRPr lang="en-US" sz="1500" dirty="0"/>
          </a:p>
        </p:txBody>
      </p:sp>
      <p:sp>
        <p:nvSpPr>
          <p:cNvPr id="22" name="a7_i_disc"/>
          <p:cNvSpPr/>
          <p:nvPr/>
        </p:nvSpPr>
        <p:spPr>
          <a:xfrm>
            <a:off x="6309360" y="3291840"/>
            <a:ext cx="777240" cy="777240"/>
          </a:xfrm>
          <a:prstGeom prst="ellipse">
            <a:avLst/>
          </a:prstGeom>
          <a:solidFill>
            <a:srgbClr val="00A99D"/>
          </a:solidFill>
          <a:ln w="12700">
            <a:solidFill>
              <a:srgbClr val="00A99D"/>
            </a:solidFill>
            <a:prstDash val="solid"/>
          </a:ln>
        </p:spPr>
      </p:sp>
      <p:pic>
        <p:nvPicPr>
          <p:cNvPr id="23" name="a7_i_icon" descr="preencoded.png">    </p:cNvPr>
          <p:cNvPicPr>
            <a:picLocks noChangeAspect="1"/>
          </p:cNvPicPr>
          <p:nvPr/>
        </p:nvPicPr>
        <p:blipFill>
          <a:blip r:embed="rId5"/>
          <a:stretch>
            <a:fillRect/>
          </a:stretch>
        </p:blipFill>
        <p:spPr>
          <a:xfrm>
            <a:off x="6495898" y="3478378"/>
            <a:ext cx="404165" cy="404165"/>
          </a:xfrm>
          <a:prstGeom prst="rect">
            <a:avLst/>
          </a:prstGeom>
        </p:spPr>
      </p:pic>
      <p:sp>
        <p:nvSpPr>
          <p:cNvPr id="24" name="a7_t"/>
          <p:cNvSpPr txBox="1"/>
          <p:nvPr/>
        </p:nvSpPr>
        <p:spPr>
          <a:xfrm>
            <a:off x="7269480" y="3291840"/>
            <a:ext cx="4297680" cy="41148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Apprentissage fédéré</a:t>
            </a:r>
            <a:endParaRPr lang="en-US" sz="1800" dirty="0"/>
          </a:p>
        </p:txBody>
      </p:sp>
      <p:sp>
        <p:nvSpPr>
          <p:cNvPr id="25" name="a7_d"/>
          <p:cNvSpPr txBox="1"/>
          <p:nvPr/>
        </p:nvSpPr>
        <p:spPr>
          <a:xfrm>
            <a:off x="7269480" y="3703320"/>
            <a:ext cx="4297680" cy="54864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plusieurs banques sans partager leurs données</a:t>
            </a:r>
            <a:endParaRPr lang="en-US" sz="1500" dirty="0"/>
          </a:p>
        </p:txBody>
      </p:sp>
      <p:sp>
        <p:nvSpPr>
          <p:cNvPr id="26" name="a8_i_disc"/>
          <p:cNvSpPr/>
          <p:nvPr/>
        </p:nvSpPr>
        <p:spPr>
          <a:xfrm>
            <a:off x="6309360" y="4663440"/>
            <a:ext cx="777240" cy="777240"/>
          </a:xfrm>
          <a:prstGeom prst="ellipse">
            <a:avLst/>
          </a:prstGeom>
          <a:solidFill>
            <a:srgbClr val="00A99D"/>
          </a:solidFill>
          <a:ln w="12700">
            <a:solidFill>
              <a:srgbClr val="00A99D"/>
            </a:solidFill>
            <a:prstDash val="solid"/>
          </a:ln>
        </p:spPr>
      </p:sp>
      <p:pic>
        <p:nvPicPr>
          <p:cNvPr id="27" name="a8_i_icon" descr="preencoded.png">    </p:cNvPr>
          <p:cNvPicPr>
            <a:picLocks noChangeAspect="1"/>
          </p:cNvPicPr>
          <p:nvPr/>
        </p:nvPicPr>
        <p:blipFill>
          <a:blip r:embed="rId6"/>
          <a:stretch>
            <a:fillRect/>
          </a:stretch>
        </p:blipFill>
        <p:spPr>
          <a:xfrm>
            <a:off x="6495898" y="4849978"/>
            <a:ext cx="404165" cy="404165"/>
          </a:xfrm>
          <a:prstGeom prst="rect">
            <a:avLst/>
          </a:prstGeom>
        </p:spPr>
      </p:pic>
      <p:sp>
        <p:nvSpPr>
          <p:cNvPr id="28" name="a8_t"/>
          <p:cNvSpPr txBox="1"/>
          <p:nvPr/>
        </p:nvSpPr>
        <p:spPr>
          <a:xfrm>
            <a:off x="7269480" y="4663440"/>
            <a:ext cx="4297680" cy="411480"/>
          </a:xfrm>
          <a:prstGeom prst="rect">
            <a:avLst/>
          </a:prstGeom>
          <a:noFill/>
          <a:ln/>
        </p:spPr>
        <p:txBody>
          <a:bodyPr wrap="square" lIns="0" tIns="0" rIns="0" bIns="0" rtlCol="0" anchor="ctr"/>
          <a:lstStyle/>
          <a:p>
            <a:pPr indent="0" marL="0">
              <a:buNone/>
            </a:pPr>
            <a:r>
              <a:rPr lang="en-US" sz="1800" b="1" dirty="0">
                <a:solidFill>
                  <a:srgbClr val="1B2333"/>
                </a:solidFill>
                <a:latin typeface="Calibri" pitchFamily="34" charset="0"/>
                <a:ea typeface="Calibri" pitchFamily="34" charset="-122"/>
                <a:cs typeface="Calibri" pitchFamily="34" charset="-120"/>
              </a:rPr>
              <a:t>Données réelles</a:t>
            </a:r>
            <a:endParaRPr lang="en-US" sz="1800" dirty="0"/>
          </a:p>
        </p:txBody>
      </p:sp>
      <p:sp>
        <p:nvSpPr>
          <p:cNvPr id="29" name="a8_d"/>
          <p:cNvSpPr txBox="1"/>
          <p:nvPr/>
        </p:nvSpPr>
        <p:spPr>
          <a:xfrm>
            <a:off x="7269480" y="5074920"/>
            <a:ext cx="4297680" cy="54864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validation avec une institution partenaire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7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1050"/>
                            </p:stCondLst>
                            <p:childTnLst>
                              <p:par>
                                <p:cTn id="35" presetID="10"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par>
                          <p:cTn id="47" fill="hold">
                            <p:stCondLst>
                              <p:cond delay="1400"/>
                            </p:stCondLst>
                            <p:childTnLst>
                              <p:par>
                                <p:cTn id="48" presetID="10"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par>
                          <p:cTn id="51" fill="hold">
                            <p:stCondLst>
                              <p:cond delay="1750"/>
                            </p:stCondLst>
                            <p:childTnLst>
                              <p:par>
                                <p:cTn id="52" presetID="10" presetClass="entr" presetSubtype="0"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par>
                          <p:cTn id="64" fill="hold">
                            <p:stCondLst>
                              <p:cond delay="2100"/>
                            </p:stCondLst>
                            <p:childTnLst>
                              <p:par>
                                <p:cTn id="65" presetID="10" presetClass="entr" presetSubtype="0"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childTnLst>
                          </p:cTn>
                        </p:par>
                        <p:par>
                          <p:cTn id="77" fill="hold">
                            <p:stCondLst>
                              <p:cond delay="2450"/>
                            </p:stCondLst>
                            <p:childTnLst>
                              <p:par>
                                <p:cTn id="78" presetID="10" presetClass="entr" presetSubtype="0" fill="hold" grpId="0" nodeType="after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A"/>
        </a:solidFill>
      </p:bgPr>
    </p:bg>
    <p:spTree>
      <p:nvGrpSpPr>
        <p:cNvPr id="1" name=""/>
        <p:cNvGrpSpPr/>
        <p:nvPr/>
      </p:nvGrpSpPr>
      <p:grpSpPr>
        <a:xfrm>
          <a:off x="0" y="0"/>
          <a:ext cx="0" cy="0"/>
          <a:chOff x="0" y="0"/>
          <a:chExt cx="0" cy="0"/>
        </a:xfrm>
      </p:grpSpPr>
      <p:sp>
        <p:nvSpPr>
          <p:cNvPr id="2" name="page"/>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100" dirty="0">
                <a:solidFill>
                  <a:srgbClr val="C9D3E6"/>
                </a:solidFill>
                <a:latin typeface="Calibri" pitchFamily="34" charset="0"/>
                <a:ea typeface="Calibri" pitchFamily="34" charset="-122"/>
                <a:cs typeface="Calibri" pitchFamily="34" charset="-120"/>
              </a:rPr>
              <a:t>16</a:t>
            </a:r>
            <a:endParaRPr lang="en-US" sz="1100" dirty="0"/>
          </a:p>
        </p:txBody>
      </p:sp>
      <p:sp>
        <p:nvSpPr>
          <p:cNvPr id="3" name="a1_loop_e0"/>
          <p:cNvSpPr/>
          <p:nvPr/>
        </p:nvSpPr>
        <p:spPr>
          <a:xfrm flipV="1">
            <a:off x="8829013" y="1049833"/>
            <a:ext cx="1084760" cy="723173"/>
          </a:xfrm>
          <a:prstGeom prst="line">
            <a:avLst/>
          </a:prstGeom>
          <a:noFill/>
          <a:ln w="22225">
            <a:solidFill>
              <a:srgbClr val="8A95A8"/>
            </a:solidFill>
            <a:prstDash val="solid"/>
            <a:tailEnd type="triangle"/>
          </a:ln>
        </p:spPr>
      </p:sp>
      <p:sp>
        <p:nvSpPr>
          <p:cNvPr id="4" name="a1_loop_e1"/>
          <p:cNvSpPr/>
          <p:nvPr/>
        </p:nvSpPr>
        <p:spPr>
          <a:xfrm>
            <a:off x="10096371" y="1039688"/>
            <a:ext cx="1084760" cy="723173"/>
          </a:xfrm>
          <a:prstGeom prst="line">
            <a:avLst/>
          </a:prstGeom>
          <a:noFill/>
          <a:ln w="22225">
            <a:solidFill>
              <a:srgbClr val="8A95A8"/>
            </a:solidFill>
            <a:prstDash val="solid"/>
            <a:tailEnd type="triangle"/>
          </a:ln>
        </p:spPr>
      </p:sp>
      <p:sp>
        <p:nvSpPr>
          <p:cNvPr id="5" name="a1_loop_e2"/>
          <p:cNvSpPr/>
          <p:nvPr/>
        </p:nvSpPr>
        <p:spPr>
          <a:xfrm flipH="1">
            <a:off x="10111587" y="1884594"/>
            <a:ext cx="1084760" cy="723173"/>
          </a:xfrm>
          <a:prstGeom prst="line">
            <a:avLst/>
          </a:prstGeom>
          <a:noFill/>
          <a:ln w="22225">
            <a:solidFill>
              <a:srgbClr val="8A95A8"/>
            </a:solidFill>
            <a:prstDash val="solid"/>
            <a:tailEnd type="triangle"/>
          </a:ln>
        </p:spPr>
      </p:sp>
      <p:sp>
        <p:nvSpPr>
          <p:cNvPr id="6" name="a1_loop_e3"/>
          <p:cNvSpPr/>
          <p:nvPr/>
        </p:nvSpPr>
        <p:spPr>
          <a:xfrm flipH="1" flipV="1">
            <a:off x="8844229" y="1894738"/>
            <a:ext cx="1084760" cy="723173"/>
          </a:xfrm>
          <a:prstGeom prst="line">
            <a:avLst/>
          </a:prstGeom>
          <a:noFill/>
          <a:ln w="22225">
            <a:solidFill>
              <a:srgbClr val="8A95A8"/>
            </a:solidFill>
            <a:prstDash val="solid"/>
            <a:tailEnd type="triangle"/>
          </a:ln>
        </p:spPr>
      </p:sp>
      <p:sp>
        <p:nvSpPr>
          <p:cNvPr id="7" name="a1_loop_n0"/>
          <p:cNvSpPr/>
          <p:nvPr/>
        </p:nvSpPr>
        <p:spPr>
          <a:xfrm>
            <a:off x="8644738" y="1728216"/>
            <a:ext cx="201168" cy="201168"/>
          </a:xfrm>
          <a:prstGeom prst="ellipse">
            <a:avLst/>
          </a:prstGeom>
          <a:solidFill>
            <a:srgbClr val="F2545B"/>
          </a:solidFill>
          <a:ln w="19050">
            <a:solidFill>
              <a:srgbClr val="FFFFFF"/>
            </a:solidFill>
            <a:prstDash val="solid"/>
          </a:ln>
        </p:spPr>
      </p:sp>
      <p:sp>
        <p:nvSpPr>
          <p:cNvPr id="8" name="a1_loop_n1"/>
          <p:cNvSpPr/>
          <p:nvPr/>
        </p:nvSpPr>
        <p:spPr>
          <a:xfrm>
            <a:off x="9912096" y="883310"/>
            <a:ext cx="201168" cy="201168"/>
          </a:xfrm>
          <a:prstGeom prst="ellipse">
            <a:avLst/>
          </a:prstGeom>
          <a:solidFill>
            <a:srgbClr val="F2545B"/>
          </a:solidFill>
          <a:ln w="19050">
            <a:solidFill>
              <a:srgbClr val="FFFFFF"/>
            </a:solidFill>
            <a:prstDash val="solid"/>
          </a:ln>
        </p:spPr>
      </p:sp>
      <p:sp>
        <p:nvSpPr>
          <p:cNvPr id="9" name="a1_loop_n2"/>
          <p:cNvSpPr/>
          <p:nvPr/>
        </p:nvSpPr>
        <p:spPr>
          <a:xfrm>
            <a:off x="11179454" y="1728216"/>
            <a:ext cx="201168" cy="201168"/>
          </a:xfrm>
          <a:prstGeom prst="ellipse">
            <a:avLst/>
          </a:prstGeom>
          <a:solidFill>
            <a:srgbClr val="F2545B"/>
          </a:solidFill>
          <a:ln w="19050">
            <a:solidFill>
              <a:srgbClr val="FFFFFF"/>
            </a:solidFill>
            <a:prstDash val="solid"/>
          </a:ln>
        </p:spPr>
      </p:sp>
      <p:sp>
        <p:nvSpPr>
          <p:cNvPr id="10" name="a1_loop_n3"/>
          <p:cNvSpPr/>
          <p:nvPr/>
        </p:nvSpPr>
        <p:spPr>
          <a:xfrm>
            <a:off x="9912096" y="2573122"/>
            <a:ext cx="201168" cy="201168"/>
          </a:xfrm>
          <a:prstGeom prst="ellipse">
            <a:avLst/>
          </a:prstGeom>
          <a:solidFill>
            <a:srgbClr val="F5B700"/>
          </a:solidFill>
          <a:ln w="19050">
            <a:solidFill>
              <a:srgbClr val="FFFFFF"/>
            </a:solidFill>
            <a:prstDash val="solid"/>
          </a:ln>
        </p:spPr>
      </p:sp>
      <p:sp>
        <p:nvSpPr>
          <p:cNvPr id="11" name="a2_t"/>
          <p:cNvSpPr txBox="1"/>
          <p:nvPr/>
        </p:nvSpPr>
        <p:spPr>
          <a:xfrm>
            <a:off x="640080" y="1828800"/>
            <a:ext cx="7315200" cy="118872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Merci</a:t>
            </a:r>
            <a:endParaRPr lang="en-US" sz="6600" dirty="0"/>
          </a:p>
        </p:txBody>
      </p:sp>
      <p:sp>
        <p:nvSpPr>
          <p:cNvPr id="12" name="a3_q"/>
          <p:cNvSpPr txBox="1"/>
          <p:nvPr/>
        </p:nvSpPr>
        <p:spPr>
          <a:xfrm>
            <a:off x="640080" y="3017520"/>
            <a:ext cx="7315200" cy="822960"/>
          </a:xfrm>
          <a:prstGeom prst="rect">
            <a:avLst/>
          </a:prstGeom>
          <a:noFill/>
          <a:ln/>
        </p:spPr>
        <p:txBody>
          <a:bodyPr wrap="square" lIns="0" tIns="0" rIns="0" bIns="0" rtlCol="0" anchor="ctr"/>
          <a:lstStyle/>
          <a:p>
            <a:pPr indent="0" marL="0">
              <a:buNone/>
            </a:pPr>
            <a:r>
              <a:rPr lang="en-US" sz="3200" dirty="0">
                <a:solidFill>
                  <a:srgbClr val="7FE3D8"/>
                </a:solidFill>
                <a:latin typeface="Calibri" pitchFamily="34" charset="0"/>
                <a:ea typeface="Calibri" pitchFamily="34" charset="-122"/>
                <a:cs typeface="Calibri" pitchFamily="34" charset="-120"/>
              </a:rPr>
              <a:t>Questions ?</a:t>
            </a:r>
            <a:endParaRPr lang="en-US" sz="3200" dirty="0"/>
          </a:p>
        </p:txBody>
      </p:sp>
      <p:sp>
        <p:nvSpPr>
          <p:cNvPr id="13" name="a4_c"/>
          <p:cNvSpPr/>
          <p:nvPr/>
        </p:nvSpPr>
        <p:spPr>
          <a:xfrm>
            <a:off x="640080" y="4480560"/>
            <a:ext cx="7498080" cy="914400"/>
          </a:xfrm>
          <a:prstGeom prst="roundRect">
            <a:avLst>
              <a:gd name="adj" fmla="val 12000"/>
            </a:avLst>
          </a:prstGeom>
          <a:solidFill>
            <a:srgbClr val="16305C"/>
          </a:solidFill>
          <a:ln w="12700">
            <a:solidFill>
              <a:srgbClr val="16305C"/>
            </a:solidFill>
            <a:prstDash val="solid"/>
          </a:ln>
          <a:effectLst>
            <a:outerShdw sx="100000" sy="100000" kx="0" ky="0" algn="bl" rotWithShape="0" blurRad="76200" dist="25400" dir="5400000">
              <a:srgbClr val="9AA7BD">
                <a:alpha val="35000"/>
              </a:srgbClr>
            </a:outerShdw>
          </a:effectLst>
        </p:spPr>
      </p:sp>
      <p:sp>
        <p:nvSpPr>
          <p:cNvPr id="14" name="a4_cmd"/>
          <p:cNvSpPr txBox="1"/>
          <p:nvPr/>
        </p:nvSpPr>
        <p:spPr>
          <a:xfrm>
            <a:off x="868680" y="4480560"/>
            <a:ext cx="7132320" cy="914400"/>
          </a:xfrm>
          <a:prstGeom prst="rect">
            <a:avLst/>
          </a:prstGeom>
          <a:noFill/>
          <a:ln/>
        </p:spPr>
        <p:txBody>
          <a:bodyPr wrap="square" lIns="0" tIns="0" rIns="0" bIns="0" rtlCol="0" anchor="ctr"/>
          <a:lstStyle/>
          <a:p>
            <a:pPr indent="0" marL="0">
              <a:buNone/>
            </a:pPr>
            <a:r>
              <a:rPr lang="en-US" sz="2200" dirty="0">
                <a:solidFill>
                  <a:srgbClr val="F5B700"/>
                </a:solidFill>
                <a:latin typeface="Courier New" pitchFamily="34" charset="0"/>
                <a:ea typeface="Courier New" pitchFamily="34" charset="-122"/>
                <a:cs typeface="Courier New" pitchFamily="34" charset="-120"/>
              </a:rPr>
              <a:t>amlgm serve --demo --open-browser</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29" fill="hold">
                            <p:stCondLst>
                              <p:cond delay="35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33" fill="hold">
                            <p:stCondLst>
                              <p:cond delay="7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37" fill="hold">
                            <p:stCondLst>
                              <p:cond delay="105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AML-GraphMiner — soutenance</dc:title>
  <dc:subject>PptxGenJS Presentation</dc:subject>
  <dc:creator>AML-GraphMiner</dc:creator>
  <cp:lastModifiedBy>AML-GraphMiner</cp:lastModifiedBy>
  <cp:revision>1</cp:revision>
  <dcterms:created xsi:type="dcterms:W3CDTF">2026-10-29T03:26:33Z</dcterms:created>
  <dcterms:modified xsi:type="dcterms:W3CDTF">2026-10-29T03:26:33Z</dcterms:modified>
</cp:coreProperties>
</file>