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6984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800" b="1">
                <a:solidFill>
                  <a:srgbClr val="1F3A5F"/>
                </a:solidFill>
              </a:defRPr>
            </a:pPr>
            <a:r>
              <a:t>AML-GraphMiner</a:t>
            </a:r>
          </a:p>
          <a:p>
            <a:pPr>
              <a:defRPr sz="2600"/>
            </a:pPr>
            <a:r>
              <a:t>Détection explicable du blanchiment d'argent sur graphes de transactions</a:t>
            </a:r>
          </a:p>
          <a:p>
            <a:pPr>
              <a:defRPr sz="1800"/>
            </a:pPr>
            <a:r>
              <a:t>Motifs structurels · modèles tabulaires · GNN (GCN, GraphSAGE, GAT) · hybride · explicabilité</a:t>
            </a:r>
          </a:p>
          <a:p>
            <a:pPr>
              <a:defRPr sz="1600"/>
            </a:pPr>
            <a:r>
              <a:t>Projet de fin d'études — Unité de recherche Al-Khawarizmi, FST, Université de Nouakchott</a:t>
            </a:r>
          </a:p>
          <a:p>
            <a:pPr>
              <a:defRPr sz="1600"/>
            </a:pPr>
            <a:r>
              <a:t>[Nom de l'étudiant] — encadrant : Mohamedou El Ghotob Cheikh Tourad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Contexte et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Blanchiment : ≈ 1 600 Md USD en 2009, 2,7 % du PIB mondial (ONUDC 2011)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Obligation de détection et de déclaration : GAFI, directive UEMOA 02/2015, BCEAO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Aiguille dans une botte de foin : 0,10 % de transactions illicites dans IBM HI-Small (5 078 345 transactions)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Règles : trop de faux positifs ; GNN : peu reproductibles, peu explicables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Question : un outil ouvert, reproductible et explicable qui combine règles et GNN 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Objectifs du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O1 ingestion IBM AML / Elliptic / CSV → graphes (NetworkX, PyG), validation Pydantic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O2 motifs : fan-in/out, smurfing, cycles, scatter-gather, gather-scatter (+ communautés)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O3 GCN, GraphSAGE, GAT (+ auto-encodeur non supervisé)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O4 explicabilité : GNNExplainer, PGExplainer, Captum, attention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O5 évaluation : PR-AUC, F1, recall@k vs. RF / XGBoost — objectif PR-AUC &gt; 0,5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O6 interfaces : API REST, CLI, notebooks (+ interface web d'investigation)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Architecture en six couches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49377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Ingestion → caractéristiques → graphes → détecteurs → explicateurs → interfaces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Chaque couche ne dépend que des couches inférieures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PyTorch / FastAPI optionnels : le cœur tourne sur un portable sans GPU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Une interface commune pour tous les détecteurs : fit · score · save · load</a:t>
            </a:r>
          </a:p>
        </p:txBody>
      </p:sp>
      <p:pic>
        <p:nvPicPr>
          <p:cNvPr id="5" name="Picture 4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0895" y="1371600"/>
            <a:ext cx="6035040" cy="30175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Données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5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6060"/>
                <a:gridCol w="2766060"/>
                <a:gridCol w="2766060"/>
                <a:gridCol w="2766060"/>
              </a:tblGrid>
              <a:tr h="384048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IBM 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IBM 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Elliptic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transactions / nœuds étiquetés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5 078 345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6 924 049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26 381 (train) · 16 670 (test)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blanchiment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5 177 (0,10 %)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3 565 (0,05 %)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1 083 illicites dans le test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prévalence du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0,177 %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0,067 %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6,5 %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particularité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ACH : 0,746 % de blanchiment, ≤ 0,04 % ailleurs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motifs plus rares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graphe Bitcoin, 49 pas de temps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F6B"/>
                </a:solidFill>
              </a:defRPr>
            </a:pPr>
            <a:r>
              <a:t>Sources : results/eda-hi-small/EDA.md, results/eda-li-small/EDA.md, benchmarks/results/REPORT.md.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Protocole d'évaluation sans fuite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Découpage temporel 60 / 20 / 20 (jamais aléatoire)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Statistiques et vocabulaires ajustés sur l'entraînement seul ; fenêtres causales 1 h / 24 h / 7 j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Seuils de décision et réglages des motifs choisis sur la validation, figés pour le test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3 graines par modèle, moyenne ± écart-type, intervalles de confiance bootstrap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Des tests unitaires modifient le futur et vérifient que le passé ne bouge pas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Détecteurs de motifs : ce qui a été corrigé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Les motifs IBM changent de devise à presque chaque saut → conversion vers le dollar (taux déduits des transactions multi-devises, moindres carrés)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Ils durent 27 à 80 h, la validation ≈ 51 h → contexte des 4 jours précédents, sans étiquettes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Tous les motifs annotés sont des virements ACH → recherche limitée à l'ACH (choisie sur la validation)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Cycles jusqu'à 12 sauts, montants pouvant varier de −50 % à +50 % par saut (réglé sur la validation)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Chaque alerte garde ses preuves : comptes, transactions, montants convertis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Modèles appris et détecteur hybride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Bases tabulaires : régression logistique, forêt aléatoire, HistGB, XGBoost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GNN de classification d'arêtes : GCN, GraphSAGE, GAT (échantillonnage de voisinage, perte pondérée)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Auto-encodeur de graphe : apprend sans étiquettes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Hybride : régression logistique à 3 coefficients sur la validation (logit du modèle, score des motifs, motif déclenché)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Entraînement GPU gratuit : un noyau Kaggle privé par modèle (T4)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Résultats IBM AML (PR-AUC sur le test)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9</a:t>
            </a:r>
          </a:p>
        </p:txBody>
      </p:sp>
      <p:pic>
        <p:nvPicPr>
          <p:cNvPr id="4" name="Picture 3" descr="resultats_i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44933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F6B"/>
                </a:solidFill>
              </a:defRPr>
            </a:pPr>
            <a:r>
              <a:t>HI-Small : GraphSAGE 0.531 ± 0.022 &gt; objectif 0,5 ; LI-Small : forêt aléatoire 0.191 ± 0.007. Moyenne ± écart-type sur 3 graines ; ligne pointillée = objectif du CDC.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Hybride : modèle + motifs (même découpage, scores identiques)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280160"/>
          <a:ext cx="1106424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12848"/>
                <a:gridCol w="2212848"/>
                <a:gridCol w="2212848"/>
                <a:gridCol w="2212848"/>
                <a:gridCol w="2212848"/>
              </a:tblGrid>
              <a:tr h="384048"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jeu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modèle de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modèle seul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motifs seuls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500" b="1"/>
                      </a:pPr>
                      <a:r>
                        <a:t>hybride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Forêt aléatoire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0.562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0.484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0.545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0.340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0.527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Forêt aléatoire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0.186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HistGradientBoosting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0.113</a:t>
                      </a:r>
                    </a:p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LI-Small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GraphSAGE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400"/>
                      </a:pPr>
                      <a:r>
                        <a:t>0.168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0350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555F6B"/>
                </a:solidFill>
              </a:defRPr>
            </a:pPr>
            <a:r>
              <a:t>PR-AUC sur le test ; modèles Kaggle sauvegardés (graine 0), empilement ajusté sur la validation.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Résultats Elliptic Bitcoin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11</a:t>
            </a:r>
          </a:p>
        </p:txBody>
      </p:sp>
      <p:pic>
        <p:nvPicPr>
          <p:cNvPr id="4" name="Picture 3" descr="resultats_ellip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10698480" cy="6419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12648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555F6B"/>
                </a:solidFill>
              </a:defRPr>
            </a:pPr>
            <a:r>
              <a:t>Sur Elliptic les arbres (≈ 0,79) dominent les GNN : l'outil rapporte toujours les deux.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Explicabilité : une alerte expliquée, et vérifiée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85216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Six méthodes, un même objet Explanation (JSON, Markdown, graphe) ; dossier d'alertes en lot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Mesure systématique de l'effet du voisinage sur le score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GraphSAGE HI-Small : 8 meilleures alertes à 0,988–1,000 avec voisinage, 0,960–1,000 sans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Retirer les 5 voisins clés de GNNExplainer ne change pas le score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→ PGExplainer rend des masques nuls (réponse fidèle) ; Captum est la vue utile</a:t>
            </a:r>
          </a:p>
        </p:txBody>
      </p:sp>
      <p:pic>
        <p:nvPicPr>
          <p:cNvPr id="5" name="Picture 4" descr="example_expla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5295" y="1371600"/>
            <a:ext cx="5120640" cy="3413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Interfaces et qualité logicielle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Interface web d'investigation : tableau de bord, alertes et sous-graphes, comptes, exports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CLI amlgm (scan, train, explain --top, benchmark, serve…), API REST OpenAPI 3.1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MLflow, export Hugging Face Hub (fiche modèle), export Neo4j, Docker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Tests pytest + Hypothesis, couverture ≈ 98 %, ruff, mypy, Sphinx, nbval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Intégration continue GitHub Actions ; dépôt privé github.com/Abeidak/aml-graphminer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Bilan par rapport au cahier des charges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Atteint : O1–O6, PR-AUC &gt; 0,5 sur HI-Small (GraphSAGE), interface web, hybride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Non atteint : J2 (motifs seuls &gt; 0,5) — motifs 0.340 sur HI-Small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LI-Small reste difficile : meilleur modèle 0.191 ± 0.007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Reste à faire (comptes personnels) : dépôt public + Zenodo, PyPI, ReadTheDocs, Hub, soumission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Limites et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Données synthétiques : on mesure la capacité à retrouver les motifs du générateur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La restriction ACH est propre au simulateur IBM : à revoir sur données réelles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L'auto-encodeur signale l'inhabituel, pas l'illicite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Perspectives : GNN hétérogènes et temporels, multigraphes orientés, apprentissage fédéré multi-banques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Validation sur données réelles avec une institution partenaire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3A5F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400800"/>
            <a:ext cx="7315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/>
            </a:pPr>
            <a:r>
              <a:t>16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Un outil ouvert qui réunit règles, GNN, hybride et explications sous un protocole sans fuite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Des résultats mesurés et reproductibles, y compris les échecs (motifs, LI-Small)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Démonstration : amlgm serve --demo --open-browser</a:t>
            </a:r>
          </a:p>
          <a:p>
            <a:pPr>
              <a:spcAft>
                <a:spcPts val="600"/>
              </a:spcAft>
              <a:defRPr sz="2000">
                <a:solidFill>
                  <a:srgbClr val="000000"/>
                </a:solidFill>
              </a:defRPr>
            </a:pPr>
            <a:r>
              <a:t>• Merci —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