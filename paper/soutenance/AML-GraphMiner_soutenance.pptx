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B2333"/>
                </a:solidFill>
                <a:latin typeface="+mj-lt"/>
              </a:defRPr>
            </a:pPr>
            <a:r>
              <a:rPr sz="1600" b="0" i="0" u="none" strike="noStrike">
                <a:solidFill>
                  <a:srgbClr val="1B2333"/>
                </a:solidFill>
                <a:latin typeface="+mj-lt"/>
              </a:rPr>
              <a:t>HI-Small (0,18 % illicites)</a:t>
            </a:r>
          </a:p>
        </c:rich>
      </c:tx>
      <c:layout/>
      <c:overlay val="0"/>
    </c:title>
    <c:autoTitleDeleted val="0"/>
    <c:plotArea>
      <c:layout/>
      <c:barChart>
        <c:barDir val="bar"/>
        <c:grouping val="stacked"/>
        <c:varyColors val="0"/>
        <c:ser>
          <c:idx val="0"/>
          <c:order val="0"/>
          <c:tx>
            <c:strRef>
              <c:f>Sheet1!$B$1</c:f>
              <c:strCache>
                <c:ptCount val="1"/>
                <c:pt idx="0">
                  <c:v>Modèles appris</c:v>
                </c:pt>
              </c:strCache>
            </c:strRef>
          </c:tx>
          <c:spPr>
            <a:solidFill>
              <a:srgbClr val="00A99D"/>
            </a:solidFill>
            <a:effectLst/>
          </c:spPr>
          <c:invertIfNegative val="0"/>
          <c:dLbls>
            <c:numFmt formatCode="0.000;-0.00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Rég. logistique</c:v>
                  </c:pt>
                  <c:pt idx="1">
                    <c:v>GCN</c:v>
                  </c:pt>
                  <c:pt idx="2">
                    <c:v>GAT</c:v>
                  </c:pt>
                  <c:pt idx="3">
                    <c:v>XGBoost</c:v>
                  </c:pt>
                  <c:pt idx="4">
                    <c:v>HistGB</c:v>
                  </c:pt>
                  <c:pt idx="5">
                    <c:v>Forêt aléatoire</c:v>
                  </c:pt>
                  <c:pt idx="6">
                    <c:v>Motifs (règles)</c:v>
                  </c:pt>
                  <c:pt idx="7">
                    <c:v>GraphSAGE</c:v>
                  </c:pt>
                </c:lvl>
              </c:multiLvlStrCache>
            </c:multiLvlStrRef>
          </c:cat>
          <c:val>
            <c:numRef>
              <c:f>Sheet1!$B$2:$B$9</c:f>
              <c:numCache>
                <c:formatCode>General</c:formatCode>
                <c:ptCount val="8"/>
                <c:pt idx="0">
                  <c:v>0.294170107324845</c:v>
                </c:pt>
                <c:pt idx="1">
                  <c:v>0.3738948490218283</c:v>
                </c:pt>
                <c:pt idx="2">
                  <c:v>0.4470990823684044</c:v>
                </c:pt>
                <c:pt idx="3">
                  <c:v>0.47358813085077006</c:v>
                </c:pt>
                <c:pt idx="4">
                  <c:v>0.4758290215460221</c:v>
                </c:pt>
                <c:pt idx="5">
                  <c:v>0.499020026988468</c:v>
                </c:pt>
                <c:pt idx="6">
                  <c:v>0</c:v>
                </c:pt>
                <c:pt idx="7">
                  <c:v>0.5313052554701629</c:v>
                </c:pt>
              </c:numCache>
            </c:numRef>
          </c:val>
        </c:ser>
        <c:ser>
          <c:idx val="1"/>
          <c:order val="1"/>
          <c:tx>
            <c:strRef>
              <c:f>Sheet1!$C$1</c:f>
              <c:strCache>
                <c:ptCount val="1"/>
                <c:pt idx="0">
                  <c:v>Règles</c:v>
                </c:pt>
              </c:strCache>
            </c:strRef>
          </c:tx>
          <c:spPr>
            <a:solidFill>
              <a:srgbClr val="F2545B"/>
            </a:solidFill>
            <a:effectLst/>
          </c:spPr>
          <c:invertIfNegative val="0"/>
          <c:dLbls>
            <c:numFmt formatCode="0.000;-0.00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Rég. logistique</c:v>
                  </c:pt>
                  <c:pt idx="1">
                    <c:v>GCN</c:v>
                  </c:pt>
                  <c:pt idx="2">
                    <c:v>GAT</c:v>
                  </c:pt>
                  <c:pt idx="3">
                    <c:v>XGBoost</c:v>
                  </c:pt>
                  <c:pt idx="4">
                    <c:v>HistGB</c:v>
                  </c:pt>
                  <c:pt idx="5">
                    <c:v>Forêt aléatoire</c:v>
                  </c:pt>
                  <c:pt idx="6">
                    <c:v>Motifs (règles)</c:v>
                  </c:pt>
                  <c:pt idx="7">
                    <c:v>GraphSAGE</c:v>
                  </c:pt>
                </c:lvl>
              </c:multiLvlStrCache>
            </c:multiLvlStrRef>
          </c:cat>
          <c:val>
            <c:numRef>
              <c:f>Sheet1!$C$2:$C$9</c:f>
              <c:numCache>
                <c:formatCode>General</c:formatCode>
                <c:ptCount val="8"/>
                <c:pt idx="0">
                  <c:v>0</c:v>
                </c:pt>
                <c:pt idx="1">
                  <c:v>0</c:v>
                </c:pt>
                <c:pt idx="2">
                  <c:v>0</c:v>
                </c:pt>
                <c:pt idx="3">
                  <c:v>0</c:v>
                </c:pt>
                <c:pt idx="4">
                  <c:v>0</c:v>
                </c:pt>
                <c:pt idx="5">
                  <c:v>0</c:v>
                </c:pt>
                <c:pt idx="6">
                  <c:v>0.5031823547936786</c:v>
                </c:pt>
                <c:pt idx="7">
                  <c:v>0</c:v>
                </c:pt>
              </c:numCache>
            </c:numRef>
          </c:val>
        </c:ser>
        <c:dLbls>
          <c:numFmt formatCode="0.000;-0.00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2333"/>
                </a:solidFill>
                <a:latin typeface="+mn-lt"/>
              </a:defRPr>
            </a:pPr>
            <a:endParaRPr lang="en-US"/>
          </a:p>
        </c:txPr>
        <c:crossAx val="2094734552"/>
        <c:crosses val="autoZero"/>
        <c:auto val="1"/>
        <c:lblAlgn val="ctr"/>
        <c:noMultiLvlLbl val="1"/>
      </c:catAx>
      <c:valAx>
        <c:axId val="2094734552"/>
        <c:scaling>
          <c:orientation val="minMax"/>
          <c:max val="0.6"/>
          <c:min val="0"/>
        </c:scaling>
        <c:delete val="0"/>
        <c:axPos val="b"/>
        <c:majorGridlines>
          <c:spPr>
            <a:ln w="9525" cap="flat">
              <a:solidFill>
                <a:srgbClr val="E1E6EF"/>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577"/>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B2333"/>
                </a:solidFill>
                <a:latin typeface="+mj-lt"/>
              </a:defRPr>
            </a:pPr>
            <a:r>
              <a:rPr sz="1600" b="0" i="0" u="none" strike="noStrike">
                <a:solidFill>
                  <a:srgbClr val="1B2333"/>
                </a:solidFill>
                <a:latin typeface="+mj-lt"/>
              </a:rPr>
              <a:t>LI-Small (0,07 % illicites)</a:t>
            </a:r>
          </a:p>
        </c:rich>
      </c:tx>
      <c:layout/>
      <c:overlay val="0"/>
    </c:title>
    <c:autoTitleDeleted val="0"/>
    <c:plotArea>
      <c:layout/>
      <c:barChart>
        <c:barDir val="bar"/>
        <c:grouping val="stacked"/>
        <c:varyColors val="0"/>
        <c:ser>
          <c:idx val="0"/>
          <c:order val="0"/>
          <c:tx>
            <c:strRef>
              <c:f>Sheet1!$B$1</c:f>
              <c:strCache>
                <c:ptCount val="1"/>
                <c:pt idx="0">
                  <c:v>Modèles appris</c:v>
                </c:pt>
              </c:strCache>
            </c:strRef>
          </c:tx>
          <c:spPr>
            <a:solidFill>
              <a:srgbClr val="00A99D"/>
            </a:solidFill>
            <a:effectLst/>
          </c:spPr>
          <c:invertIfNegative val="0"/>
          <c:dLbls>
            <c:numFmt formatCode="0.000;-0.00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Rég. logistique</c:v>
                  </c:pt>
                  <c:pt idx="1">
                    <c:v>GCN</c:v>
                  </c:pt>
                  <c:pt idx="2">
                    <c:v>XGBoost</c:v>
                  </c:pt>
                  <c:pt idx="3">
                    <c:v>HistGB</c:v>
                  </c:pt>
                  <c:pt idx="4">
                    <c:v>GAT</c:v>
                  </c:pt>
                  <c:pt idx="5">
                    <c:v>GraphSAGE</c:v>
                  </c:pt>
                  <c:pt idx="6">
                    <c:v>Motifs (règles)</c:v>
                  </c:pt>
                  <c:pt idx="7">
                    <c:v>Forêt aléatoire</c:v>
                  </c:pt>
                </c:lvl>
              </c:multiLvlStrCache>
            </c:multiLvlStrRef>
          </c:cat>
          <c:val>
            <c:numRef>
              <c:f>Sheet1!$B$2:$B$9</c:f>
              <c:numCache>
                <c:formatCode>General</c:formatCode>
                <c:ptCount val="8"/>
                <c:pt idx="0">
                  <c:v>0.031961900860042</c:v>
                </c:pt>
                <c:pt idx="1">
                  <c:v>0.07387351913525057</c:v>
                </c:pt>
                <c:pt idx="2">
                  <c:v>0.07772090788865531</c:v>
                </c:pt>
                <c:pt idx="3">
                  <c:v>0.10632318391903367</c:v>
                </c:pt>
                <c:pt idx="4">
                  <c:v>0.11003164593814618</c:v>
                </c:pt>
                <c:pt idx="5">
                  <c:v>0.17640590227835298</c:v>
                </c:pt>
                <c:pt idx="6">
                  <c:v>0</c:v>
                </c:pt>
                <c:pt idx="7">
                  <c:v>0.1906257845083834</c:v>
                </c:pt>
              </c:numCache>
            </c:numRef>
          </c:val>
        </c:ser>
        <c:ser>
          <c:idx val="1"/>
          <c:order val="1"/>
          <c:tx>
            <c:strRef>
              <c:f>Sheet1!$C$1</c:f>
              <c:strCache>
                <c:ptCount val="1"/>
                <c:pt idx="0">
                  <c:v>Règles</c:v>
                </c:pt>
              </c:strCache>
            </c:strRef>
          </c:tx>
          <c:spPr>
            <a:solidFill>
              <a:srgbClr val="F2545B"/>
            </a:solidFill>
            <a:effectLst/>
          </c:spPr>
          <c:invertIfNegative val="0"/>
          <c:dLbls>
            <c:numFmt formatCode="0.000;-0.00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Rég. logistique</c:v>
                  </c:pt>
                  <c:pt idx="1">
                    <c:v>GCN</c:v>
                  </c:pt>
                  <c:pt idx="2">
                    <c:v>XGBoost</c:v>
                  </c:pt>
                  <c:pt idx="3">
                    <c:v>HistGB</c:v>
                  </c:pt>
                  <c:pt idx="4">
                    <c:v>GAT</c:v>
                  </c:pt>
                  <c:pt idx="5">
                    <c:v>GraphSAGE</c:v>
                  </c:pt>
                  <c:pt idx="6">
                    <c:v>Motifs (règles)</c:v>
                  </c:pt>
                  <c:pt idx="7">
                    <c:v>Forêt aléatoire</c:v>
                  </c:pt>
                </c:lvl>
              </c:multiLvlStrCache>
            </c:multiLvlStrRef>
          </c:cat>
          <c:val>
            <c:numRef>
              <c:f>Sheet1!$C$2:$C$9</c:f>
              <c:numCache>
                <c:formatCode>General</c:formatCode>
                <c:ptCount val="8"/>
                <c:pt idx="0">
                  <c:v>0</c:v>
                </c:pt>
                <c:pt idx="1">
                  <c:v>0</c:v>
                </c:pt>
                <c:pt idx="2">
                  <c:v>0</c:v>
                </c:pt>
                <c:pt idx="3">
                  <c:v>0</c:v>
                </c:pt>
                <c:pt idx="4">
                  <c:v>0</c:v>
                </c:pt>
                <c:pt idx="5">
                  <c:v>0</c:v>
                </c:pt>
                <c:pt idx="6">
                  <c:v>0.1885601726898129</c:v>
                </c:pt>
                <c:pt idx="7">
                  <c:v>0</c:v>
                </c:pt>
              </c:numCache>
            </c:numRef>
          </c:val>
        </c:ser>
        <c:dLbls>
          <c:numFmt formatCode="0.000;-0.000;;" sourceLinked="0"/>
          <c:txPr>
            <a:bodyPr/>
            <a:lstStyle/>
            <a:p>
              <a:pPr>
                <a:defRPr b="0"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2333"/>
                </a:solidFill>
                <a:latin typeface="+mn-lt"/>
              </a:defRPr>
            </a:pPr>
            <a:endParaRPr lang="en-US"/>
          </a:p>
        </c:txPr>
        <c:crossAx val="2094734552"/>
        <c:crosses val="autoZero"/>
        <c:auto val="1"/>
        <c:lblAlgn val="ctr"/>
        <c:noMultiLvlLbl val="1"/>
      </c:catAx>
      <c:valAx>
        <c:axId val="2094734552"/>
        <c:scaling>
          <c:orientation val="minMax"/>
          <c:max val="0.6"/>
          <c:min val="0"/>
        </c:scaling>
        <c:delete val="0"/>
        <c:axPos val="b"/>
        <c:majorGridlines>
          <c:spPr>
            <a:ln w="9525" cap="flat">
              <a:solidFill>
                <a:srgbClr val="E1E6EF"/>
              </a:solidFill>
              <a:prstDash val="solid"/>
              <a:round/>
            </a:ln>
          </c:spPr>
        </c:majorGridlines>
        <c:numFmt formatCode="0.0"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577"/>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B2333"/>
                </a:solidFill>
                <a:latin typeface="+mj-lt"/>
              </a:defRPr>
            </a:pPr>
            <a:r>
              <a:rPr sz="1600" b="0" i="0" u="none" strike="noStrike">
                <a:solidFill>
                  <a:srgbClr val="1B2333"/>
                </a:solidFill>
                <a:latin typeface="+mj-lt"/>
              </a:rPr>
              <a:t>PR-AUC test · IBM HI-Small</a:t>
            </a:r>
          </a:p>
        </c:rich>
      </c:tx>
      <c:layout/>
      <c:overlay val="0"/>
    </c:title>
    <c:autoTitleDeleted val="0"/>
    <c:plotArea>
      <c:layout/>
      <c:barChart>
        <c:barDir val="col"/>
        <c:grouping val="clustered"/>
        <c:varyColors val="0"/>
        <c:ser>
          <c:idx val="0"/>
          <c:order val="0"/>
          <c:tx>
            <c:strRef>
              <c:f>Sheet1!$B$1</c:f>
              <c:strCache>
                <c:ptCount val="1"/>
                <c:pt idx="0">
                  <c:v>Modèle seul</c:v>
                </c:pt>
              </c:strCache>
            </c:strRef>
          </c:tx>
          <c:spPr>
            <a:solidFill>
              <a:srgbClr val="9AA7BD"/>
            </a:solidFill>
            <a:effectLst/>
          </c:spPr>
          <c:invertIfNegative val="0"/>
          <c:dLbls>
            <c:numFmt formatCode="0.000" sourceLinked="0"/>
            <c:txPr>
              <a:bodyPr/>
              <a:lstStyle/>
              <a:p>
                <a:pPr>
                  <a:defRPr b="0" i="0" strike="noStrike" sz="1100" u="none">
                    <a:solidFill>
                      <a:srgbClr val="1B2333"/>
                    </a:solidFill>
                    <a:latin typeface="+mn-lt"/>
                  </a:defRPr>
                </a:pPr>
              </a:p>
            </c:txPr>
            <c:showLegendKey val="0"/>
            <c:showVal val="1"/>
            <c:showCatName val="0"/>
            <c:showSerName val="0"/>
            <c:showPercent val="0"/>
            <c:showBubbleSize val="0"/>
            <c:showLeaderLines val="0"/>
          </c:dLbls>
          <c:cat>
            <c:multiLvlStrRef>
              <c:f>Sheet1!$A$2:$A$4</c:f>
              <c:multiLvlStrCache>
                <c:ptCount val="3"/>
                <c:lvl>
                  <c:pt idx="0">
                    <c:v>Forêt aléatoire</c:v>
                  </c:pt>
                  <c:pt idx="1">
                    <c:v>HistGB</c:v>
                  </c:pt>
                  <c:pt idx="2">
                    <c:v>GraphSAGE</c:v>
                  </c:pt>
                </c:lvl>
              </c:multiLvlStrCache>
            </c:multiLvlStrRef>
          </c:cat>
          <c:val>
            <c:numRef>
              <c:f>Sheet1!$B$2:$B$4</c:f>
              <c:numCache>
                <c:formatCode>General</c:formatCode>
                <c:ptCount val="3"/>
                <c:pt idx="0">
                  <c:v>0.519191201556582</c:v>
                </c:pt>
                <c:pt idx="1">
                  <c:v>0.4840182241694832</c:v>
                </c:pt>
                <c:pt idx="2">
                  <c:v>0.5040902291239077</c:v>
                </c:pt>
              </c:numCache>
            </c:numRef>
          </c:val>
        </c:ser>
        <c:ser>
          <c:idx val="1"/>
          <c:order val="1"/>
          <c:tx>
            <c:strRef>
              <c:f>Sheet1!$C$1</c:f>
              <c:strCache>
                <c:ptCount val="1"/>
                <c:pt idx="0">
                  <c:v>Motifs seuls</c:v>
                </c:pt>
              </c:strCache>
            </c:strRef>
          </c:tx>
          <c:spPr>
            <a:solidFill>
              <a:srgbClr val="F2545B"/>
            </a:solidFill>
            <a:effectLst/>
          </c:spPr>
          <c:invertIfNegative val="0"/>
          <c:dLbls>
            <c:numFmt formatCode="0.000" sourceLinked="0"/>
            <c:txPr>
              <a:bodyPr/>
              <a:lstStyle/>
              <a:p>
                <a:pPr>
                  <a:defRPr b="0" i="0" strike="noStrike" sz="1100" u="none">
                    <a:solidFill>
                      <a:srgbClr val="1B2333"/>
                    </a:solidFill>
                    <a:latin typeface="+mn-lt"/>
                  </a:defRPr>
                </a:pPr>
              </a:p>
            </c:txPr>
            <c:showLegendKey val="0"/>
            <c:showVal val="1"/>
            <c:showCatName val="0"/>
            <c:showSerName val="0"/>
            <c:showPercent val="0"/>
            <c:showBubbleSize val="0"/>
            <c:showLeaderLines val="0"/>
          </c:dLbls>
          <c:cat>
            <c:multiLvlStrRef>
              <c:f>Sheet1!$A$2:$A$4</c:f>
              <c:multiLvlStrCache>
                <c:ptCount val="3"/>
                <c:lvl>
                  <c:pt idx="0">
                    <c:v>Forêt aléatoire</c:v>
                  </c:pt>
                  <c:pt idx="1">
                    <c:v>HistGB</c:v>
                  </c:pt>
                  <c:pt idx="2">
                    <c:v>GraphSAGE</c:v>
                  </c:pt>
                </c:lvl>
              </c:multiLvlStrCache>
            </c:multiLvlStrRef>
          </c:cat>
          <c:val>
            <c:numRef>
              <c:f>Sheet1!$C$2:$C$4</c:f>
              <c:numCache>
                <c:formatCode>General</c:formatCode>
                <c:ptCount val="3"/>
                <c:pt idx="0">
                  <c:v>0.5031823547936786</c:v>
                </c:pt>
                <c:pt idx="1">
                  <c:v>0.5031823547936786</c:v>
                </c:pt>
                <c:pt idx="2">
                  <c:v>0.5031823547936786</c:v>
                </c:pt>
              </c:numCache>
            </c:numRef>
          </c:val>
        </c:ser>
        <c:ser>
          <c:idx val="2"/>
          <c:order val="2"/>
          <c:tx>
            <c:strRef>
              <c:f>Sheet1!$D$1</c:f>
              <c:strCache>
                <c:ptCount val="1"/>
                <c:pt idx="0">
                  <c:v>Hybride</c:v>
                </c:pt>
              </c:strCache>
            </c:strRef>
          </c:tx>
          <c:spPr>
            <a:solidFill>
              <a:srgbClr val="00A99D"/>
            </a:solidFill>
            <a:effectLst/>
          </c:spPr>
          <c:invertIfNegative val="0"/>
          <c:dLbls>
            <c:numFmt formatCode="0.000" sourceLinked="0"/>
            <c:txPr>
              <a:bodyPr/>
              <a:lstStyle/>
              <a:p>
                <a:pPr>
                  <a:defRPr b="0" i="0" strike="noStrike" sz="1100" u="none">
                    <a:solidFill>
                      <a:srgbClr val="1B2333"/>
                    </a:solidFill>
                    <a:latin typeface="+mn-lt"/>
                  </a:defRPr>
                </a:pPr>
              </a:p>
            </c:txPr>
            <c:showLegendKey val="0"/>
            <c:showVal val="1"/>
            <c:showCatName val="0"/>
            <c:showSerName val="0"/>
            <c:showPercent val="0"/>
            <c:showBubbleSize val="0"/>
            <c:showLeaderLines val="0"/>
          </c:dLbls>
          <c:cat>
            <c:multiLvlStrRef>
              <c:f>Sheet1!$A$2:$A$4</c:f>
              <c:multiLvlStrCache>
                <c:ptCount val="3"/>
                <c:lvl>
                  <c:pt idx="0">
                    <c:v>Forêt aléatoire</c:v>
                  </c:pt>
                  <c:pt idx="1">
                    <c:v>HistGB</c:v>
                  </c:pt>
                  <c:pt idx="2">
                    <c:v>GraphSAGE</c:v>
                  </c:pt>
                </c:lvl>
              </c:multiLvlStrCache>
            </c:multiLvlStrRef>
          </c:cat>
          <c:val>
            <c:numRef>
              <c:f>Sheet1!$D$2:$D$4</c:f>
              <c:numCache>
                <c:formatCode>General</c:formatCode>
                <c:ptCount val="3"/>
                <c:pt idx="0">
                  <c:v>0.6144112616655207</c:v>
                </c:pt>
                <c:pt idx="1">
                  <c:v>0.6406504988398848</c:v>
                </c:pt>
                <c:pt idx="2">
                  <c:v>0.640986633213547</c:v>
                </c:pt>
              </c:numCache>
            </c:numRef>
          </c:val>
        </c:ser>
        <c:dLbls>
          <c:numFmt formatCode="0.000" sourceLinked="0"/>
          <c:txPr>
            <a:bodyPr/>
            <a:lstStyle/>
            <a:p>
              <a:pPr>
                <a:defRPr b="0" i="0" strike="noStrike" sz="1100" u="none">
                  <a:solidFill>
                    <a:srgbClr val="1B2333"/>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B2333"/>
                </a:solidFill>
                <a:latin typeface="+mn-lt"/>
              </a:defRPr>
            </a:pPr>
            <a:endParaRPr lang="en-US"/>
          </a:p>
        </c:txPr>
        <c:crossAx val="2094734552"/>
        <c:crosses val="autoZero"/>
        <c:auto val="1"/>
        <c:lblAlgn val="ctr"/>
        <c:noMultiLvlLbl val="1"/>
      </c:catAx>
      <c:valAx>
        <c:axId val="2094734552"/>
        <c:scaling>
          <c:orientation val="minMax"/>
          <c:max val="0.75"/>
          <c:min val="0"/>
        </c:scaling>
        <c:delete val="0"/>
        <c:axPos val="l"/>
        <c:majorGridlines>
          <c:spPr>
            <a:ln w="9525" cap="flat">
              <a:solidFill>
                <a:srgbClr val="E1E6EF"/>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577"/>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300">
              <a:solidFill>
                <a:srgbClr val="1B2333"/>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1B2333"/>
                </a:solidFill>
                <a:latin typeface="+mj-lt"/>
              </a:defRPr>
            </a:pPr>
            <a:r>
              <a:rPr sz="1600" b="0" i="0" u="none" strike="noStrike">
                <a:solidFill>
                  <a:srgbClr val="1B2333"/>
                </a:solidFill>
                <a:latin typeface="+mj-lt"/>
              </a:rPr>
              <a:t>PR-AUC test · pas de temps 35–49</a:t>
            </a:r>
          </a:p>
        </c:rich>
      </c:tx>
      <c:layout/>
      <c:overlay val="0"/>
    </c:title>
    <c:autoTitleDeleted val="0"/>
    <c:plotArea>
      <c:layout/>
      <c:barChart>
        <c:barDir val="col"/>
        <c:grouping val="clustered"/>
        <c:varyColors val="0"/>
        <c:ser>
          <c:idx val="0"/>
          <c:order val="0"/>
          <c:tx>
            <c:strRef>
              <c:f>Sheet1!$B$1</c:f>
              <c:strCache>
                <c:ptCount val="1"/>
                <c:pt idx="0">
                  <c:v>PR-AUC</c:v>
                </c:pt>
              </c:strCache>
            </c:strRef>
          </c:tx>
          <c:spPr>
            <a:solidFill>
              <a:srgbClr val="F5B700"/>
            </a:solidFill>
            <a:effectLst/>
          </c:spPr>
          <c:invertIfNegative val="0"/>
          <c:dLbls>
            <c:numFmt formatCode="0.000" sourceLinked="0"/>
            <c:txPr>
              <a:bodyPr/>
              <a:lstStyle/>
              <a:p>
                <a:pPr>
                  <a:defRPr b="0" i="0" strike="noStrike" sz="1200" u="none">
                    <a:solidFill>
                      <a:srgbClr val="1B2333"/>
                    </a:solidFill>
                    <a:latin typeface="+mn-lt"/>
                  </a:defRPr>
                </a:pPr>
              </a:p>
            </c:txPr>
            <c:showLegendKey val="0"/>
            <c:showVal val="1"/>
            <c:showCatName val="0"/>
            <c:showSerName val="0"/>
            <c:showPercent val="0"/>
            <c:showBubbleSize val="0"/>
            <c:showLeaderLines val="0"/>
          </c:dLbls>
          <c:cat>
            <c:multiLvlStrRef>
              <c:f>Sheet1!$A$2:$A$8</c:f>
              <c:multiLvlStrCache>
                <c:ptCount val="7"/>
                <c:lvl>
                  <c:pt idx="0">
                    <c:v>HistGB</c:v>
                  </c:pt>
                  <c:pt idx="1">
                    <c:v>XGBoost</c:v>
                  </c:pt>
                  <c:pt idx="2">
                    <c:v>Forêt aléatoire</c:v>
                  </c:pt>
                  <c:pt idx="3">
                    <c:v>GraphSAGE</c:v>
                  </c:pt>
                  <c:pt idx="4">
                    <c:v>GAT</c:v>
                  </c:pt>
                  <c:pt idx="5">
                    <c:v>GCN</c:v>
                  </c:pt>
                  <c:pt idx="6">
                    <c:v>Rég. logistique</c:v>
                  </c:pt>
                </c:lvl>
              </c:multiLvlStrCache>
            </c:multiLvlStrRef>
          </c:cat>
          <c:val>
            <c:numRef>
              <c:f>Sheet1!$B$2:$B$8</c:f>
              <c:numCache>
                <c:formatCode>General</c:formatCode>
                <c:ptCount val="7"/>
                <c:pt idx="0">
                  <c:v>0.7898600030996206</c:v>
                </c:pt>
                <c:pt idx="1">
                  <c:v>0.7883312329980416</c:v>
                </c:pt>
                <c:pt idx="2">
                  <c:v>0.7864230274242345</c:v>
                </c:pt>
                <c:pt idx="3">
                  <c:v>0.4972331499847466</c:v>
                </c:pt>
                <c:pt idx="4">
                  <c:v>0.3514873292531289</c:v>
                </c:pt>
                <c:pt idx="5">
                  <c:v>0.3004450294578483</c:v>
                </c:pt>
                <c:pt idx="6">
                  <c:v>0.2091307806010545</c:v>
                </c:pt>
              </c:numCache>
            </c:numRef>
          </c:val>
        </c:ser>
        <c:dLbls>
          <c:numFmt formatCode="0.000" sourceLinked="0"/>
          <c:txPr>
            <a:bodyPr/>
            <a:lstStyle/>
            <a:p>
              <a:pPr>
                <a:defRPr b="0" i="0" strike="noStrike" sz="1200" u="none">
                  <a:solidFill>
                    <a:srgbClr val="1B23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333"/>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1E6EF"/>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577"/>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Bonjour. Je présente AML-GraphMiner, une boîte à outils open source qui détecte le blanchiment d'argent dans des graphes de transactions et explique chaque alerte. Le graphe à droite illustre l'idée : le blanchiment se cache dans des structures — ici un cycle en rouge — au milieu de transactions ordinaires.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Selon l'ONUDC, environ 1 600 milliards de dollars ont été blanchis en 2009, 2,7 % du PIB mondial. Mais à l'échelle d'une banque, c'est une aiguille dans une botte de foin : 0,10 % des transactions du jeu IBM HI-Small, sur plus de 5 millions. Les systèmes à règles noient les analystes sous les fausses alertes ; les réseaux de neurones sur graphes sont prometteurs mais peu reproductibles et peu explicables. Or le GAFI et la BCEAO exigent des décisions justifiables.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cahier des charges fixe six objectifs : ingérer les données et construire les graphes, détecter les motifs classiques, entraîner trois GNN, expliquer les alertes, évaluer rigoureusement face aux modèles de référence, et fournir des interfaces : API REST, ligne de commande et, en plus, une interface web d'investigation.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code est organisé en six couches ; chacune ne dépend que de celles du dessous. Les dépendances lourdes, PyTorch ou FastAPI, sont optionnelles : le cœur tourne sur un simple portable. Tous les détecteurs partagent la même interface — fit, score, save, load — ce qui permet de les servir, de les comparer et de les combiner.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Trois jeux publics : IBM HI-Small et LI-Small, des transactions bancaires simulées avec leurs motifs de blanchiment annotés, et Elliptic, un graphe Bitcoin. L'analyse exploratoire a révélé des indices décisifs, par exemple que le blanchiment passe presque toujours par des virements 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Pour des résultats comparables, le découpage est temporel : 60 % pour apprendre, 20 % pour régler, 20 % pour mesurer, une seule fois. Les caractéristiques n'utilisent jamais le futur — des tests unitaires le vérifient en modifiant les données futures — et chaque modèle est entraîné sur trois graines.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scanner détecte sept structures sans aucun apprentissage : collecte (fan-in), dispersion (fan-out), cycles, scatter-gather, gather-scatter, relais — le motif « stack » d'IBM — et communautés de comptes relais. Chaque alerte garde ses preuves : comptes, transactions, montants convertis en dollars. Le pourcentage indique la part des transactions de chaque motif annoté retrouvée par son propre détecteur sur le test HI-Small.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jalon J2 demandait une PR-AUC supérieure à 0,5 avec les seuls motifs. Au départ : 0,005. Le diagnostic a montré que les motifs IBM changent de devise à chaque saut et durent plusieurs jours : conversion des montants et contexte historique, puis restriction aux virements ACH : 0,340. Ensuite, fans plus longs et exclusions : 0,399. Enfin un détecteur de relais et une précision calibrée par tranche de score : 0,503, avec un intervalle de confiance de 0,479 à 0,526 — l'objectif est atteint, de justesse. Tous les réglages ont été choisis sur la validation ; 36 % du blanchiment n'appartient à aucun motif, ce qui plafonne toute approche à base de règles.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 HI-Small, GraphSAGE obtient 0,531 en moyenne sur trois graines, juste devant les motifs (0,503) et la forêt aléatoire (0,499). Sur LI-Small, beaucoup plus difficile avec 0,07 % de transactions illicites, la forêt aléatoire mène (0,191), les motifs suivent de près (0,189), devant HistGB, GCN et GAT.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deux approches sont complémentaires. Un modèle déjà entraîné est combiné aux motifs par une régression logistique à trois coefficients, apprise sur la validation. Sur HI-Small, chaque combinaison dépasse ses deux parties : jusqu'à 0,641 avec HistGB ou GraphSAGE. Sur LI-Small, la forêt aléatoire passe de 0,191 à 0,236. Ces modèles viennent de Kaggle, sans réentraînement, sur une seule graine.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Sur Elliptic, les modèles à base d'arbres atteignent environ 0,79 alors que le meilleur GNN reste à 0,497. C'est une raison de plus pour toujours comparer les familles de modèles sous le même protocole, ce que fait l'outil.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Chaque alerte est expliquée. Pour les motifs, la preuve est exacte : ici un cycle de trois comptes. Pour les modèles, six méthodes sont disponibles. Point important : l'outil mesure l'effet réel du voisinage. Pour GraphSAGE, retirer les transactions voisines ne change presque pas le score, ce qui explique pourquoi PGExplainer rend des masques vides : c'est la bonne réponse, et Captum devient alors la vue la plus utile.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mêmes fonctions sont accessibles par une interface web d'investigation, la ligne de commande amlgm, une API REST documentée en OpenAPI 3.1 et une image Docker. La qualité est contrôlée par 475 tests automatiques, 98 % du code couvert, et une intégration continue sur Linux, Windows et macOS.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Bilan : les jalons J1 à J3 sont atteints, J2 de justesse. Les livrables techniques sont prêts ; restent les étapes de publication qui demandent les comptes personnels : dépôt public et DOI, PyPI, documentation en ligne, modèles sur Hugging Face, déploiement de l'API, soumission de l'article et rédaction du mémoire.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Limites : les données IBM sont simulées ; certains réglages, comme la restriction aux virements ACH, sont propres au simulateur ; et 36 % du blanchiment n'appartient à aucun motif. Perspectives : des GNN temporels et hétérogènes, l'apprentissage fédéré entre banques, et surtout une validation sur des données réelles.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Merci. Je peux faire une démonstration en direct avec la commande affichée : elle ouvre l'interface d'investigation sur des données synthétiques, sans aucune préparation.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1.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image" Target="../media/image-14-11.png"/><Relationship Id="rId12" Type="http://schemas.openxmlformats.org/officeDocument/2006/relationships/image" Target="../media/image-14-12.png"/><Relationship Id="rId13" Type="http://schemas.openxmlformats.org/officeDocument/2006/relationships/slideLayout" Target="../slideLayouts/slideLayout1.xml"/><Relationship Id="rId1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D3A"/>
        </a:solidFill>
      </p:bgPr>
    </p:bg>
    <p:spTree>
      <p:nvGrpSpPr>
        <p:cNvPr id="1" name=""/>
        <p:cNvGrpSpPr/>
        <p:nvPr/>
      </p:nvGrpSpPr>
      <p:grpSpPr>
        <a:xfrm>
          <a:off x="0" y="0"/>
          <a:ext cx="0" cy="0"/>
          <a:chOff x="0" y="0"/>
          <a:chExt cx="0" cy="0"/>
        </a:xfrm>
      </p:grpSpPr>
      <p:sp>
        <p:nvSpPr>
          <p:cNvPr id="2" name="a1_net_e0"/>
          <p:cNvSpPr/>
          <p:nvPr/>
        </p:nvSpPr>
        <p:spPr>
          <a:xfrm flipV="1">
            <a:off x="8201088" y="1169516"/>
            <a:ext cx="1392244" cy="205672"/>
          </a:xfrm>
          <a:prstGeom prst="line">
            <a:avLst/>
          </a:prstGeom>
          <a:noFill/>
          <a:ln w="22225">
            <a:solidFill>
              <a:srgbClr val="8A95A8"/>
            </a:solidFill>
            <a:prstDash val="solid"/>
            <a:tailEnd type="triangle"/>
          </a:ln>
        </p:spPr>
      </p:sp>
      <p:sp>
        <p:nvSpPr>
          <p:cNvPr id="3" name="a1_net_e1"/>
          <p:cNvSpPr/>
          <p:nvPr/>
        </p:nvSpPr>
        <p:spPr>
          <a:xfrm>
            <a:off x="9794284" y="1208437"/>
            <a:ext cx="1226308" cy="828156"/>
          </a:xfrm>
          <a:prstGeom prst="line">
            <a:avLst/>
          </a:prstGeom>
          <a:noFill/>
          <a:ln w="22225">
            <a:solidFill>
              <a:srgbClr val="8A95A8"/>
            </a:solidFill>
            <a:prstDash val="solid"/>
            <a:tailEnd type="triangle"/>
          </a:ln>
        </p:spPr>
      </p:sp>
      <p:sp>
        <p:nvSpPr>
          <p:cNvPr id="4" name="a1_net_e2"/>
          <p:cNvSpPr/>
          <p:nvPr/>
        </p:nvSpPr>
        <p:spPr>
          <a:xfrm>
            <a:off x="8802373" y="3079646"/>
            <a:ext cx="1598254" cy="419743"/>
          </a:xfrm>
          <a:prstGeom prst="line">
            <a:avLst/>
          </a:prstGeom>
          <a:noFill/>
          <a:ln w="22225">
            <a:solidFill>
              <a:srgbClr val="8A95A8"/>
            </a:solidFill>
            <a:prstDash val="solid"/>
            <a:tailEnd type="triangle"/>
          </a:ln>
        </p:spPr>
      </p:sp>
      <p:sp>
        <p:nvSpPr>
          <p:cNvPr id="5" name="a1_net_e3"/>
          <p:cNvSpPr/>
          <p:nvPr/>
        </p:nvSpPr>
        <p:spPr>
          <a:xfrm flipH="1">
            <a:off x="9385376" y="3606368"/>
            <a:ext cx="1065252" cy="1258934"/>
          </a:xfrm>
          <a:prstGeom prst="line">
            <a:avLst/>
          </a:prstGeom>
          <a:noFill/>
          <a:ln w="22225">
            <a:solidFill>
              <a:srgbClr val="8A95A8"/>
            </a:solidFill>
            <a:prstDash val="solid"/>
            <a:tailEnd type="triangle"/>
          </a:ln>
        </p:spPr>
      </p:sp>
      <p:sp>
        <p:nvSpPr>
          <p:cNvPr id="6" name="a1_net_e4"/>
          <p:cNvSpPr/>
          <p:nvPr/>
        </p:nvSpPr>
        <p:spPr>
          <a:xfrm flipH="1" flipV="1">
            <a:off x="8741040" y="3167401"/>
            <a:ext cx="537130" cy="1692774"/>
          </a:xfrm>
          <a:prstGeom prst="line">
            <a:avLst/>
          </a:prstGeom>
          <a:noFill/>
          <a:ln w="22225">
            <a:solidFill>
              <a:srgbClr val="8A95A8"/>
            </a:solidFill>
            <a:prstDash val="solid"/>
            <a:tailEnd type="triangle"/>
          </a:ln>
        </p:spPr>
      </p:sp>
      <p:sp>
        <p:nvSpPr>
          <p:cNvPr id="7" name="a1_net_e5"/>
          <p:cNvSpPr/>
          <p:nvPr/>
        </p:nvSpPr>
        <p:spPr>
          <a:xfrm flipV="1">
            <a:off x="7757212" y="3151245"/>
            <a:ext cx="879374" cy="1247112"/>
          </a:xfrm>
          <a:prstGeom prst="line">
            <a:avLst/>
          </a:prstGeom>
          <a:noFill/>
          <a:ln w="22225">
            <a:solidFill>
              <a:srgbClr val="8A95A8"/>
            </a:solidFill>
            <a:prstDash val="solid"/>
            <a:tailEnd type="triangle"/>
          </a:ln>
        </p:spPr>
      </p:sp>
      <p:sp>
        <p:nvSpPr>
          <p:cNvPr id="8" name="a1_net_e6"/>
          <p:cNvSpPr/>
          <p:nvPr/>
        </p:nvSpPr>
        <p:spPr>
          <a:xfrm flipH="1">
            <a:off x="10022696" y="2139987"/>
            <a:ext cx="1002824" cy="395052"/>
          </a:xfrm>
          <a:prstGeom prst="line">
            <a:avLst/>
          </a:prstGeom>
          <a:noFill/>
          <a:ln w="22225">
            <a:solidFill>
              <a:srgbClr val="8A95A8"/>
            </a:solidFill>
            <a:prstDash val="solid"/>
            <a:tailEnd type="triangle"/>
          </a:ln>
        </p:spPr>
      </p:sp>
      <p:sp>
        <p:nvSpPr>
          <p:cNvPr id="9" name="a1_net_e7"/>
          <p:cNvSpPr/>
          <p:nvPr/>
        </p:nvSpPr>
        <p:spPr>
          <a:xfrm>
            <a:off x="9965991" y="2663534"/>
            <a:ext cx="485914" cy="765683"/>
          </a:xfrm>
          <a:prstGeom prst="line">
            <a:avLst/>
          </a:prstGeom>
          <a:noFill/>
          <a:ln w="22225">
            <a:solidFill>
              <a:srgbClr val="8A95A8"/>
            </a:solidFill>
            <a:prstDash val="solid"/>
            <a:tailEnd type="triangle"/>
          </a:ln>
        </p:spPr>
      </p:sp>
      <p:sp>
        <p:nvSpPr>
          <p:cNvPr id="10" name="a1_net_e8"/>
          <p:cNvSpPr/>
          <p:nvPr/>
        </p:nvSpPr>
        <p:spPr>
          <a:xfrm>
            <a:off x="9409176" y="4956048"/>
            <a:ext cx="1792224" cy="914"/>
          </a:xfrm>
          <a:prstGeom prst="line">
            <a:avLst/>
          </a:prstGeom>
          <a:noFill/>
          <a:ln w="22225">
            <a:solidFill>
              <a:srgbClr val="8A95A8"/>
            </a:solidFill>
            <a:prstDash val="solid"/>
            <a:tailEnd type="triangle"/>
          </a:ln>
        </p:spPr>
      </p:sp>
      <p:sp>
        <p:nvSpPr>
          <p:cNvPr id="11" name="a1_net_e9"/>
          <p:cNvSpPr/>
          <p:nvPr/>
        </p:nvSpPr>
        <p:spPr>
          <a:xfrm>
            <a:off x="9724974" y="1251742"/>
            <a:ext cx="170522" cy="1209158"/>
          </a:xfrm>
          <a:prstGeom prst="line">
            <a:avLst/>
          </a:prstGeom>
          <a:noFill/>
          <a:ln w="22225">
            <a:solidFill>
              <a:srgbClr val="8A95A8"/>
            </a:solidFill>
            <a:prstDash val="solid"/>
            <a:tailEnd type="triangle"/>
          </a:ln>
        </p:spPr>
      </p:sp>
      <p:sp>
        <p:nvSpPr>
          <p:cNvPr id="12" name="a1_net_n0"/>
          <p:cNvSpPr/>
          <p:nvPr/>
        </p:nvSpPr>
        <p:spPr>
          <a:xfrm>
            <a:off x="8001000" y="1289304"/>
            <a:ext cx="201168" cy="201168"/>
          </a:xfrm>
          <a:prstGeom prst="ellipse">
            <a:avLst/>
          </a:prstGeom>
          <a:solidFill>
            <a:srgbClr val="4C9BE8"/>
          </a:solidFill>
          <a:ln w="19050">
            <a:solidFill>
              <a:srgbClr val="FFFFFF"/>
            </a:solidFill>
            <a:prstDash val="solid"/>
          </a:ln>
        </p:spPr>
      </p:sp>
      <p:sp>
        <p:nvSpPr>
          <p:cNvPr id="13" name="a1_net_n1"/>
          <p:cNvSpPr/>
          <p:nvPr/>
        </p:nvSpPr>
        <p:spPr>
          <a:xfrm>
            <a:off x="9610344" y="1051560"/>
            <a:ext cx="201168" cy="201168"/>
          </a:xfrm>
          <a:prstGeom prst="ellipse">
            <a:avLst/>
          </a:prstGeom>
          <a:solidFill>
            <a:srgbClr val="4C9BE8"/>
          </a:solidFill>
          <a:ln w="19050">
            <a:solidFill>
              <a:srgbClr val="FFFFFF"/>
            </a:solidFill>
            <a:prstDash val="solid"/>
          </a:ln>
        </p:spPr>
      </p:sp>
      <p:sp>
        <p:nvSpPr>
          <p:cNvPr id="14" name="a1_net_n2"/>
          <p:cNvSpPr/>
          <p:nvPr/>
        </p:nvSpPr>
        <p:spPr>
          <a:xfrm>
            <a:off x="11018520" y="2002536"/>
            <a:ext cx="201168" cy="201168"/>
          </a:xfrm>
          <a:prstGeom prst="ellipse">
            <a:avLst/>
          </a:prstGeom>
          <a:solidFill>
            <a:srgbClr val="4C9BE8"/>
          </a:solidFill>
          <a:ln w="19050">
            <a:solidFill>
              <a:srgbClr val="FFFFFF"/>
            </a:solidFill>
            <a:prstDash val="solid"/>
          </a:ln>
        </p:spPr>
      </p:sp>
      <p:sp>
        <p:nvSpPr>
          <p:cNvPr id="15" name="a1_net_n3"/>
          <p:cNvSpPr/>
          <p:nvPr/>
        </p:nvSpPr>
        <p:spPr>
          <a:xfrm>
            <a:off x="8604504" y="2953512"/>
            <a:ext cx="201168" cy="201168"/>
          </a:xfrm>
          <a:prstGeom prst="ellipse">
            <a:avLst/>
          </a:prstGeom>
          <a:solidFill>
            <a:srgbClr val="F2545B"/>
          </a:solidFill>
          <a:ln w="19050">
            <a:solidFill>
              <a:srgbClr val="FFFFFF"/>
            </a:solidFill>
            <a:prstDash val="solid"/>
          </a:ln>
        </p:spPr>
      </p:sp>
      <p:sp>
        <p:nvSpPr>
          <p:cNvPr id="16" name="a1_net_n4"/>
          <p:cNvSpPr/>
          <p:nvPr/>
        </p:nvSpPr>
        <p:spPr>
          <a:xfrm>
            <a:off x="10415016" y="3429000"/>
            <a:ext cx="201168" cy="201168"/>
          </a:xfrm>
          <a:prstGeom prst="ellipse">
            <a:avLst/>
          </a:prstGeom>
          <a:solidFill>
            <a:srgbClr val="F2545B"/>
          </a:solidFill>
          <a:ln w="19050">
            <a:solidFill>
              <a:srgbClr val="FFFFFF"/>
            </a:solidFill>
            <a:prstDash val="solid"/>
          </a:ln>
        </p:spPr>
      </p:sp>
      <p:sp>
        <p:nvSpPr>
          <p:cNvPr id="17" name="a1_net_n5"/>
          <p:cNvSpPr/>
          <p:nvPr/>
        </p:nvSpPr>
        <p:spPr>
          <a:xfrm>
            <a:off x="9208008" y="4855464"/>
            <a:ext cx="201168" cy="201168"/>
          </a:xfrm>
          <a:prstGeom prst="ellipse">
            <a:avLst/>
          </a:prstGeom>
          <a:solidFill>
            <a:srgbClr val="F2545B"/>
          </a:solidFill>
          <a:ln w="19050">
            <a:solidFill>
              <a:srgbClr val="FFFFFF"/>
            </a:solidFill>
            <a:prstDash val="solid"/>
          </a:ln>
        </p:spPr>
      </p:sp>
      <p:sp>
        <p:nvSpPr>
          <p:cNvPr id="18" name="a1_net_n6"/>
          <p:cNvSpPr/>
          <p:nvPr/>
        </p:nvSpPr>
        <p:spPr>
          <a:xfrm>
            <a:off x="7598664" y="4379976"/>
            <a:ext cx="201168" cy="201168"/>
          </a:xfrm>
          <a:prstGeom prst="ellipse">
            <a:avLst/>
          </a:prstGeom>
          <a:solidFill>
            <a:srgbClr val="4C9BE8"/>
          </a:solidFill>
          <a:ln w="19050">
            <a:solidFill>
              <a:srgbClr val="FFFFFF"/>
            </a:solidFill>
            <a:prstDash val="solid"/>
          </a:ln>
        </p:spPr>
      </p:sp>
      <p:sp>
        <p:nvSpPr>
          <p:cNvPr id="19" name="a1_net_n7"/>
          <p:cNvSpPr/>
          <p:nvPr/>
        </p:nvSpPr>
        <p:spPr>
          <a:xfrm>
            <a:off x="11219688" y="4855464"/>
            <a:ext cx="201168" cy="201168"/>
          </a:xfrm>
          <a:prstGeom prst="ellipse">
            <a:avLst/>
          </a:prstGeom>
          <a:solidFill>
            <a:srgbClr val="4C9BE8"/>
          </a:solidFill>
          <a:ln w="19050">
            <a:solidFill>
              <a:srgbClr val="FFFFFF"/>
            </a:solidFill>
            <a:prstDash val="solid"/>
          </a:ln>
        </p:spPr>
      </p:sp>
      <p:sp>
        <p:nvSpPr>
          <p:cNvPr id="20" name="a1_net_n8"/>
          <p:cNvSpPr/>
          <p:nvPr/>
        </p:nvSpPr>
        <p:spPr>
          <a:xfrm>
            <a:off x="9811512" y="2478024"/>
            <a:ext cx="201168" cy="201168"/>
          </a:xfrm>
          <a:prstGeom prst="ellipse">
            <a:avLst/>
          </a:prstGeom>
          <a:solidFill>
            <a:srgbClr val="F5B700"/>
          </a:solidFill>
          <a:ln w="19050">
            <a:solidFill>
              <a:srgbClr val="FFFFFF"/>
            </a:solidFill>
            <a:prstDash val="solid"/>
          </a:ln>
        </p:spPr>
      </p:sp>
      <p:sp>
        <p:nvSpPr>
          <p:cNvPr id="21" name="a2_title"/>
          <p:cNvSpPr txBox="1"/>
          <p:nvPr/>
        </p:nvSpPr>
        <p:spPr>
          <a:xfrm>
            <a:off x="640080" y="1554480"/>
            <a:ext cx="6766560" cy="1005840"/>
          </a:xfrm>
          <a:prstGeom prst="rect">
            <a:avLst/>
          </a:prstGeom>
          <a:noFill/>
          <a:ln/>
        </p:spPr>
        <p:txBody>
          <a:bodyPr wrap="square" lIns="0" tIns="0" rIns="0" bIns="0"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AML-GraphMiner</a:t>
            </a:r>
            <a:endParaRPr lang="en-US" sz="5400" dirty="0"/>
          </a:p>
        </p:txBody>
      </p:sp>
      <p:sp>
        <p:nvSpPr>
          <p:cNvPr id="22" name="a3_sub"/>
          <p:cNvSpPr txBox="1"/>
          <p:nvPr/>
        </p:nvSpPr>
        <p:spPr>
          <a:xfrm>
            <a:off x="640080" y="2606040"/>
            <a:ext cx="6583680" cy="914400"/>
          </a:xfrm>
          <a:prstGeom prst="rect">
            <a:avLst/>
          </a:prstGeom>
          <a:noFill/>
          <a:ln/>
        </p:spPr>
        <p:txBody>
          <a:bodyPr wrap="square" lIns="0" tIns="0" rIns="0" bIns="0" rtlCol="0" anchor="ctr"/>
          <a:lstStyle/>
          <a:p>
            <a:pPr indent="0" marL="0">
              <a:buNone/>
            </a:pPr>
            <a:r>
              <a:rPr lang="en-US" sz="2400" dirty="0">
                <a:solidFill>
                  <a:srgbClr val="7FE3D8"/>
                </a:solidFill>
                <a:latin typeface="Calibri" pitchFamily="34" charset="0"/>
                <a:ea typeface="Calibri" pitchFamily="34" charset="-122"/>
                <a:cs typeface="Calibri" pitchFamily="34" charset="-120"/>
              </a:rPr>
              <a:t>Détection explicable du blanchiment d'argent sur graphes de transactions</a:t>
            </a:r>
            <a:endParaRPr lang="en-US" sz="2400" dirty="0"/>
          </a:p>
        </p:txBody>
      </p:sp>
      <p:sp>
        <p:nvSpPr>
          <p:cNvPr id="23" name="a4_who"/>
          <p:cNvSpPr txBox="1"/>
          <p:nvPr/>
        </p:nvSpPr>
        <p:spPr>
          <a:xfrm>
            <a:off x="640080" y="4206240"/>
            <a:ext cx="6766560" cy="1097280"/>
          </a:xfrm>
          <a:prstGeom prst="rect">
            <a:avLst/>
          </a:prstGeom>
          <a:noFill/>
          <a:ln/>
        </p:spPr>
        <p:txBody>
          <a:bodyPr wrap="square" lIns="0" tIns="0" rIns="0" bIns="0" rtlCol="0" anchor="ctr"/>
          <a:lstStyle/>
          <a:p>
            <a:pPr indent="0" marL="0">
              <a:spcAft>
                <a:spcPts val="400"/>
              </a:spcAft>
              <a:buNone/>
            </a:pPr>
            <a:r>
              <a:rPr lang="en-US" sz="1500" dirty="0">
                <a:solidFill>
                  <a:srgbClr val="C9D3E6"/>
                </a:solidFill>
                <a:latin typeface="Calibri" pitchFamily="34" charset="0"/>
                <a:ea typeface="Calibri" pitchFamily="34" charset="-122"/>
                <a:cs typeface="Calibri" pitchFamily="34" charset="-120"/>
              </a:rPr>
              <a:t>Projet de fin d'études — Master</a:t>
            </a:r>
            <a:endParaRPr lang="en-US" sz="1500" dirty="0"/>
          </a:p>
          <a:p>
            <a:pPr indent="0" marL="0">
              <a:spcAft>
                <a:spcPts val="400"/>
              </a:spcAft>
              <a:buNone/>
            </a:pPr>
            <a:r>
              <a:rPr lang="en-US" sz="1500" dirty="0">
                <a:solidFill>
                  <a:srgbClr val="C9D3E6"/>
                </a:solidFill>
                <a:latin typeface="Calibri" pitchFamily="34" charset="0"/>
                <a:ea typeface="Calibri" pitchFamily="34" charset="-122"/>
                <a:cs typeface="Calibri" pitchFamily="34" charset="-120"/>
              </a:rPr>
              <a:t>Unité de recherche Al-Khawarizmi · FST · Université de Nouakchott</a:t>
            </a:r>
            <a:endParaRPr lang="en-US" sz="1500" dirty="0"/>
          </a:p>
          <a:p>
            <a:pPr indent="0" marL="0">
              <a:spcAft>
                <a:spcPts val="400"/>
              </a:spcAft>
              <a:buNone/>
            </a:pPr>
            <a:r>
              <a:rPr lang="en-US" sz="1500" dirty="0">
                <a:solidFill>
                  <a:srgbClr val="C9D3E6"/>
                </a:solidFill>
                <a:latin typeface="Calibri" pitchFamily="34" charset="0"/>
                <a:ea typeface="Calibri" pitchFamily="34" charset="-122"/>
                <a:cs typeface="Calibri" pitchFamily="34" charset="-120"/>
              </a:rPr>
              <a:t>[Nom de l'étudiant] · Encadrant : Mohamedou El Ghotob Cheikh Tourad</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7"/>
                                        </p:tgtEl>
                                        <p:attrNameLst>
                                          <p:attrName>style.visibility</p:attrName>
                                        </p:attrNameLst>
                                      </p:cBhvr>
                                      <p:to>
                                        <p:strVal val="visible"/>
                                      </p:to>
                                    </p:set>
                                    <p:animEffect transition="in" filter="fade">
                                      <p:cBhvr>
                                        <p:cTn id="22" dur="500"/>
                                        <p:tgtEl>
                                          <p:spTgt spid="7"/>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500"/>
                                        <p:tgtEl>
                                          <p:spTgt spid="1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500"/>
                                        <p:tgtEl>
                                          <p:spTgt spid="1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500"/>
                                        <p:tgtEl>
                                          <p:spTgt spid="1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fade">
                                      <p:cBhvr>
                                        <p:cTn id="49" dur="500"/>
                                        <p:tgtEl>
                                          <p:spTgt spid="16"/>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7"/>
                                        </p:tgtEl>
                                        <p:attrNameLst>
                                          <p:attrName>style.visibility</p:attrName>
                                        </p:attrNameLst>
                                      </p:cBhvr>
                                      <p:to>
                                        <p:strVal val="visible"/>
                                      </p:to>
                                    </p:set>
                                    <p:animEffect transition="in" filter="fade">
                                      <p:cBhvr>
                                        <p:cTn id="52" dur="500"/>
                                        <p:tgtEl>
                                          <p:spTgt spid="17"/>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500"/>
                                        <p:tgtEl>
                                          <p:spTgt spid="18"/>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childTnLst>
                          </p:cTn>
                        </p:par>
                        <p:par>
                          <p:cTn id="62" fill="hold">
                            <p:stCondLst>
                              <p:cond delay="350"/>
                            </p:stCondLst>
                            <p:childTnLst>
                              <p:par>
                                <p:cTn id="63" presetID="10" presetClass="entr" presetSubtype="0" fill="hold" grpId="0" nodeType="afterEffect">
                                  <p:stCondLst>
                                    <p:cond delay="0"/>
                                  </p:stCondLst>
                                  <p:childTnLst>
                                    <p:set>
                                      <p:cBhvr>
                                        <p:cTn id="64" dur="1" fill="hold">
                                          <p:stCondLst>
                                            <p:cond delay="0"/>
                                          </p:stCondLst>
                                        </p:cTn>
                                        <p:tgtEl>
                                          <p:spTgt spid="21"/>
                                        </p:tgtEl>
                                        <p:attrNameLst>
                                          <p:attrName>style.visibility</p:attrName>
                                        </p:attrNameLst>
                                      </p:cBhvr>
                                      <p:to>
                                        <p:strVal val="visible"/>
                                      </p:to>
                                    </p:set>
                                    <p:animEffect transition="in" filter="fade">
                                      <p:cBhvr>
                                        <p:cTn id="65" dur="500"/>
                                        <p:tgtEl>
                                          <p:spTgt spid="21"/>
                                        </p:tgtEl>
                                      </p:cBhvr>
                                    </p:animEffect>
                                  </p:childTnLst>
                                </p:cTn>
                              </p:par>
                            </p:childTnLst>
                          </p:cTn>
                        </p:par>
                        <p:par>
                          <p:cTn id="66" fill="hold">
                            <p:stCondLst>
                              <p:cond delay="700"/>
                            </p:stCondLst>
                            <p:childTnLst>
                              <p:par>
                                <p:cTn id="67" presetID="10" presetClass="entr" presetSubtype="0" fill="hold" grpId="0" nodeType="after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fade">
                                      <p:cBhvr>
                                        <p:cTn id="69" dur="500"/>
                                        <p:tgtEl>
                                          <p:spTgt spid="22"/>
                                        </p:tgtEl>
                                      </p:cBhvr>
                                    </p:animEffect>
                                  </p:childTnLst>
                                </p:cTn>
                              </p:par>
                            </p:childTnLst>
                          </p:cTn>
                        </p:par>
                        <p:par>
                          <p:cTn id="70" fill="hold">
                            <p:stCondLst>
                              <p:cond delay="1050"/>
                            </p:stCondLst>
                            <p:childTnLst>
                              <p:par>
                                <p:cTn id="71" presetID="10" presetClass="entr" presetSubtype="0" fill="hold" grpId="0" nodeType="afterEffect">
                                  <p:stCondLst>
                                    <p:cond delay="0"/>
                                  </p:stCondLst>
                                  <p:childTnLst>
                                    <p:set>
                                      <p:cBhvr>
                                        <p:cTn id="72" dur="1" fill="hold">
                                          <p:stCondLst>
                                            <p:cond delay="0"/>
                                          </p:stCondLst>
                                        </p:cTn>
                                        <p:tgtEl>
                                          <p:spTgt spid="23"/>
                                        </p:tgtEl>
                                        <p:attrNameLst>
                                          <p:attrName>style.visibility</p:attrName>
                                        </p:attrNameLst>
                                      </p:cBhvr>
                                      <p:to>
                                        <p:strVal val="visible"/>
                                      </p:to>
                                    </p:set>
                                    <p:animEffect transition="in" filter="fade">
                                      <p:cBhvr>
                                        <p:cTn id="73"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rgbClr val="1B2333"/>
                </a:solidFill>
                <a:latin typeface="Cambria" pitchFamily="34" charset="0"/>
                <a:ea typeface="Cambria" pitchFamily="34" charset="-122"/>
                <a:cs typeface="Cambria" pitchFamily="34" charset="-120"/>
              </a:rPr>
              <a:t>Un problème massif… et très rare</a:t>
            </a:r>
            <a:endParaRPr lang="en-US" sz="3400" dirty="0"/>
          </a:p>
        </p:txBody>
      </p:sp>
      <p:sp>
        <p:nvSpPr>
          <p:cNvPr id="3" name="page"/>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100" dirty="0">
                <a:solidFill>
                  <a:srgbClr val="5B6577"/>
                </a:solidFill>
                <a:latin typeface="Calibri" pitchFamily="34" charset="0"/>
                <a:ea typeface="Calibri" pitchFamily="34" charset="-122"/>
                <a:cs typeface="Calibri" pitchFamily="34" charset="-120"/>
              </a:rPr>
              <a:t>2</a:t>
            </a:r>
            <a:endParaRPr lang="en-US" sz="1100" dirty="0"/>
          </a:p>
        </p:txBody>
      </p:sp>
      <p:sp>
        <p:nvSpPr>
          <p:cNvPr id="4" name="a1_card"/>
          <p:cNvSpPr/>
          <p:nvPr/>
        </p:nvSpPr>
        <p:spPr>
          <a:xfrm>
            <a:off x="640080" y="1463040"/>
            <a:ext cx="3383280" cy="3840480"/>
          </a:xfrm>
          <a:prstGeom prst="roundRect">
            <a:avLst>
              <a:gd name="adj" fmla="val 3243"/>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5" name="a1_ic_disc"/>
          <p:cNvSpPr/>
          <p:nvPr/>
        </p:nvSpPr>
        <p:spPr>
          <a:xfrm>
            <a:off x="1874520" y="1737360"/>
            <a:ext cx="914400" cy="914400"/>
          </a:xfrm>
          <a:prstGeom prst="ellipse">
            <a:avLst/>
          </a:prstGeom>
          <a:solidFill>
            <a:srgbClr val="F2545B"/>
          </a:solidFill>
          <a:ln w="12700">
            <a:solidFill>
              <a:srgbClr val="F2545B"/>
            </a:solidFill>
            <a:prstDash val="solid"/>
          </a:ln>
        </p:spPr>
      </p:sp>
      <p:pic>
        <p:nvPicPr>
          <p:cNvPr id="6" name="a1_ic_icon" descr="preencoded.png">    </p:cNvPr>
          <p:cNvPicPr>
            <a:picLocks noChangeAspect="1"/>
          </p:cNvPicPr>
          <p:nvPr/>
        </p:nvPicPr>
        <p:blipFill>
          <a:blip r:embed="rId1"/>
          <a:stretch>
            <a:fillRect/>
          </a:stretch>
        </p:blipFill>
        <p:spPr>
          <a:xfrm>
            <a:off x="2093976" y="1956816"/>
            <a:ext cx="475488" cy="475488"/>
          </a:xfrm>
          <a:prstGeom prst="rect">
            <a:avLst/>
          </a:prstGeom>
        </p:spPr>
      </p:pic>
      <p:sp>
        <p:nvSpPr>
          <p:cNvPr id="7" name="a1_num"/>
          <p:cNvSpPr txBox="1"/>
          <p:nvPr/>
        </p:nvSpPr>
        <p:spPr>
          <a:xfrm>
            <a:off x="822960" y="2834640"/>
            <a:ext cx="3017520" cy="1005840"/>
          </a:xfrm>
          <a:prstGeom prst="rect">
            <a:avLst/>
          </a:prstGeom>
          <a:noFill/>
          <a:ln/>
        </p:spPr>
        <p:txBody>
          <a:bodyPr wrap="square" lIns="0" tIns="0" rIns="0" bIns="0" rtlCol="0" anchor="ctr"/>
          <a:lstStyle/>
          <a:p>
            <a:pPr algn="ctr" indent="0" marL="0">
              <a:buNone/>
            </a:pPr>
            <a:r>
              <a:rPr lang="en-US" sz="4000" b="1" dirty="0">
                <a:solidFill>
                  <a:srgbClr val="F2545B"/>
                </a:solidFill>
                <a:latin typeface="Cambria" pitchFamily="34" charset="0"/>
                <a:ea typeface="Cambria" pitchFamily="34" charset="-122"/>
                <a:cs typeface="Cambria" pitchFamily="34" charset="-120"/>
              </a:rPr>
              <a:t>1 600 Md $</a:t>
            </a:r>
            <a:endParaRPr lang="en-US" sz="4000" dirty="0"/>
          </a:p>
        </p:txBody>
      </p:sp>
      <p:sp>
        <p:nvSpPr>
          <p:cNvPr id="8" name="a1_lab"/>
          <p:cNvSpPr txBox="1"/>
          <p:nvPr/>
        </p:nvSpPr>
        <p:spPr>
          <a:xfrm>
            <a:off x="914400" y="3931920"/>
            <a:ext cx="2834640" cy="1005840"/>
          </a:xfrm>
          <a:prstGeom prst="rect">
            <a:avLst/>
          </a:prstGeom>
          <a:noFill/>
          <a:ln/>
        </p:spPr>
        <p:txBody>
          <a:bodyPr wrap="square" lIns="0" tIns="0" rIns="0" bIns="0" rtlCol="0" anchor="ctr"/>
          <a:lstStyle/>
          <a:p>
            <a:pPr algn="ctr" indent="0" marL="0">
              <a:buNone/>
            </a:pPr>
            <a:r>
              <a:rPr lang="en-US" sz="1600" dirty="0">
                <a:solidFill>
                  <a:srgbClr val="5B6577"/>
                </a:solidFill>
                <a:latin typeface="Calibri" pitchFamily="34" charset="0"/>
                <a:ea typeface="Calibri" pitchFamily="34" charset="-122"/>
                <a:cs typeface="Calibri" pitchFamily="34" charset="-120"/>
              </a:rPr>
              <a:t>blanchis dans le monde en 2009 (ONUDC)</a:t>
            </a:r>
            <a:endParaRPr lang="en-US" sz="1600" dirty="0"/>
          </a:p>
        </p:txBody>
      </p:sp>
      <p:sp>
        <p:nvSpPr>
          <p:cNvPr id="9" name="a2_card"/>
          <p:cNvSpPr/>
          <p:nvPr/>
        </p:nvSpPr>
        <p:spPr>
          <a:xfrm>
            <a:off x="4389120" y="1463040"/>
            <a:ext cx="3383280" cy="3840480"/>
          </a:xfrm>
          <a:prstGeom prst="roundRect">
            <a:avLst>
              <a:gd name="adj" fmla="val 3243"/>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10" name="a2_ic_disc"/>
          <p:cNvSpPr/>
          <p:nvPr/>
        </p:nvSpPr>
        <p:spPr>
          <a:xfrm>
            <a:off x="5623560" y="1737360"/>
            <a:ext cx="914400" cy="914400"/>
          </a:xfrm>
          <a:prstGeom prst="ellipse">
            <a:avLst/>
          </a:prstGeom>
          <a:solidFill>
            <a:srgbClr val="F5B700"/>
          </a:solidFill>
          <a:ln w="12700">
            <a:solidFill>
              <a:srgbClr val="F5B700"/>
            </a:solidFill>
            <a:prstDash val="solid"/>
          </a:ln>
        </p:spPr>
      </p:sp>
      <p:pic>
        <p:nvPicPr>
          <p:cNvPr id="11" name="a2_ic_icon" descr="preencoded.png">    </p:cNvPr>
          <p:cNvPicPr>
            <a:picLocks noChangeAspect="1"/>
          </p:cNvPicPr>
          <p:nvPr/>
        </p:nvPicPr>
        <p:blipFill>
          <a:blip r:embed="rId2"/>
          <a:stretch>
            <a:fillRect/>
          </a:stretch>
        </p:blipFill>
        <p:spPr>
          <a:xfrm>
            <a:off x="5843016" y="1956816"/>
            <a:ext cx="475488" cy="475488"/>
          </a:xfrm>
          <a:prstGeom prst="rect">
            <a:avLst/>
          </a:prstGeom>
        </p:spPr>
      </p:pic>
      <p:sp>
        <p:nvSpPr>
          <p:cNvPr id="12" name="a2_num"/>
          <p:cNvSpPr txBox="1"/>
          <p:nvPr/>
        </p:nvSpPr>
        <p:spPr>
          <a:xfrm>
            <a:off x="4572000" y="2834640"/>
            <a:ext cx="3017520" cy="1005840"/>
          </a:xfrm>
          <a:prstGeom prst="rect">
            <a:avLst/>
          </a:prstGeom>
          <a:noFill/>
          <a:ln/>
        </p:spPr>
        <p:txBody>
          <a:bodyPr wrap="square" lIns="0" tIns="0" rIns="0" bIns="0" rtlCol="0" anchor="ctr"/>
          <a:lstStyle/>
          <a:p>
            <a:pPr algn="ctr" indent="0" marL="0">
              <a:buNone/>
            </a:pPr>
            <a:r>
              <a:rPr lang="en-US" sz="4000" b="1" dirty="0">
                <a:solidFill>
                  <a:srgbClr val="F5B700"/>
                </a:solidFill>
                <a:latin typeface="Cambria" pitchFamily="34" charset="0"/>
                <a:ea typeface="Cambria" pitchFamily="34" charset="-122"/>
                <a:cs typeface="Cambria" pitchFamily="34" charset="-120"/>
              </a:rPr>
              <a:t>0,10 %</a:t>
            </a:r>
            <a:endParaRPr lang="en-US" sz="4000" dirty="0"/>
          </a:p>
        </p:txBody>
      </p:sp>
      <p:sp>
        <p:nvSpPr>
          <p:cNvPr id="13" name="a2_lab"/>
          <p:cNvSpPr txBox="1"/>
          <p:nvPr/>
        </p:nvSpPr>
        <p:spPr>
          <a:xfrm>
            <a:off x="4663440" y="3931920"/>
            <a:ext cx="2834640" cy="1005840"/>
          </a:xfrm>
          <a:prstGeom prst="rect">
            <a:avLst/>
          </a:prstGeom>
          <a:noFill/>
          <a:ln/>
        </p:spPr>
        <p:txBody>
          <a:bodyPr wrap="square" lIns="0" tIns="0" rIns="0" bIns="0" rtlCol="0" anchor="ctr"/>
          <a:lstStyle/>
          <a:p>
            <a:pPr algn="ctr" indent="0" marL="0">
              <a:buNone/>
            </a:pPr>
            <a:r>
              <a:rPr lang="en-US" sz="1600" dirty="0">
                <a:solidFill>
                  <a:srgbClr val="5B6577"/>
                </a:solidFill>
                <a:latin typeface="Calibri" pitchFamily="34" charset="0"/>
                <a:ea typeface="Calibri" pitchFamily="34" charset="-122"/>
                <a:cs typeface="Calibri" pitchFamily="34" charset="-120"/>
              </a:rPr>
              <a:t>des transactions sont illicites (IBM HI-Small)</a:t>
            </a:r>
            <a:endParaRPr lang="en-US" sz="1600" dirty="0"/>
          </a:p>
        </p:txBody>
      </p:sp>
      <p:sp>
        <p:nvSpPr>
          <p:cNvPr id="14" name="a3_card"/>
          <p:cNvSpPr/>
          <p:nvPr/>
        </p:nvSpPr>
        <p:spPr>
          <a:xfrm>
            <a:off x="8138160" y="1463040"/>
            <a:ext cx="3383280" cy="3840480"/>
          </a:xfrm>
          <a:prstGeom prst="roundRect">
            <a:avLst>
              <a:gd name="adj" fmla="val 3243"/>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15" name="a3_ic_disc"/>
          <p:cNvSpPr/>
          <p:nvPr/>
        </p:nvSpPr>
        <p:spPr>
          <a:xfrm>
            <a:off x="9372600" y="1737360"/>
            <a:ext cx="914400" cy="914400"/>
          </a:xfrm>
          <a:prstGeom prst="ellipse">
            <a:avLst/>
          </a:prstGeom>
          <a:solidFill>
            <a:srgbClr val="00A99D"/>
          </a:solidFill>
          <a:ln w="12700">
            <a:solidFill>
              <a:srgbClr val="00A99D"/>
            </a:solidFill>
            <a:prstDash val="solid"/>
          </a:ln>
        </p:spPr>
      </p:sp>
      <p:pic>
        <p:nvPicPr>
          <p:cNvPr id="16" name="a3_ic_icon" descr="preencoded.png">    </p:cNvPr>
          <p:cNvPicPr>
            <a:picLocks noChangeAspect="1"/>
          </p:cNvPicPr>
          <p:nvPr/>
        </p:nvPicPr>
        <p:blipFill>
          <a:blip r:embed="rId3"/>
          <a:stretch>
            <a:fillRect/>
          </a:stretch>
        </p:blipFill>
        <p:spPr>
          <a:xfrm>
            <a:off x="9592056" y="1956816"/>
            <a:ext cx="475488" cy="475488"/>
          </a:xfrm>
          <a:prstGeom prst="rect">
            <a:avLst/>
          </a:prstGeom>
        </p:spPr>
      </p:pic>
      <p:sp>
        <p:nvSpPr>
          <p:cNvPr id="17" name="a3_num"/>
          <p:cNvSpPr txBox="1"/>
          <p:nvPr/>
        </p:nvSpPr>
        <p:spPr>
          <a:xfrm>
            <a:off x="8321040" y="2834640"/>
            <a:ext cx="3017520" cy="1005840"/>
          </a:xfrm>
          <a:prstGeom prst="rect">
            <a:avLst/>
          </a:prstGeom>
          <a:noFill/>
          <a:ln/>
        </p:spPr>
        <p:txBody>
          <a:bodyPr wrap="square" lIns="0" tIns="0" rIns="0" bIns="0" rtlCol="0" anchor="ctr"/>
          <a:lstStyle/>
          <a:p>
            <a:pPr algn="ctr" indent="0" marL="0">
              <a:buNone/>
            </a:pPr>
            <a:r>
              <a:rPr lang="en-US" sz="4000" b="1" dirty="0">
                <a:solidFill>
                  <a:srgbClr val="00A99D"/>
                </a:solidFill>
                <a:latin typeface="Cambria" pitchFamily="34" charset="0"/>
                <a:ea typeface="Cambria" pitchFamily="34" charset="-122"/>
                <a:cs typeface="Cambria" pitchFamily="34" charset="-120"/>
              </a:rPr>
              <a:t>5,1 M</a:t>
            </a:r>
            <a:endParaRPr lang="en-US" sz="4000" dirty="0"/>
          </a:p>
        </p:txBody>
      </p:sp>
      <p:sp>
        <p:nvSpPr>
          <p:cNvPr id="18" name="a3_lab"/>
          <p:cNvSpPr txBox="1"/>
          <p:nvPr/>
        </p:nvSpPr>
        <p:spPr>
          <a:xfrm>
            <a:off x="8412480" y="3931920"/>
            <a:ext cx="2834640" cy="1005840"/>
          </a:xfrm>
          <a:prstGeom prst="rect">
            <a:avLst/>
          </a:prstGeom>
          <a:noFill/>
          <a:ln/>
        </p:spPr>
        <p:txBody>
          <a:bodyPr wrap="square" lIns="0" tIns="0" rIns="0" bIns="0" rtlCol="0" anchor="ctr"/>
          <a:lstStyle/>
          <a:p>
            <a:pPr algn="ctr" indent="0" marL="0">
              <a:buNone/>
            </a:pPr>
            <a:r>
              <a:rPr lang="en-US" sz="1600" dirty="0">
                <a:solidFill>
                  <a:srgbClr val="5B6577"/>
                </a:solidFill>
                <a:latin typeface="Calibri" pitchFamily="34" charset="0"/>
                <a:ea typeface="Calibri" pitchFamily="34" charset="-122"/>
                <a:cs typeface="Calibri" pitchFamily="34" charset="-120"/>
              </a:rPr>
              <a:t>transactions à analyser pour un seul jeu de données</a:t>
            </a:r>
            <a:endParaRPr lang="en-US" sz="1600" dirty="0"/>
          </a:p>
        </p:txBody>
      </p:sp>
      <p:sp>
        <p:nvSpPr>
          <p:cNvPr id="19" name="a4_tag"/>
          <p:cNvSpPr txBox="1"/>
          <p:nvPr/>
        </p:nvSpPr>
        <p:spPr>
          <a:xfrm>
            <a:off x="640080" y="5715000"/>
            <a:ext cx="10972800" cy="457200"/>
          </a:xfrm>
          <a:prstGeom prst="rect">
            <a:avLst/>
          </a:prstGeom>
          <a:noFill/>
          <a:ln/>
        </p:spPr>
        <p:txBody>
          <a:bodyPr wrap="square" lIns="0" tIns="0" rIns="0" bIns="0" rtlCol="0" anchor="ctr"/>
          <a:lstStyle/>
          <a:p>
            <a:pPr indent="0" marL="0">
              <a:buNone/>
            </a:pPr>
            <a:r>
              <a:rPr lang="en-US" sz="1800" i="1" dirty="0">
                <a:solidFill>
                  <a:srgbClr val="16305C"/>
                </a:solidFill>
                <a:latin typeface="Calibri" pitchFamily="34" charset="0"/>
                <a:ea typeface="Calibri" pitchFamily="34" charset="-122"/>
                <a:cs typeface="Calibri" pitchFamily="34" charset="-120"/>
              </a:rPr>
              <a:t>Trouver l'aiguille… et expliquer pourquoi c'est une aiguille.</a:t>
            </a:r>
            <a:endParaRPr lang="en-US" sz="18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childTnLst>
                          </p:cTn>
                        </p:par>
                        <p:par>
                          <p:cTn id="20" fill="hold">
                            <p:stCondLst>
                              <p:cond delay="350"/>
                            </p:stCondLst>
                            <p:childTnLst>
                              <p:par>
                                <p:cTn id="21" presetID="10" presetClass="entr" presetSubtype="0" fill="hold" grpId="0" nodeType="after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childTnLst>
                                </p:cTn>
                              </p:par>
                            </p:childTnLst>
                          </p:cTn>
                        </p:par>
                        <p:par>
                          <p:cTn id="36" fill="hold">
                            <p:stCondLst>
                              <p:cond delay="700"/>
                            </p:stCondLst>
                            <p:childTnLst>
                              <p:par>
                                <p:cTn id="37" presetID="10" presetClass="entr" presetSubtype="0" fill="hold" grpId="0" nodeType="after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500"/>
                                        <p:tgtEl>
                                          <p:spTgt spid="1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500"/>
                                        <p:tgtEl>
                                          <p:spTgt spid="1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500"/>
                                        <p:tgtEl>
                                          <p:spTgt spid="1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500"/>
                                        <p:tgtEl>
                                          <p:spTgt spid="18"/>
                                        </p:tgtEl>
                                      </p:cBhvr>
                                    </p:animEffect>
                                  </p:childTnLst>
                                </p:cTn>
                              </p:par>
                            </p:childTnLst>
                          </p:cTn>
                        </p:par>
                        <p:par>
                          <p:cTn id="52" fill="hold">
                            <p:stCondLst>
                              <p:cond delay="1050"/>
                            </p:stCondLst>
                            <p:childTnLst>
                              <p:par>
                                <p:cTn id="53" presetID="10" presetClass="entr" presetSubtype="0" fill="hold" grpId="0" nodeType="after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2" grpId="0" animBg="1"/>
      <p:bldP spid="13" grpId="0" animBg="1"/>
      <p:bldP spid="14" grpId="0" animBg="1"/>
      <p:bldP spid="15" grpId="0" animBg="1"/>
      <p:bldP spid="17" grpId="0" animBg="1"/>
      <p:bldP spid="18" grpId="0" animBg="1"/>
      <p:bldP spid="19"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rgbClr val="1B2333"/>
                </a:solidFill>
                <a:latin typeface="Cambria" pitchFamily="34" charset="0"/>
                <a:ea typeface="Cambria" pitchFamily="34" charset="-122"/>
                <a:cs typeface="Cambria" pitchFamily="34" charset="-120"/>
              </a:rPr>
              <a:t>Six objectifs du cahier des charges</a:t>
            </a:r>
            <a:endParaRPr lang="en-US" sz="3400" dirty="0"/>
          </a:p>
        </p:txBody>
      </p:sp>
      <p:sp>
        <p:nvSpPr>
          <p:cNvPr id="3" name="page"/>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100" dirty="0">
                <a:solidFill>
                  <a:srgbClr val="5B6577"/>
                </a:solidFill>
                <a:latin typeface="Calibri" pitchFamily="34" charset="0"/>
                <a:ea typeface="Calibri" pitchFamily="34" charset="-122"/>
                <a:cs typeface="Calibri" pitchFamily="34" charset="-120"/>
              </a:rPr>
              <a:t>3</a:t>
            </a:r>
            <a:endParaRPr lang="en-US" sz="1100" dirty="0"/>
          </a:p>
        </p:txBody>
      </p:sp>
      <p:sp>
        <p:nvSpPr>
          <p:cNvPr id="4" name="a1_c"/>
          <p:cNvSpPr/>
          <p:nvPr/>
        </p:nvSpPr>
        <p:spPr>
          <a:xfrm>
            <a:off x="640080" y="1417320"/>
            <a:ext cx="3383280" cy="2194560"/>
          </a:xfrm>
          <a:prstGeom prst="roundRect">
            <a:avLst>
              <a:gd name="adj" fmla="val 5000"/>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5" name="a1_i_disc"/>
          <p:cNvSpPr/>
          <p:nvPr/>
        </p:nvSpPr>
        <p:spPr>
          <a:xfrm>
            <a:off x="914400" y="1737360"/>
            <a:ext cx="914400" cy="914400"/>
          </a:xfrm>
          <a:prstGeom prst="ellipse">
            <a:avLst/>
          </a:prstGeom>
          <a:solidFill>
            <a:srgbClr val="4C9BE8"/>
          </a:solidFill>
          <a:ln w="12700">
            <a:solidFill>
              <a:srgbClr val="4C9BE8"/>
            </a:solidFill>
            <a:prstDash val="solid"/>
          </a:ln>
        </p:spPr>
      </p:sp>
      <p:pic>
        <p:nvPicPr>
          <p:cNvPr id="6" name="a1_i_icon" descr="preencoded.png">    </p:cNvPr>
          <p:cNvPicPr>
            <a:picLocks noChangeAspect="1"/>
          </p:cNvPicPr>
          <p:nvPr/>
        </p:nvPicPr>
        <p:blipFill>
          <a:blip r:embed="rId1"/>
          <a:stretch>
            <a:fillRect/>
          </a:stretch>
        </p:blipFill>
        <p:spPr>
          <a:xfrm>
            <a:off x="1133856" y="1956816"/>
            <a:ext cx="475488" cy="475488"/>
          </a:xfrm>
          <a:prstGeom prst="rect">
            <a:avLst/>
          </a:prstGeom>
        </p:spPr>
      </p:pic>
      <p:sp>
        <p:nvSpPr>
          <p:cNvPr id="7" name="a1_o"/>
          <p:cNvSpPr txBox="1"/>
          <p:nvPr/>
        </p:nvSpPr>
        <p:spPr>
          <a:xfrm>
            <a:off x="2057400" y="1737360"/>
            <a:ext cx="1737360" cy="548640"/>
          </a:xfrm>
          <a:prstGeom prst="rect">
            <a:avLst/>
          </a:prstGeom>
          <a:noFill/>
          <a:ln/>
        </p:spPr>
        <p:txBody>
          <a:bodyPr wrap="square" lIns="0" tIns="0" rIns="0" bIns="0" rtlCol="0" anchor="ctr"/>
          <a:lstStyle/>
          <a:p>
            <a:pPr indent="0" marL="0">
              <a:buNone/>
            </a:pPr>
            <a:r>
              <a:rPr lang="en-US" sz="3000" b="1" dirty="0">
                <a:solidFill>
                  <a:srgbClr val="4C9BE8"/>
                </a:solidFill>
                <a:latin typeface="Cambria" pitchFamily="34" charset="0"/>
                <a:ea typeface="Cambria" pitchFamily="34" charset="-122"/>
                <a:cs typeface="Cambria" pitchFamily="34" charset="-120"/>
              </a:rPr>
              <a:t>O1</a:t>
            </a:r>
            <a:endParaRPr lang="en-US" sz="3000" dirty="0"/>
          </a:p>
        </p:txBody>
      </p:sp>
      <p:sp>
        <p:nvSpPr>
          <p:cNvPr id="8" name="a1_t"/>
          <p:cNvSpPr txBox="1"/>
          <p:nvPr/>
        </p:nvSpPr>
        <p:spPr>
          <a:xfrm>
            <a:off x="914400" y="2834640"/>
            <a:ext cx="2926080" cy="548640"/>
          </a:xfrm>
          <a:prstGeom prst="rect">
            <a:avLst/>
          </a:prstGeom>
          <a:noFill/>
          <a:ln/>
        </p:spPr>
        <p:txBody>
          <a:bodyPr wrap="square" lIns="0" tIns="0" rIns="0" bIns="0" rtlCol="0" anchor="ctr"/>
          <a:lstStyle/>
          <a:p>
            <a:pPr indent="0" marL="0">
              <a:buNone/>
            </a:pPr>
            <a:r>
              <a:rPr lang="en-US" sz="1800" b="1" dirty="0">
                <a:solidFill>
                  <a:srgbClr val="1B2333"/>
                </a:solidFill>
                <a:latin typeface="Calibri" pitchFamily="34" charset="0"/>
                <a:ea typeface="Calibri" pitchFamily="34" charset="-122"/>
                <a:cs typeface="Calibri" pitchFamily="34" charset="-120"/>
              </a:rPr>
              <a:t>Ingestion &amp; graphes</a:t>
            </a:r>
            <a:endParaRPr lang="en-US" sz="1800" dirty="0"/>
          </a:p>
        </p:txBody>
      </p:sp>
      <p:sp>
        <p:nvSpPr>
          <p:cNvPr id="9" name="a2_c"/>
          <p:cNvSpPr/>
          <p:nvPr/>
        </p:nvSpPr>
        <p:spPr>
          <a:xfrm>
            <a:off x="4389120" y="1417320"/>
            <a:ext cx="3383280" cy="2194560"/>
          </a:xfrm>
          <a:prstGeom prst="roundRect">
            <a:avLst>
              <a:gd name="adj" fmla="val 5000"/>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10" name="a2_i_disc"/>
          <p:cNvSpPr/>
          <p:nvPr/>
        </p:nvSpPr>
        <p:spPr>
          <a:xfrm>
            <a:off x="4663440" y="1737360"/>
            <a:ext cx="914400" cy="914400"/>
          </a:xfrm>
          <a:prstGeom prst="ellipse">
            <a:avLst/>
          </a:prstGeom>
          <a:solidFill>
            <a:srgbClr val="F2545B"/>
          </a:solidFill>
          <a:ln w="12700">
            <a:solidFill>
              <a:srgbClr val="F2545B"/>
            </a:solidFill>
            <a:prstDash val="solid"/>
          </a:ln>
        </p:spPr>
      </p:sp>
      <p:pic>
        <p:nvPicPr>
          <p:cNvPr id="11" name="a2_i_icon" descr="preencoded.png">    </p:cNvPr>
          <p:cNvPicPr>
            <a:picLocks noChangeAspect="1"/>
          </p:cNvPicPr>
          <p:nvPr/>
        </p:nvPicPr>
        <p:blipFill>
          <a:blip r:embed="rId2"/>
          <a:stretch>
            <a:fillRect/>
          </a:stretch>
        </p:blipFill>
        <p:spPr>
          <a:xfrm>
            <a:off x="4882896" y="1956816"/>
            <a:ext cx="475488" cy="475488"/>
          </a:xfrm>
          <a:prstGeom prst="rect">
            <a:avLst/>
          </a:prstGeom>
        </p:spPr>
      </p:pic>
      <p:sp>
        <p:nvSpPr>
          <p:cNvPr id="12" name="a2_o"/>
          <p:cNvSpPr txBox="1"/>
          <p:nvPr/>
        </p:nvSpPr>
        <p:spPr>
          <a:xfrm>
            <a:off x="5806440" y="1737360"/>
            <a:ext cx="1737360" cy="548640"/>
          </a:xfrm>
          <a:prstGeom prst="rect">
            <a:avLst/>
          </a:prstGeom>
          <a:noFill/>
          <a:ln/>
        </p:spPr>
        <p:txBody>
          <a:bodyPr wrap="square" lIns="0" tIns="0" rIns="0" bIns="0" rtlCol="0" anchor="ctr"/>
          <a:lstStyle/>
          <a:p>
            <a:pPr indent="0" marL="0">
              <a:buNone/>
            </a:pPr>
            <a:r>
              <a:rPr lang="en-US" sz="3000" b="1" dirty="0">
                <a:solidFill>
                  <a:srgbClr val="F2545B"/>
                </a:solidFill>
                <a:latin typeface="Cambria" pitchFamily="34" charset="0"/>
                <a:ea typeface="Cambria" pitchFamily="34" charset="-122"/>
                <a:cs typeface="Cambria" pitchFamily="34" charset="-120"/>
              </a:rPr>
              <a:t>O2</a:t>
            </a:r>
            <a:endParaRPr lang="en-US" sz="3000" dirty="0"/>
          </a:p>
        </p:txBody>
      </p:sp>
      <p:sp>
        <p:nvSpPr>
          <p:cNvPr id="13" name="a2_t"/>
          <p:cNvSpPr txBox="1"/>
          <p:nvPr/>
        </p:nvSpPr>
        <p:spPr>
          <a:xfrm>
            <a:off x="4663440" y="2834640"/>
            <a:ext cx="2926080" cy="548640"/>
          </a:xfrm>
          <a:prstGeom prst="rect">
            <a:avLst/>
          </a:prstGeom>
          <a:noFill/>
          <a:ln/>
        </p:spPr>
        <p:txBody>
          <a:bodyPr wrap="square" lIns="0" tIns="0" rIns="0" bIns="0" rtlCol="0" anchor="ctr"/>
          <a:lstStyle/>
          <a:p>
            <a:pPr indent="0" marL="0">
              <a:buNone/>
            </a:pPr>
            <a:r>
              <a:rPr lang="en-US" sz="1800" b="1" dirty="0">
                <a:solidFill>
                  <a:srgbClr val="1B2333"/>
                </a:solidFill>
                <a:latin typeface="Calibri" pitchFamily="34" charset="0"/>
                <a:ea typeface="Calibri" pitchFamily="34" charset="-122"/>
                <a:cs typeface="Calibri" pitchFamily="34" charset="-120"/>
              </a:rPr>
              <a:t>Motifs de blanchiment</a:t>
            </a:r>
            <a:endParaRPr lang="en-US" sz="1800" dirty="0"/>
          </a:p>
        </p:txBody>
      </p:sp>
      <p:sp>
        <p:nvSpPr>
          <p:cNvPr id="14" name="a3_c"/>
          <p:cNvSpPr/>
          <p:nvPr/>
        </p:nvSpPr>
        <p:spPr>
          <a:xfrm>
            <a:off x="8138160" y="1417320"/>
            <a:ext cx="3383280" cy="2194560"/>
          </a:xfrm>
          <a:prstGeom prst="roundRect">
            <a:avLst>
              <a:gd name="adj" fmla="val 5000"/>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15" name="a3_i_disc"/>
          <p:cNvSpPr/>
          <p:nvPr/>
        </p:nvSpPr>
        <p:spPr>
          <a:xfrm>
            <a:off x="8412480" y="1737360"/>
            <a:ext cx="914400" cy="914400"/>
          </a:xfrm>
          <a:prstGeom prst="ellipse">
            <a:avLst/>
          </a:prstGeom>
          <a:solidFill>
            <a:srgbClr val="7B61FF"/>
          </a:solidFill>
          <a:ln w="12700">
            <a:solidFill>
              <a:srgbClr val="7B61FF"/>
            </a:solidFill>
            <a:prstDash val="solid"/>
          </a:ln>
        </p:spPr>
      </p:sp>
      <p:pic>
        <p:nvPicPr>
          <p:cNvPr id="16" name="a3_i_icon" descr="preencoded.png">    </p:cNvPr>
          <p:cNvPicPr>
            <a:picLocks noChangeAspect="1"/>
          </p:cNvPicPr>
          <p:nvPr/>
        </p:nvPicPr>
        <p:blipFill>
          <a:blip r:embed="rId3"/>
          <a:stretch>
            <a:fillRect/>
          </a:stretch>
        </p:blipFill>
        <p:spPr>
          <a:xfrm>
            <a:off x="8631936" y="1956816"/>
            <a:ext cx="475488" cy="475488"/>
          </a:xfrm>
          <a:prstGeom prst="rect">
            <a:avLst/>
          </a:prstGeom>
        </p:spPr>
      </p:pic>
      <p:sp>
        <p:nvSpPr>
          <p:cNvPr id="17" name="a3_o"/>
          <p:cNvSpPr txBox="1"/>
          <p:nvPr/>
        </p:nvSpPr>
        <p:spPr>
          <a:xfrm>
            <a:off x="9555480" y="1737360"/>
            <a:ext cx="1737360" cy="548640"/>
          </a:xfrm>
          <a:prstGeom prst="rect">
            <a:avLst/>
          </a:prstGeom>
          <a:noFill/>
          <a:ln/>
        </p:spPr>
        <p:txBody>
          <a:bodyPr wrap="square" lIns="0" tIns="0" rIns="0" bIns="0" rtlCol="0" anchor="ctr"/>
          <a:lstStyle/>
          <a:p>
            <a:pPr indent="0" marL="0">
              <a:buNone/>
            </a:pPr>
            <a:r>
              <a:rPr lang="en-US" sz="3000" b="1" dirty="0">
                <a:solidFill>
                  <a:srgbClr val="7B61FF"/>
                </a:solidFill>
                <a:latin typeface="Cambria" pitchFamily="34" charset="0"/>
                <a:ea typeface="Cambria" pitchFamily="34" charset="-122"/>
                <a:cs typeface="Cambria" pitchFamily="34" charset="-120"/>
              </a:rPr>
              <a:t>O3</a:t>
            </a:r>
            <a:endParaRPr lang="en-US" sz="3000" dirty="0"/>
          </a:p>
        </p:txBody>
      </p:sp>
      <p:sp>
        <p:nvSpPr>
          <p:cNvPr id="18" name="a3_t"/>
          <p:cNvSpPr txBox="1"/>
          <p:nvPr/>
        </p:nvSpPr>
        <p:spPr>
          <a:xfrm>
            <a:off x="8412480" y="2834640"/>
            <a:ext cx="2926080" cy="548640"/>
          </a:xfrm>
          <a:prstGeom prst="rect">
            <a:avLst/>
          </a:prstGeom>
          <a:noFill/>
          <a:ln/>
        </p:spPr>
        <p:txBody>
          <a:bodyPr wrap="square" lIns="0" tIns="0" rIns="0" bIns="0" rtlCol="0" anchor="ctr"/>
          <a:lstStyle/>
          <a:p>
            <a:pPr indent="0" marL="0">
              <a:buNone/>
            </a:pPr>
            <a:r>
              <a:rPr lang="en-US" sz="1800" b="1" dirty="0">
                <a:solidFill>
                  <a:srgbClr val="1B2333"/>
                </a:solidFill>
                <a:latin typeface="Calibri" pitchFamily="34" charset="0"/>
                <a:ea typeface="Calibri" pitchFamily="34" charset="-122"/>
                <a:cs typeface="Calibri" pitchFamily="34" charset="-120"/>
              </a:rPr>
              <a:t>GNN : GCN · SAGE · GAT</a:t>
            </a:r>
            <a:endParaRPr lang="en-US" sz="1800" dirty="0"/>
          </a:p>
        </p:txBody>
      </p:sp>
      <p:sp>
        <p:nvSpPr>
          <p:cNvPr id="19" name="a4_c"/>
          <p:cNvSpPr/>
          <p:nvPr/>
        </p:nvSpPr>
        <p:spPr>
          <a:xfrm>
            <a:off x="640080" y="3931920"/>
            <a:ext cx="3383280" cy="2194560"/>
          </a:xfrm>
          <a:prstGeom prst="roundRect">
            <a:avLst>
              <a:gd name="adj" fmla="val 5000"/>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20" name="a4_i_disc"/>
          <p:cNvSpPr/>
          <p:nvPr/>
        </p:nvSpPr>
        <p:spPr>
          <a:xfrm>
            <a:off x="914400" y="4251960"/>
            <a:ext cx="914400" cy="914400"/>
          </a:xfrm>
          <a:prstGeom prst="ellipse">
            <a:avLst/>
          </a:prstGeom>
          <a:solidFill>
            <a:srgbClr val="F5B700"/>
          </a:solidFill>
          <a:ln w="12700">
            <a:solidFill>
              <a:srgbClr val="F5B700"/>
            </a:solidFill>
            <a:prstDash val="solid"/>
          </a:ln>
        </p:spPr>
      </p:sp>
      <p:pic>
        <p:nvPicPr>
          <p:cNvPr id="21" name="a4_i_icon" descr="preencoded.png">    </p:cNvPr>
          <p:cNvPicPr>
            <a:picLocks noChangeAspect="1"/>
          </p:cNvPicPr>
          <p:nvPr/>
        </p:nvPicPr>
        <p:blipFill>
          <a:blip r:embed="rId4"/>
          <a:stretch>
            <a:fillRect/>
          </a:stretch>
        </p:blipFill>
        <p:spPr>
          <a:xfrm>
            <a:off x="1133856" y="4471416"/>
            <a:ext cx="475488" cy="475488"/>
          </a:xfrm>
          <a:prstGeom prst="rect">
            <a:avLst/>
          </a:prstGeom>
        </p:spPr>
      </p:pic>
      <p:sp>
        <p:nvSpPr>
          <p:cNvPr id="22" name="a4_o"/>
          <p:cNvSpPr txBox="1"/>
          <p:nvPr/>
        </p:nvSpPr>
        <p:spPr>
          <a:xfrm>
            <a:off x="2057400" y="4251960"/>
            <a:ext cx="1737360" cy="548640"/>
          </a:xfrm>
          <a:prstGeom prst="rect">
            <a:avLst/>
          </a:prstGeom>
          <a:noFill/>
          <a:ln/>
        </p:spPr>
        <p:txBody>
          <a:bodyPr wrap="square" lIns="0" tIns="0" rIns="0" bIns="0" rtlCol="0" anchor="ctr"/>
          <a:lstStyle/>
          <a:p>
            <a:pPr indent="0" marL="0">
              <a:buNone/>
            </a:pPr>
            <a:r>
              <a:rPr lang="en-US" sz="3000" b="1" dirty="0">
                <a:solidFill>
                  <a:srgbClr val="F5B700"/>
                </a:solidFill>
                <a:latin typeface="Cambria" pitchFamily="34" charset="0"/>
                <a:ea typeface="Cambria" pitchFamily="34" charset="-122"/>
                <a:cs typeface="Cambria" pitchFamily="34" charset="-120"/>
              </a:rPr>
              <a:t>O4</a:t>
            </a:r>
            <a:endParaRPr lang="en-US" sz="3000" dirty="0"/>
          </a:p>
        </p:txBody>
      </p:sp>
      <p:sp>
        <p:nvSpPr>
          <p:cNvPr id="23" name="a4_t"/>
          <p:cNvSpPr txBox="1"/>
          <p:nvPr/>
        </p:nvSpPr>
        <p:spPr>
          <a:xfrm>
            <a:off x="914400" y="5349240"/>
            <a:ext cx="2926080" cy="548640"/>
          </a:xfrm>
          <a:prstGeom prst="rect">
            <a:avLst/>
          </a:prstGeom>
          <a:noFill/>
          <a:ln/>
        </p:spPr>
        <p:txBody>
          <a:bodyPr wrap="square" lIns="0" tIns="0" rIns="0" bIns="0" rtlCol="0" anchor="ctr"/>
          <a:lstStyle/>
          <a:p>
            <a:pPr indent="0" marL="0">
              <a:buNone/>
            </a:pPr>
            <a:r>
              <a:rPr lang="en-US" sz="1800" b="1" dirty="0">
                <a:solidFill>
                  <a:srgbClr val="1B2333"/>
                </a:solidFill>
                <a:latin typeface="Calibri" pitchFamily="34" charset="0"/>
                <a:ea typeface="Calibri" pitchFamily="34" charset="-122"/>
                <a:cs typeface="Calibri" pitchFamily="34" charset="-120"/>
              </a:rPr>
              <a:t>Explicabilité</a:t>
            </a:r>
            <a:endParaRPr lang="en-US" sz="1800" dirty="0"/>
          </a:p>
        </p:txBody>
      </p:sp>
      <p:sp>
        <p:nvSpPr>
          <p:cNvPr id="24" name="a5_c"/>
          <p:cNvSpPr/>
          <p:nvPr/>
        </p:nvSpPr>
        <p:spPr>
          <a:xfrm>
            <a:off x="4389120" y="3931920"/>
            <a:ext cx="3383280" cy="2194560"/>
          </a:xfrm>
          <a:prstGeom prst="roundRect">
            <a:avLst>
              <a:gd name="adj" fmla="val 5000"/>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25" name="a5_i_disc"/>
          <p:cNvSpPr/>
          <p:nvPr/>
        </p:nvSpPr>
        <p:spPr>
          <a:xfrm>
            <a:off x="4663440" y="4251960"/>
            <a:ext cx="914400" cy="914400"/>
          </a:xfrm>
          <a:prstGeom prst="ellipse">
            <a:avLst/>
          </a:prstGeom>
          <a:solidFill>
            <a:srgbClr val="00A99D"/>
          </a:solidFill>
          <a:ln w="12700">
            <a:solidFill>
              <a:srgbClr val="00A99D"/>
            </a:solidFill>
            <a:prstDash val="solid"/>
          </a:ln>
        </p:spPr>
      </p:sp>
      <p:pic>
        <p:nvPicPr>
          <p:cNvPr id="26" name="a5_i_icon" descr="preencoded.png">    </p:cNvPr>
          <p:cNvPicPr>
            <a:picLocks noChangeAspect="1"/>
          </p:cNvPicPr>
          <p:nvPr/>
        </p:nvPicPr>
        <p:blipFill>
          <a:blip r:embed="rId5"/>
          <a:stretch>
            <a:fillRect/>
          </a:stretch>
        </p:blipFill>
        <p:spPr>
          <a:xfrm>
            <a:off x="4882896" y="4471416"/>
            <a:ext cx="475488" cy="475488"/>
          </a:xfrm>
          <a:prstGeom prst="rect">
            <a:avLst/>
          </a:prstGeom>
        </p:spPr>
      </p:pic>
      <p:sp>
        <p:nvSpPr>
          <p:cNvPr id="27" name="a5_o"/>
          <p:cNvSpPr txBox="1"/>
          <p:nvPr/>
        </p:nvSpPr>
        <p:spPr>
          <a:xfrm>
            <a:off x="5806440" y="4251960"/>
            <a:ext cx="1737360" cy="548640"/>
          </a:xfrm>
          <a:prstGeom prst="rect">
            <a:avLst/>
          </a:prstGeom>
          <a:noFill/>
          <a:ln/>
        </p:spPr>
        <p:txBody>
          <a:bodyPr wrap="square" lIns="0" tIns="0" rIns="0" bIns="0" rtlCol="0" anchor="ctr"/>
          <a:lstStyle/>
          <a:p>
            <a:pPr indent="0" marL="0">
              <a:buNone/>
            </a:pPr>
            <a:r>
              <a:rPr lang="en-US" sz="3000" b="1" dirty="0">
                <a:solidFill>
                  <a:srgbClr val="00A99D"/>
                </a:solidFill>
                <a:latin typeface="Cambria" pitchFamily="34" charset="0"/>
                <a:ea typeface="Cambria" pitchFamily="34" charset="-122"/>
                <a:cs typeface="Cambria" pitchFamily="34" charset="-120"/>
              </a:rPr>
              <a:t>O5</a:t>
            </a:r>
            <a:endParaRPr lang="en-US" sz="3000" dirty="0"/>
          </a:p>
        </p:txBody>
      </p:sp>
      <p:sp>
        <p:nvSpPr>
          <p:cNvPr id="28" name="a5_t"/>
          <p:cNvSpPr txBox="1"/>
          <p:nvPr/>
        </p:nvSpPr>
        <p:spPr>
          <a:xfrm>
            <a:off x="4663440" y="5349240"/>
            <a:ext cx="2926080" cy="548640"/>
          </a:xfrm>
          <a:prstGeom prst="rect">
            <a:avLst/>
          </a:prstGeom>
          <a:noFill/>
          <a:ln/>
        </p:spPr>
        <p:txBody>
          <a:bodyPr wrap="square" lIns="0" tIns="0" rIns="0" bIns="0" rtlCol="0" anchor="ctr"/>
          <a:lstStyle/>
          <a:p>
            <a:pPr indent="0" marL="0">
              <a:buNone/>
            </a:pPr>
            <a:r>
              <a:rPr lang="en-US" sz="1800" b="1" dirty="0">
                <a:solidFill>
                  <a:srgbClr val="1B2333"/>
                </a:solidFill>
                <a:latin typeface="Calibri" pitchFamily="34" charset="0"/>
                <a:ea typeface="Calibri" pitchFamily="34" charset="-122"/>
                <a:cs typeface="Calibri" pitchFamily="34" charset="-120"/>
              </a:rPr>
              <a:t>Évaluation rigoureuse</a:t>
            </a:r>
            <a:endParaRPr lang="en-US" sz="1800" dirty="0"/>
          </a:p>
        </p:txBody>
      </p:sp>
      <p:sp>
        <p:nvSpPr>
          <p:cNvPr id="29" name="a6_c"/>
          <p:cNvSpPr/>
          <p:nvPr/>
        </p:nvSpPr>
        <p:spPr>
          <a:xfrm>
            <a:off x="8138160" y="3931920"/>
            <a:ext cx="3383280" cy="2194560"/>
          </a:xfrm>
          <a:prstGeom prst="roundRect">
            <a:avLst>
              <a:gd name="adj" fmla="val 5000"/>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30" name="a6_i_disc"/>
          <p:cNvSpPr/>
          <p:nvPr/>
        </p:nvSpPr>
        <p:spPr>
          <a:xfrm>
            <a:off x="8412480" y="4251960"/>
            <a:ext cx="914400" cy="914400"/>
          </a:xfrm>
          <a:prstGeom prst="ellipse">
            <a:avLst/>
          </a:prstGeom>
          <a:solidFill>
            <a:srgbClr val="16305C"/>
          </a:solidFill>
          <a:ln w="12700">
            <a:solidFill>
              <a:srgbClr val="16305C"/>
            </a:solidFill>
            <a:prstDash val="solid"/>
          </a:ln>
        </p:spPr>
      </p:sp>
      <p:pic>
        <p:nvPicPr>
          <p:cNvPr id="31" name="a6_i_icon" descr="preencoded.png">    </p:cNvPr>
          <p:cNvPicPr>
            <a:picLocks noChangeAspect="1"/>
          </p:cNvPicPr>
          <p:nvPr/>
        </p:nvPicPr>
        <p:blipFill>
          <a:blip r:embed="rId6"/>
          <a:stretch>
            <a:fillRect/>
          </a:stretch>
        </p:blipFill>
        <p:spPr>
          <a:xfrm>
            <a:off x="8631936" y="4471416"/>
            <a:ext cx="475488" cy="475488"/>
          </a:xfrm>
          <a:prstGeom prst="rect">
            <a:avLst/>
          </a:prstGeom>
        </p:spPr>
      </p:pic>
      <p:sp>
        <p:nvSpPr>
          <p:cNvPr id="32" name="a6_o"/>
          <p:cNvSpPr txBox="1"/>
          <p:nvPr/>
        </p:nvSpPr>
        <p:spPr>
          <a:xfrm>
            <a:off x="9555480" y="4251960"/>
            <a:ext cx="1737360" cy="548640"/>
          </a:xfrm>
          <a:prstGeom prst="rect">
            <a:avLst/>
          </a:prstGeom>
          <a:noFill/>
          <a:ln/>
        </p:spPr>
        <p:txBody>
          <a:bodyPr wrap="square" lIns="0" tIns="0" rIns="0" bIns="0" rtlCol="0" anchor="ctr"/>
          <a:lstStyle/>
          <a:p>
            <a:pPr indent="0" marL="0">
              <a:buNone/>
            </a:pPr>
            <a:r>
              <a:rPr lang="en-US" sz="3000" b="1" dirty="0">
                <a:solidFill>
                  <a:srgbClr val="16305C"/>
                </a:solidFill>
                <a:latin typeface="Cambria" pitchFamily="34" charset="0"/>
                <a:ea typeface="Cambria" pitchFamily="34" charset="-122"/>
                <a:cs typeface="Cambria" pitchFamily="34" charset="-120"/>
              </a:rPr>
              <a:t>O6</a:t>
            </a:r>
            <a:endParaRPr lang="en-US" sz="3000" dirty="0"/>
          </a:p>
        </p:txBody>
      </p:sp>
      <p:sp>
        <p:nvSpPr>
          <p:cNvPr id="33" name="a6_t"/>
          <p:cNvSpPr txBox="1"/>
          <p:nvPr/>
        </p:nvSpPr>
        <p:spPr>
          <a:xfrm>
            <a:off x="8412480" y="5349240"/>
            <a:ext cx="2926080" cy="548640"/>
          </a:xfrm>
          <a:prstGeom prst="rect">
            <a:avLst/>
          </a:prstGeom>
          <a:noFill/>
          <a:ln/>
        </p:spPr>
        <p:txBody>
          <a:bodyPr wrap="square" lIns="0" tIns="0" rIns="0" bIns="0" rtlCol="0" anchor="ctr"/>
          <a:lstStyle/>
          <a:p>
            <a:pPr indent="0" marL="0">
              <a:buNone/>
            </a:pPr>
            <a:r>
              <a:rPr lang="en-US" sz="1800" b="1" dirty="0">
                <a:solidFill>
                  <a:srgbClr val="1B2333"/>
                </a:solidFill>
                <a:latin typeface="Calibri" pitchFamily="34" charset="0"/>
                <a:ea typeface="Calibri" pitchFamily="34" charset="-122"/>
                <a:cs typeface="Calibri" pitchFamily="34" charset="-120"/>
              </a:rPr>
              <a:t>API · CLI · Web</a:t>
            </a:r>
            <a:endParaRPr lang="en-US" sz="18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childTnLst>
                          </p:cTn>
                        </p:par>
                        <p:par>
                          <p:cTn id="20" fill="hold">
                            <p:stCondLst>
                              <p:cond delay="350"/>
                            </p:stCondLst>
                            <p:childTnLst>
                              <p:par>
                                <p:cTn id="21" presetID="10" presetClass="entr" presetSubtype="0" fill="hold" grpId="0" nodeType="after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childTnLst>
                                </p:cTn>
                              </p:par>
                            </p:childTnLst>
                          </p:cTn>
                        </p:par>
                        <p:par>
                          <p:cTn id="36" fill="hold">
                            <p:stCondLst>
                              <p:cond delay="700"/>
                            </p:stCondLst>
                            <p:childTnLst>
                              <p:par>
                                <p:cTn id="37" presetID="10" presetClass="entr" presetSubtype="0" fill="hold" grpId="0" nodeType="after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500"/>
                                        <p:tgtEl>
                                          <p:spTgt spid="1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500"/>
                                        <p:tgtEl>
                                          <p:spTgt spid="1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500"/>
                                        <p:tgtEl>
                                          <p:spTgt spid="1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500"/>
                                        <p:tgtEl>
                                          <p:spTgt spid="18"/>
                                        </p:tgtEl>
                                      </p:cBhvr>
                                    </p:animEffect>
                                  </p:childTnLst>
                                </p:cTn>
                              </p:par>
                            </p:childTnLst>
                          </p:cTn>
                        </p:par>
                        <p:par>
                          <p:cTn id="52" fill="hold">
                            <p:stCondLst>
                              <p:cond delay="1050"/>
                            </p:stCondLst>
                            <p:childTnLst>
                              <p:par>
                                <p:cTn id="53" presetID="10" presetClass="entr" presetSubtype="0" fill="hold" grpId="0" nodeType="after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5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5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5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5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500"/>
                                        <p:tgtEl>
                                          <p:spTgt spid="23"/>
                                        </p:tgtEl>
                                      </p:cBhvr>
                                    </p:animEffect>
                                  </p:childTnLst>
                                </p:cTn>
                              </p:par>
                            </p:childTnLst>
                          </p:cTn>
                        </p:par>
                        <p:par>
                          <p:cTn id="68" fill="hold">
                            <p:stCondLst>
                              <p:cond delay="1400"/>
                            </p:stCondLst>
                            <p:childTnLst>
                              <p:par>
                                <p:cTn id="69" presetID="10" presetClass="entr" presetSubtype="0" fill="hold" grpId="0" nodeType="afterEffect">
                                  <p:stCondLst>
                                    <p:cond delay="0"/>
                                  </p:stCondLst>
                                  <p:childTnLst>
                                    <p:set>
                                      <p:cBhvr>
                                        <p:cTn id="70" dur="1" fill="hold">
                                          <p:stCondLst>
                                            <p:cond delay="0"/>
                                          </p:stCondLst>
                                        </p:cTn>
                                        <p:tgtEl>
                                          <p:spTgt spid="24"/>
                                        </p:tgtEl>
                                        <p:attrNameLst>
                                          <p:attrName>style.visibility</p:attrName>
                                        </p:attrNameLst>
                                      </p:cBhvr>
                                      <p:to>
                                        <p:strVal val="visible"/>
                                      </p:to>
                                    </p:set>
                                    <p:animEffect transition="in" filter="fade">
                                      <p:cBhvr>
                                        <p:cTn id="71" dur="500"/>
                                        <p:tgtEl>
                                          <p:spTgt spid="24"/>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500"/>
                                        <p:tgtEl>
                                          <p:spTgt spid="25"/>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6"/>
                                        </p:tgtEl>
                                        <p:attrNameLst>
                                          <p:attrName>style.visibility</p:attrName>
                                        </p:attrNameLst>
                                      </p:cBhvr>
                                      <p:to>
                                        <p:strVal val="visible"/>
                                      </p:to>
                                    </p:set>
                                    <p:animEffect transition="in" filter="fade">
                                      <p:cBhvr>
                                        <p:cTn id="77" dur="500"/>
                                        <p:tgtEl>
                                          <p:spTgt spid="26"/>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7"/>
                                        </p:tgtEl>
                                        <p:attrNameLst>
                                          <p:attrName>style.visibility</p:attrName>
                                        </p:attrNameLst>
                                      </p:cBhvr>
                                      <p:to>
                                        <p:strVal val="visible"/>
                                      </p:to>
                                    </p:set>
                                    <p:animEffect transition="in" filter="fade">
                                      <p:cBhvr>
                                        <p:cTn id="80" dur="500"/>
                                        <p:tgtEl>
                                          <p:spTgt spid="27"/>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8"/>
                                        </p:tgtEl>
                                        <p:attrNameLst>
                                          <p:attrName>style.visibility</p:attrName>
                                        </p:attrNameLst>
                                      </p:cBhvr>
                                      <p:to>
                                        <p:strVal val="visible"/>
                                      </p:to>
                                    </p:set>
                                    <p:animEffect transition="in" filter="fade">
                                      <p:cBhvr>
                                        <p:cTn id="83" dur="500"/>
                                        <p:tgtEl>
                                          <p:spTgt spid="28"/>
                                        </p:tgtEl>
                                      </p:cBhvr>
                                    </p:animEffect>
                                  </p:childTnLst>
                                </p:cTn>
                              </p:par>
                            </p:childTnLst>
                          </p:cTn>
                        </p:par>
                        <p:par>
                          <p:cTn id="84" fill="hold">
                            <p:stCondLst>
                              <p:cond delay="1750"/>
                            </p:stCondLst>
                            <p:childTnLst>
                              <p:par>
                                <p:cTn id="85" presetID="10" presetClass="entr" presetSubtype="0" fill="hold" grpId="0" nodeType="afterEffect">
                                  <p:stCondLst>
                                    <p:cond delay="0"/>
                                  </p:stCondLst>
                                  <p:childTnLst>
                                    <p:set>
                                      <p:cBhvr>
                                        <p:cTn id="86" dur="1" fill="hold">
                                          <p:stCondLst>
                                            <p:cond delay="0"/>
                                          </p:stCondLst>
                                        </p:cTn>
                                        <p:tgtEl>
                                          <p:spTgt spid="29"/>
                                        </p:tgtEl>
                                        <p:attrNameLst>
                                          <p:attrName>style.visibility</p:attrName>
                                        </p:attrNameLst>
                                      </p:cBhvr>
                                      <p:to>
                                        <p:strVal val="visible"/>
                                      </p:to>
                                    </p:set>
                                    <p:animEffect transition="in" filter="fade">
                                      <p:cBhvr>
                                        <p:cTn id="87" dur="500"/>
                                        <p:tgtEl>
                                          <p:spTgt spid="29"/>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0"/>
                                        </p:tgtEl>
                                        <p:attrNameLst>
                                          <p:attrName>style.visibility</p:attrName>
                                        </p:attrNameLst>
                                      </p:cBhvr>
                                      <p:to>
                                        <p:strVal val="visible"/>
                                      </p:to>
                                    </p:set>
                                    <p:animEffect transition="in" filter="fade">
                                      <p:cBhvr>
                                        <p:cTn id="90" dur="500"/>
                                        <p:tgtEl>
                                          <p:spTgt spid="30"/>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1"/>
                                        </p:tgtEl>
                                        <p:attrNameLst>
                                          <p:attrName>style.visibility</p:attrName>
                                        </p:attrNameLst>
                                      </p:cBhvr>
                                      <p:to>
                                        <p:strVal val="visible"/>
                                      </p:to>
                                    </p:set>
                                    <p:animEffect transition="in" filter="fade">
                                      <p:cBhvr>
                                        <p:cTn id="93" dur="500"/>
                                        <p:tgtEl>
                                          <p:spTgt spid="31"/>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32"/>
                                        </p:tgtEl>
                                        <p:attrNameLst>
                                          <p:attrName>style.visibility</p:attrName>
                                        </p:attrNameLst>
                                      </p:cBhvr>
                                      <p:to>
                                        <p:strVal val="visible"/>
                                      </p:to>
                                    </p:set>
                                    <p:animEffect transition="in" filter="fade">
                                      <p:cBhvr>
                                        <p:cTn id="96" dur="500"/>
                                        <p:tgtEl>
                                          <p:spTgt spid="32"/>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3"/>
                                        </p:tgtEl>
                                        <p:attrNameLst>
                                          <p:attrName>style.visibility</p:attrName>
                                        </p:attrNameLst>
                                      </p:cBhvr>
                                      <p:to>
                                        <p:strVal val="visible"/>
                                      </p:to>
                                    </p:set>
                                    <p:animEffect transition="in" filter="fade">
                                      <p:cBhvr>
                                        <p:cTn id="99"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2" grpId="0" animBg="1"/>
      <p:bldP spid="13" grpId="0" animBg="1"/>
      <p:bldP spid="14" grpId="0" animBg="1"/>
      <p:bldP spid="15" grpId="0" animBg="1"/>
      <p:bldP spid="17" grpId="0" animBg="1"/>
      <p:bldP spid="18" grpId="0" animBg="1"/>
      <p:bldP spid="19" grpId="0" animBg="1"/>
      <p:bldP spid="20" grpId="0" animBg="1"/>
      <p:bldP spid="22" grpId="0" animBg="1"/>
      <p:bldP spid="23" grpId="0" animBg="1"/>
      <p:bldP spid="24" grpId="0" animBg="1"/>
      <p:bldP spid="25" grpId="0" animBg="1"/>
      <p:bldP spid="27" grpId="0" animBg="1"/>
      <p:bldP spid="28" grpId="0" animBg="1"/>
      <p:bldP spid="29" grpId="0" animBg="1"/>
      <p:bldP spid="30" grpId="0" animBg="1"/>
      <p:bldP spid="32" grpId="0" animBg="1"/>
      <p:bldP spid="33"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rgbClr val="1B2333"/>
                </a:solidFill>
                <a:latin typeface="Cambria" pitchFamily="34" charset="0"/>
                <a:ea typeface="Cambria" pitchFamily="34" charset="-122"/>
                <a:cs typeface="Cambria" pitchFamily="34" charset="-120"/>
              </a:rPr>
              <a:t>Une architecture en six couches</a:t>
            </a:r>
            <a:endParaRPr lang="en-US" sz="3400" dirty="0"/>
          </a:p>
        </p:txBody>
      </p:sp>
      <p:sp>
        <p:nvSpPr>
          <p:cNvPr id="3" name="page"/>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100" dirty="0">
                <a:solidFill>
                  <a:srgbClr val="5B6577"/>
                </a:solidFill>
                <a:latin typeface="Calibri" pitchFamily="34" charset="0"/>
                <a:ea typeface="Calibri" pitchFamily="34" charset="-122"/>
                <a:cs typeface="Calibri" pitchFamily="34" charset="-120"/>
              </a:rPr>
              <a:t>4</a:t>
            </a:r>
            <a:endParaRPr lang="en-US" sz="1100" dirty="0"/>
          </a:p>
        </p:txBody>
      </p:sp>
      <p:sp>
        <p:nvSpPr>
          <p:cNvPr id="4" name="a1w_bar"/>
          <p:cNvSpPr/>
          <p:nvPr/>
        </p:nvSpPr>
        <p:spPr>
          <a:xfrm>
            <a:off x="1463040" y="5806440"/>
            <a:ext cx="9326880" cy="713232"/>
          </a:xfrm>
          <a:prstGeom prst="roundRect">
            <a:avLst>
              <a:gd name="adj" fmla="val 12821"/>
            </a:avLst>
          </a:prstGeom>
          <a:solidFill>
            <a:srgbClr val="4C9BE8"/>
          </a:solidFill>
          <a:ln w="12700">
            <a:solidFill>
              <a:srgbClr val="4C9BE8"/>
            </a:solidFill>
            <a:prstDash val="solid"/>
          </a:ln>
        </p:spPr>
      </p:sp>
      <p:pic>
        <p:nvPicPr>
          <p:cNvPr id="5" name="a1w_ic" descr="preencoded.png">    </p:cNvPr>
          <p:cNvPicPr>
            <a:picLocks noChangeAspect="1"/>
          </p:cNvPicPr>
          <p:nvPr/>
        </p:nvPicPr>
        <p:blipFill>
          <a:blip r:embed="rId1"/>
          <a:stretch>
            <a:fillRect/>
          </a:stretch>
        </p:blipFill>
        <p:spPr>
          <a:xfrm>
            <a:off x="1645920" y="5934456"/>
            <a:ext cx="457200" cy="457200"/>
          </a:xfrm>
          <a:prstGeom prst="rect">
            <a:avLst/>
          </a:prstGeom>
        </p:spPr>
      </p:pic>
      <p:sp>
        <p:nvSpPr>
          <p:cNvPr id="6" name="a1w_n"/>
          <p:cNvSpPr txBox="1"/>
          <p:nvPr/>
        </p:nvSpPr>
        <p:spPr>
          <a:xfrm>
            <a:off x="2286000" y="5897880"/>
            <a:ext cx="2560320" cy="530352"/>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Ingestion</a:t>
            </a:r>
            <a:endParaRPr lang="en-US" sz="2000" dirty="0"/>
          </a:p>
        </p:txBody>
      </p:sp>
      <p:sp>
        <p:nvSpPr>
          <p:cNvPr id="7" name="a1w_d"/>
          <p:cNvSpPr txBox="1"/>
          <p:nvPr/>
        </p:nvSpPr>
        <p:spPr>
          <a:xfrm>
            <a:off x="4846320" y="5897880"/>
            <a:ext cx="5760720" cy="53035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IBM AML · Elliptic · CSV/JSON/Parquet · Pydantic</a:t>
            </a:r>
            <a:endParaRPr lang="en-US" sz="1600" dirty="0"/>
          </a:p>
        </p:txBody>
      </p:sp>
      <p:sp>
        <p:nvSpPr>
          <p:cNvPr id="8" name="a2w_bar"/>
          <p:cNvSpPr/>
          <p:nvPr/>
        </p:nvSpPr>
        <p:spPr>
          <a:xfrm>
            <a:off x="1463040" y="4965192"/>
            <a:ext cx="9326880" cy="713232"/>
          </a:xfrm>
          <a:prstGeom prst="roundRect">
            <a:avLst>
              <a:gd name="adj" fmla="val 12821"/>
            </a:avLst>
          </a:prstGeom>
          <a:solidFill>
            <a:srgbClr val="3FB6D1"/>
          </a:solidFill>
          <a:ln w="12700">
            <a:solidFill>
              <a:srgbClr val="3FB6D1"/>
            </a:solidFill>
            <a:prstDash val="solid"/>
          </a:ln>
        </p:spPr>
      </p:sp>
      <p:pic>
        <p:nvPicPr>
          <p:cNvPr id="9" name="a2w_ic" descr="preencoded.png">    </p:cNvPr>
          <p:cNvPicPr>
            <a:picLocks noChangeAspect="1"/>
          </p:cNvPicPr>
          <p:nvPr/>
        </p:nvPicPr>
        <p:blipFill>
          <a:blip r:embed="rId2"/>
          <a:stretch>
            <a:fillRect/>
          </a:stretch>
        </p:blipFill>
        <p:spPr>
          <a:xfrm>
            <a:off x="1645920" y="5093208"/>
            <a:ext cx="457200" cy="457200"/>
          </a:xfrm>
          <a:prstGeom prst="rect">
            <a:avLst/>
          </a:prstGeom>
        </p:spPr>
      </p:pic>
      <p:sp>
        <p:nvSpPr>
          <p:cNvPr id="10" name="a2w_n"/>
          <p:cNvSpPr txBox="1"/>
          <p:nvPr/>
        </p:nvSpPr>
        <p:spPr>
          <a:xfrm>
            <a:off x="2286000" y="5056632"/>
            <a:ext cx="2560320" cy="530352"/>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Caractéristiques</a:t>
            </a:r>
            <a:endParaRPr lang="en-US" sz="2000" dirty="0"/>
          </a:p>
        </p:txBody>
      </p:sp>
      <p:sp>
        <p:nvSpPr>
          <p:cNvPr id="11" name="a2w_d"/>
          <p:cNvSpPr txBox="1"/>
          <p:nvPr/>
        </p:nvSpPr>
        <p:spPr>
          <a:xfrm>
            <a:off x="4846320" y="5056632"/>
            <a:ext cx="5760720" cy="53035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fenêtres causales 1 h · 24 h · 7 j · PageRank</a:t>
            </a:r>
            <a:endParaRPr lang="en-US" sz="1600" dirty="0"/>
          </a:p>
        </p:txBody>
      </p:sp>
      <p:sp>
        <p:nvSpPr>
          <p:cNvPr id="12" name="a3w_bar"/>
          <p:cNvSpPr/>
          <p:nvPr/>
        </p:nvSpPr>
        <p:spPr>
          <a:xfrm>
            <a:off x="1463040" y="4123944"/>
            <a:ext cx="9326880" cy="713232"/>
          </a:xfrm>
          <a:prstGeom prst="roundRect">
            <a:avLst>
              <a:gd name="adj" fmla="val 12821"/>
            </a:avLst>
          </a:prstGeom>
          <a:solidFill>
            <a:srgbClr val="00A99D"/>
          </a:solidFill>
          <a:ln w="12700">
            <a:solidFill>
              <a:srgbClr val="00A99D"/>
            </a:solidFill>
            <a:prstDash val="solid"/>
          </a:ln>
        </p:spPr>
      </p:sp>
      <p:pic>
        <p:nvPicPr>
          <p:cNvPr id="13" name="a3w_ic" descr="preencoded.png">    </p:cNvPr>
          <p:cNvPicPr>
            <a:picLocks noChangeAspect="1"/>
          </p:cNvPicPr>
          <p:nvPr/>
        </p:nvPicPr>
        <p:blipFill>
          <a:blip r:embed="rId3"/>
          <a:stretch>
            <a:fillRect/>
          </a:stretch>
        </p:blipFill>
        <p:spPr>
          <a:xfrm>
            <a:off x="1645920" y="4251960"/>
            <a:ext cx="457200" cy="457200"/>
          </a:xfrm>
          <a:prstGeom prst="rect">
            <a:avLst/>
          </a:prstGeom>
        </p:spPr>
      </p:pic>
      <p:sp>
        <p:nvSpPr>
          <p:cNvPr id="14" name="a3w_n"/>
          <p:cNvSpPr txBox="1"/>
          <p:nvPr/>
        </p:nvSpPr>
        <p:spPr>
          <a:xfrm>
            <a:off x="2286000" y="4215384"/>
            <a:ext cx="2560320" cy="530352"/>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Graphes</a:t>
            </a:r>
            <a:endParaRPr lang="en-US" sz="2000" dirty="0"/>
          </a:p>
        </p:txBody>
      </p:sp>
      <p:sp>
        <p:nvSpPr>
          <p:cNvPr id="15" name="a3w_d"/>
          <p:cNvSpPr txBox="1"/>
          <p:nvPr/>
        </p:nvSpPr>
        <p:spPr>
          <a:xfrm>
            <a:off x="4846320" y="4215384"/>
            <a:ext cx="5760720" cy="53035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NetworkX · PyTorch Geometric · Neo4j</a:t>
            </a:r>
            <a:endParaRPr lang="en-US" sz="1600" dirty="0"/>
          </a:p>
        </p:txBody>
      </p:sp>
      <p:sp>
        <p:nvSpPr>
          <p:cNvPr id="16" name="a4w_bar"/>
          <p:cNvSpPr/>
          <p:nvPr/>
        </p:nvSpPr>
        <p:spPr>
          <a:xfrm>
            <a:off x="1463040" y="3282696"/>
            <a:ext cx="9326880" cy="713232"/>
          </a:xfrm>
          <a:prstGeom prst="roundRect">
            <a:avLst>
              <a:gd name="adj" fmla="val 12821"/>
            </a:avLst>
          </a:prstGeom>
          <a:solidFill>
            <a:srgbClr val="F2545B"/>
          </a:solidFill>
          <a:ln w="12700">
            <a:solidFill>
              <a:srgbClr val="F2545B"/>
            </a:solidFill>
            <a:prstDash val="solid"/>
          </a:ln>
        </p:spPr>
      </p:sp>
      <p:pic>
        <p:nvPicPr>
          <p:cNvPr id="17" name="a4w_ic" descr="preencoded.png">    </p:cNvPr>
          <p:cNvPicPr>
            <a:picLocks noChangeAspect="1"/>
          </p:cNvPicPr>
          <p:nvPr/>
        </p:nvPicPr>
        <p:blipFill>
          <a:blip r:embed="rId4"/>
          <a:stretch>
            <a:fillRect/>
          </a:stretch>
        </p:blipFill>
        <p:spPr>
          <a:xfrm>
            <a:off x="1645920" y="3410712"/>
            <a:ext cx="457200" cy="457200"/>
          </a:xfrm>
          <a:prstGeom prst="rect">
            <a:avLst/>
          </a:prstGeom>
        </p:spPr>
      </p:pic>
      <p:sp>
        <p:nvSpPr>
          <p:cNvPr id="18" name="a4w_n"/>
          <p:cNvSpPr txBox="1"/>
          <p:nvPr/>
        </p:nvSpPr>
        <p:spPr>
          <a:xfrm>
            <a:off x="2286000" y="3374136"/>
            <a:ext cx="2560320" cy="530352"/>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Détecteurs</a:t>
            </a:r>
            <a:endParaRPr lang="en-US" sz="2000" dirty="0"/>
          </a:p>
        </p:txBody>
      </p:sp>
      <p:sp>
        <p:nvSpPr>
          <p:cNvPr id="19" name="a4w_d"/>
          <p:cNvSpPr txBox="1"/>
          <p:nvPr/>
        </p:nvSpPr>
        <p:spPr>
          <a:xfrm>
            <a:off x="4846320" y="3374136"/>
            <a:ext cx="5760720" cy="53035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7 motifs · tabulaires · GNN · hybride</a:t>
            </a:r>
            <a:endParaRPr lang="en-US" sz="1600" dirty="0"/>
          </a:p>
        </p:txBody>
      </p:sp>
      <p:sp>
        <p:nvSpPr>
          <p:cNvPr id="20" name="a5w_bar"/>
          <p:cNvSpPr/>
          <p:nvPr/>
        </p:nvSpPr>
        <p:spPr>
          <a:xfrm>
            <a:off x="1463040" y="2441448"/>
            <a:ext cx="9326880" cy="713232"/>
          </a:xfrm>
          <a:prstGeom prst="roundRect">
            <a:avLst>
              <a:gd name="adj" fmla="val 12821"/>
            </a:avLst>
          </a:prstGeom>
          <a:solidFill>
            <a:srgbClr val="F5B700"/>
          </a:solidFill>
          <a:ln w="12700">
            <a:solidFill>
              <a:srgbClr val="F5B700"/>
            </a:solidFill>
            <a:prstDash val="solid"/>
          </a:ln>
        </p:spPr>
      </p:sp>
      <p:pic>
        <p:nvPicPr>
          <p:cNvPr id="21" name="a5w_ic" descr="preencoded.png">    </p:cNvPr>
          <p:cNvPicPr>
            <a:picLocks noChangeAspect="1"/>
          </p:cNvPicPr>
          <p:nvPr/>
        </p:nvPicPr>
        <p:blipFill>
          <a:blip r:embed="rId5"/>
          <a:stretch>
            <a:fillRect/>
          </a:stretch>
        </p:blipFill>
        <p:spPr>
          <a:xfrm>
            <a:off x="1645920" y="2569464"/>
            <a:ext cx="457200" cy="457200"/>
          </a:xfrm>
          <a:prstGeom prst="rect">
            <a:avLst/>
          </a:prstGeom>
        </p:spPr>
      </p:pic>
      <p:sp>
        <p:nvSpPr>
          <p:cNvPr id="22" name="a5w_n"/>
          <p:cNvSpPr txBox="1"/>
          <p:nvPr/>
        </p:nvSpPr>
        <p:spPr>
          <a:xfrm>
            <a:off x="2286000" y="2532888"/>
            <a:ext cx="2560320" cy="530352"/>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Explications</a:t>
            </a:r>
            <a:endParaRPr lang="en-US" sz="2000" dirty="0"/>
          </a:p>
        </p:txBody>
      </p:sp>
      <p:sp>
        <p:nvSpPr>
          <p:cNvPr id="23" name="a5w_d"/>
          <p:cNvSpPr txBox="1"/>
          <p:nvPr/>
        </p:nvSpPr>
        <p:spPr>
          <a:xfrm>
            <a:off x="4846320" y="2532888"/>
            <a:ext cx="5760720" cy="53035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motifs · occlusion · GNNExplainer · Captum</a:t>
            </a:r>
            <a:endParaRPr lang="en-US" sz="1600" dirty="0"/>
          </a:p>
        </p:txBody>
      </p:sp>
      <p:sp>
        <p:nvSpPr>
          <p:cNvPr id="24" name="a6w_bar"/>
          <p:cNvSpPr/>
          <p:nvPr/>
        </p:nvSpPr>
        <p:spPr>
          <a:xfrm>
            <a:off x="1463040" y="1600200"/>
            <a:ext cx="9326880" cy="713232"/>
          </a:xfrm>
          <a:prstGeom prst="roundRect">
            <a:avLst>
              <a:gd name="adj" fmla="val 12821"/>
            </a:avLst>
          </a:prstGeom>
          <a:solidFill>
            <a:srgbClr val="7B61FF"/>
          </a:solidFill>
          <a:ln w="12700">
            <a:solidFill>
              <a:srgbClr val="7B61FF"/>
            </a:solidFill>
            <a:prstDash val="solid"/>
          </a:ln>
        </p:spPr>
      </p:sp>
      <p:pic>
        <p:nvPicPr>
          <p:cNvPr id="25" name="a6w_ic" descr="preencoded.png">    </p:cNvPr>
          <p:cNvPicPr>
            <a:picLocks noChangeAspect="1"/>
          </p:cNvPicPr>
          <p:nvPr/>
        </p:nvPicPr>
        <p:blipFill>
          <a:blip r:embed="rId6"/>
          <a:stretch>
            <a:fillRect/>
          </a:stretch>
        </p:blipFill>
        <p:spPr>
          <a:xfrm>
            <a:off x="1645920" y="1728216"/>
            <a:ext cx="457200" cy="457200"/>
          </a:xfrm>
          <a:prstGeom prst="rect">
            <a:avLst/>
          </a:prstGeom>
        </p:spPr>
      </p:pic>
      <p:sp>
        <p:nvSpPr>
          <p:cNvPr id="26" name="a6w_n"/>
          <p:cNvSpPr txBox="1"/>
          <p:nvPr/>
        </p:nvSpPr>
        <p:spPr>
          <a:xfrm>
            <a:off x="2286000" y="1691640"/>
            <a:ext cx="2560320" cy="530352"/>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Interfaces</a:t>
            </a:r>
            <a:endParaRPr lang="en-US" sz="2000" dirty="0"/>
          </a:p>
        </p:txBody>
      </p:sp>
      <p:sp>
        <p:nvSpPr>
          <p:cNvPr id="27" name="a6w_d"/>
          <p:cNvSpPr txBox="1"/>
          <p:nvPr/>
        </p:nvSpPr>
        <p:spPr>
          <a:xfrm>
            <a:off x="4846320" y="1691640"/>
            <a:ext cx="5760720" cy="530352"/>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web · REST · CLI · notebooks · MLflow · Hub</a:t>
            </a:r>
            <a:endParaRPr lang="en-US" sz="1600" dirty="0"/>
          </a:p>
        </p:txBody>
      </p:sp>
      <p:sp>
        <p:nvSpPr>
          <p:cNvPr id="28" name="a7_up"/>
          <p:cNvSpPr txBox="1"/>
          <p:nvPr/>
        </p:nvSpPr>
        <p:spPr>
          <a:xfrm>
            <a:off x="640080" y="1371600"/>
            <a:ext cx="548640" cy="457200"/>
          </a:xfrm>
          <a:prstGeom prst="rect">
            <a:avLst/>
          </a:prstGeom>
          <a:noFill/>
          <a:ln/>
        </p:spPr>
        <p:txBody>
          <a:bodyPr wrap="square" lIns="0" tIns="0" rIns="0" bIns="0" rtlCol="0" anchor="ctr"/>
          <a:lstStyle/>
          <a:p>
            <a:pPr algn="ctr" indent="0" marL="0">
              <a:buNone/>
            </a:pPr>
            <a:r>
              <a:rPr lang="en-US" sz="2400" dirty="0">
                <a:solidFill>
                  <a:srgbClr val="5B6577"/>
                </a:solidFill>
                <a:latin typeface="Calibri" pitchFamily="34" charset="0"/>
                <a:ea typeface="Calibri" pitchFamily="34" charset="-122"/>
                <a:cs typeface="Calibri" pitchFamily="34" charset="-120"/>
              </a:rPr>
              <a:t>▲</a:t>
            </a:r>
            <a:endParaRPr lang="en-US" sz="2400" dirty="0"/>
          </a:p>
        </p:txBody>
      </p:sp>
      <p:sp>
        <p:nvSpPr>
          <p:cNvPr id="29" name="a7_txt"/>
          <p:cNvSpPr txBox="1"/>
          <p:nvPr/>
        </p:nvSpPr>
        <p:spPr>
          <a:xfrm>
            <a:off x="411480" y="1828800"/>
            <a:ext cx="1005840" cy="3200400"/>
          </a:xfrm>
          <a:prstGeom prst="rect">
            <a:avLst/>
          </a:prstGeom>
          <a:noFill/>
          <a:ln/>
        </p:spPr>
        <p:txBody>
          <a:bodyPr wrap="square" lIns="0" tIns="0" rIns="0" bIns="0" rtlCol="0" anchor="ctr"/>
          <a:lstStyle/>
          <a:p>
            <a:pPr algn="ctr" indent="0" marL="0">
              <a:buNone/>
            </a:pPr>
            <a:r>
              <a:rPr lang="en-US" sz="1200" dirty="0">
                <a:solidFill>
                  <a:srgbClr val="5B6577"/>
                </a:solidFill>
                <a:latin typeface="Calibri" pitchFamily="34" charset="0"/>
                <a:ea typeface="Calibri" pitchFamily="34" charset="-122"/>
                <a:cs typeface="Calibri" pitchFamily="34" charset="-120"/>
              </a:rPr>
              <a:t>chaque couche n'utilise que celles du dessous</a:t>
            </a:r>
            <a:endParaRPr lang="en-US" sz="1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500"/>
                                        <p:tgtEl>
                                          <p:spTgt spid="4"/>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left)">
                                      <p:cBhvr>
                                        <p:cTn id="10" dur="500"/>
                                        <p:tgtEl>
                                          <p:spTgt spid="5"/>
                                        </p:tgtEl>
                                      </p:cBhvr>
                                    </p:animEffect>
                                  </p:childTnLst>
                                </p:cTn>
                              </p:par>
                              <p:par>
                                <p:cTn id="11" presetID="22" presetClass="entr" presetSubtype="8"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wipe(left)">
                                      <p:cBhvr>
                                        <p:cTn id="13" dur="500"/>
                                        <p:tgtEl>
                                          <p:spTgt spid="6"/>
                                        </p:tgtEl>
                                      </p:cBhvr>
                                    </p:animEffect>
                                  </p:childTnLst>
                                </p:cTn>
                              </p:par>
                              <p:par>
                                <p:cTn id="14" presetID="22" presetClass="entr" presetSubtype="8"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500"/>
                                        <p:tgtEl>
                                          <p:spTgt spid="7"/>
                                        </p:tgtEl>
                                      </p:cBhvr>
                                    </p:animEffect>
                                  </p:childTnLst>
                                </p:cTn>
                              </p:par>
                            </p:childTnLst>
                          </p:cTn>
                        </p:par>
                        <p:par>
                          <p:cTn id="17" fill="hold">
                            <p:stCondLst>
                              <p:cond delay="350"/>
                            </p:stCondLst>
                            <p:childTnLst>
                              <p:par>
                                <p:cTn id="18" presetID="22" presetClass="entr" presetSubtype="8" fill="hold" grpId="0" nodeType="after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500"/>
                                        <p:tgtEl>
                                          <p:spTgt spid="8"/>
                                        </p:tgtEl>
                                      </p:cBhvr>
                                    </p:animEffect>
                                  </p:childTnLst>
                                </p:cTn>
                              </p:par>
                              <p:par>
                                <p:cTn id="21" presetID="22" presetClass="entr" presetSubtype="8"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wipe(left)">
                                      <p:cBhvr>
                                        <p:cTn id="23" dur="500"/>
                                        <p:tgtEl>
                                          <p:spTgt spid="9"/>
                                        </p:tgtEl>
                                      </p:cBhvr>
                                    </p:animEffect>
                                  </p:childTnLst>
                                </p:cTn>
                              </p:par>
                              <p:par>
                                <p:cTn id="24" presetID="22" presetClass="entr" presetSubtype="8"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wipe(left)">
                                      <p:cBhvr>
                                        <p:cTn id="26" dur="500"/>
                                        <p:tgtEl>
                                          <p:spTgt spid="10"/>
                                        </p:tgtEl>
                                      </p:cBhvr>
                                    </p:animEffect>
                                  </p:childTnLst>
                                </p:cTn>
                              </p:par>
                              <p:par>
                                <p:cTn id="27" presetID="22" presetClass="entr" presetSubtype="8"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wipe(left)">
                                      <p:cBhvr>
                                        <p:cTn id="29" dur="500"/>
                                        <p:tgtEl>
                                          <p:spTgt spid="11"/>
                                        </p:tgtEl>
                                      </p:cBhvr>
                                    </p:animEffect>
                                  </p:childTnLst>
                                </p:cTn>
                              </p:par>
                            </p:childTnLst>
                          </p:cTn>
                        </p:par>
                        <p:par>
                          <p:cTn id="30" fill="hold">
                            <p:stCondLst>
                              <p:cond delay="700"/>
                            </p:stCondLst>
                            <p:childTnLst>
                              <p:par>
                                <p:cTn id="31" presetID="22" presetClass="entr" presetSubtype="8" fill="hold" grpId="0" nodeType="after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wipe(left)">
                                      <p:cBhvr>
                                        <p:cTn id="33" dur="500"/>
                                        <p:tgtEl>
                                          <p:spTgt spid="12"/>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6" dur="500"/>
                                        <p:tgtEl>
                                          <p:spTgt spid="13"/>
                                        </p:tgtEl>
                                      </p:cBhvr>
                                    </p:animEffect>
                                  </p:childTnLst>
                                </p:cTn>
                              </p:par>
                              <p:par>
                                <p:cTn id="37" presetID="22" presetClass="entr" presetSubtype="8"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wipe(left)">
                                      <p:cBhvr>
                                        <p:cTn id="39" dur="500"/>
                                        <p:tgtEl>
                                          <p:spTgt spid="14"/>
                                        </p:tgtEl>
                                      </p:cBhvr>
                                    </p:animEffect>
                                  </p:childTnLst>
                                </p:cTn>
                              </p:par>
                              <p:par>
                                <p:cTn id="40" presetID="22" presetClass="entr" presetSubtype="8" fill="hold" grpId="0"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wipe(left)">
                                      <p:cBhvr>
                                        <p:cTn id="42" dur="500"/>
                                        <p:tgtEl>
                                          <p:spTgt spid="15"/>
                                        </p:tgtEl>
                                      </p:cBhvr>
                                    </p:animEffect>
                                  </p:childTnLst>
                                </p:cTn>
                              </p:par>
                            </p:childTnLst>
                          </p:cTn>
                        </p:par>
                        <p:par>
                          <p:cTn id="43" fill="hold">
                            <p:stCondLst>
                              <p:cond delay="1050"/>
                            </p:stCondLst>
                            <p:childTnLst>
                              <p:par>
                                <p:cTn id="44" presetID="22" presetClass="entr" presetSubtype="8"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wipe(left)">
                                      <p:cBhvr>
                                        <p:cTn id="46" dur="500"/>
                                        <p:tgtEl>
                                          <p:spTgt spid="16"/>
                                        </p:tgtEl>
                                      </p:cBhvr>
                                    </p:animEffect>
                                  </p:childTnLst>
                                </p:cTn>
                              </p:par>
                              <p:par>
                                <p:cTn id="47" presetID="22" presetClass="entr" presetSubtype="8"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wipe(left)">
                                      <p:cBhvr>
                                        <p:cTn id="49" dur="500"/>
                                        <p:tgtEl>
                                          <p:spTgt spid="17"/>
                                        </p:tgtEl>
                                      </p:cBhvr>
                                    </p:animEffect>
                                  </p:childTnLst>
                                </p:cTn>
                              </p:par>
                              <p:par>
                                <p:cTn id="50" presetID="22" presetClass="entr" presetSubtype="8"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wipe(left)">
                                      <p:cBhvr>
                                        <p:cTn id="52" dur="500"/>
                                        <p:tgtEl>
                                          <p:spTgt spid="18"/>
                                        </p:tgtEl>
                                      </p:cBhvr>
                                    </p:animEffect>
                                  </p:childTnLst>
                                </p:cTn>
                              </p:par>
                              <p:par>
                                <p:cTn id="53" presetID="22" presetClass="entr" presetSubtype="8" fill="hold" grpId="0"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wipe(left)">
                                      <p:cBhvr>
                                        <p:cTn id="55" dur="500"/>
                                        <p:tgtEl>
                                          <p:spTgt spid="19"/>
                                        </p:tgtEl>
                                      </p:cBhvr>
                                    </p:animEffect>
                                  </p:childTnLst>
                                </p:cTn>
                              </p:par>
                            </p:childTnLst>
                          </p:cTn>
                        </p:par>
                        <p:par>
                          <p:cTn id="56" fill="hold">
                            <p:stCondLst>
                              <p:cond delay="1400"/>
                            </p:stCondLst>
                            <p:childTnLst>
                              <p:par>
                                <p:cTn id="57" presetID="22" presetClass="entr" presetSubtype="8" fill="hold" grpId="0" nodeType="after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wipe(left)">
                                      <p:cBhvr>
                                        <p:cTn id="59" dur="500"/>
                                        <p:tgtEl>
                                          <p:spTgt spid="20"/>
                                        </p:tgtEl>
                                      </p:cBhvr>
                                    </p:animEffect>
                                  </p:childTnLst>
                                </p:cTn>
                              </p:par>
                              <p:par>
                                <p:cTn id="60" presetID="22" presetClass="entr" presetSubtype="8" fill="hold" grpId="0" nodeType="with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wipe(left)">
                                      <p:cBhvr>
                                        <p:cTn id="62" dur="500"/>
                                        <p:tgtEl>
                                          <p:spTgt spid="21"/>
                                        </p:tgtEl>
                                      </p:cBhvr>
                                    </p:animEffect>
                                  </p:childTnLst>
                                </p:cTn>
                              </p:par>
                              <p:par>
                                <p:cTn id="63" presetID="22" presetClass="entr" presetSubtype="8" fill="hold" grpId="0" nodeType="with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wipe(left)">
                                      <p:cBhvr>
                                        <p:cTn id="65" dur="500"/>
                                        <p:tgtEl>
                                          <p:spTgt spid="22"/>
                                        </p:tgtEl>
                                      </p:cBhvr>
                                    </p:animEffect>
                                  </p:childTnLst>
                                </p:cTn>
                              </p:par>
                              <p:par>
                                <p:cTn id="66" presetID="22" presetClass="entr" presetSubtype="8" fill="hold" grpId="0" nodeType="withEffect">
                                  <p:stCondLst>
                                    <p:cond delay="0"/>
                                  </p:stCondLst>
                                  <p:childTnLst>
                                    <p:set>
                                      <p:cBhvr>
                                        <p:cTn id="67" dur="1" fill="hold">
                                          <p:stCondLst>
                                            <p:cond delay="0"/>
                                          </p:stCondLst>
                                        </p:cTn>
                                        <p:tgtEl>
                                          <p:spTgt spid="23"/>
                                        </p:tgtEl>
                                        <p:attrNameLst>
                                          <p:attrName>style.visibility</p:attrName>
                                        </p:attrNameLst>
                                      </p:cBhvr>
                                      <p:to>
                                        <p:strVal val="visible"/>
                                      </p:to>
                                    </p:set>
                                    <p:animEffect transition="in" filter="wipe(left)">
                                      <p:cBhvr>
                                        <p:cTn id="68" dur="500"/>
                                        <p:tgtEl>
                                          <p:spTgt spid="23"/>
                                        </p:tgtEl>
                                      </p:cBhvr>
                                    </p:animEffect>
                                  </p:childTnLst>
                                </p:cTn>
                              </p:par>
                            </p:childTnLst>
                          </p:cTn>
                        </p:par>
                        <p:par>
                          <p:cTn id="69" fill="hold">
                            <p:stCondLst>
                              <p:cond delay="1750"/>
                            </p:stCondLst>
                            <p:childTnLst>
                              <p:par>
                                <p:cTn id="70" presetID="22" presetClass="entr" presetSubtype="8" fill="hold" grpId="0" nodeType="after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wipe(left)">
                                      <p:cBhvr>
                                        <p:cTn id="72" dur="500"/>
                                        <p:tgtEl>
                                          <p:spTgt spid="24"/>
                                        </p:tgtEl>
                                      </p:cBhvr>
                                    </p:animEffect>
                                  </p:childTnLst>
                                </p:cTn>
                              </p:par>
                              <p:par>
                                <p:cTn id="73" presetID="22" presetClass="entr" presetSubtype="8" fill="hold" grpId="0" nodeType="with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wipe(left)">
                                      <p:cBhvr>
                                        <p:cTn id="75" dur="500"/>
                                        <p:tgtEl>
                                          <p:spTgt spid="25"/>
                                        </p:tgtEl>
                                      </p:cBhvr>
                                    </p:animEffect>
                                  </p:childTnLst>
                                </p:cTn>
                              </p:par>
                              <p:par>
                                <p:cTn id="76" presetID="22" presetClass="entr" presetSubtype="8"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wipe(left)">
                                      <p:cBhvr>
                                        <p:cTn id="78" dur="500"/>
                                        <p:tgtEl>
                                          <p:spTgt spid="26"/>
                                        </p:tgtEl>
                                      </p:cBhvr>
                                    </p:animEffect>
                                  </p:childTnLst>
                                </p:cTn>
                              </p:par>
                              <p:par>
                                <p:cTn id="79" presetID="22" presetClass="entr" presetSubtype="8" fill="hold" grpId="0" nodeType="with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wipe(left)">
                                      <p:cBhvr>
                                        <p:cTn id="81" dur="500"/>
                                        <p:tgtEl>
                                          <p:spTgt spid="27"/>
                                        </p:tgtEl>
                                      </p:cBhvr>
                                    </p:animEffect>
                                  </p:childTnLst>
                                </p:cTn>
                              </p:par>
                            </p:childTnLst>
                          </p:cTn>
                        </p:par>
                        <p:par>
                          <p:cTn id="82" fill="hold">
                            <p:stCondLst>
                              <p:cond delay="2100"/>
                            </p:stCondLst>
                            <p:childTnLst>
                              <p:par>
                                <p:cTn id="83" presetID="10" presetClass="entr" presetSubtype="0" fill="hold" grpId="0" nodeType="afterEffect">
                                  <p:stCondLst>
                                    <p:cond delay="0"/>
                                  </p:stCondLst>
                                  <p:childTnLst>
                                    <p:set>
                                      <p:cBhvr>
                                        <p:cTn id="84" dur="1" fill="hold">
                                          <p:stCondLst>
                                            <p:cond delay="0"/>
                                          </p:stCondLst>
                                        </p:cTn>
                                        <p:tgtEl>
                                          <p:spTgt spid="28"/>
                                        </p:tgtEl>
                                        <p:attrNameLst>
                                          <p:attrName>style.visibility</p:attrName>
                                        </p:attrNameLst>
                                      </p:cBhvr>
                                      <p:to>
                                        <p:strVal val="visible"/>
                                      </p:to>
                                    </p:set>
                                    <p:animEffect transition="in" filter="fade">
                                      <p:cBhvr>
                                        <p:cTn id="85" dur="500"/>
                                        <p:tgtEl>
                                          <p:spTgt spid="28"/>
                                        </p:tgtEl>
                                      </p:cBhvr>
                                    </p:animEffect>
                                  </p:childTnLst>
                                </p:cTn>
                              </p:par>
                              <p:par>
                                <p:cTn id="86" presetID="10" presetClass="entr" presetSubtype="0" fill="hold" grpId="0" nodeType="withEffect">
                                  <p:stCondLst>
                                    <p:cond delay="0"/>
                                  </p:stCondLst>
                                  <p:childTnLst>
                                    <p:set>
                                      <p:cBhvr>
                                        <p:cTn id="87" dur="1" fill="hold">
                                          <p:stCondLst>
                                            <p:cond delay="0"/>
                                          </p:stCondLst>
                                        </p:cTn>
                                        <p:tgtEl>
                                          <p:spTgt spid="29"/>
                                        </p:tgtEl>
                                        <p:attrNameLst>
                                          <p:attrName>style.visibility</p:attrName>
                                        </p:attrNameLst>
                                      </p:cBhvr>
                                      <p:to>
                                        <p:strVal val="visible"/>
                                      </p:to>
                                    </p:set>
                                    <p:animEffect transition="in" filter="fade">
                                      <p:cBhvr>
                                        <p:cTn id="88"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8" grpId="0" animBg="1"/>
      <p:bldP spid="10" grpId="0" animBg="1"/>
      <p:bldP spid="11" grpId="0" animBg="1"/>
      <p:bldP spid="12" grpId="0" animBg="1"/>
      <p:bldP spid="14" grpId="0" animBg="1"/>
      <p:bldP spid="15" grpId="0" animBg="1"/>
      <p:bldP spid="16" grpId="0" animBg="1"/>
      <p:bldP spid="18" grpId="0" animBg="1"/>
      <p:bldP spid="19" grpId="0" animBg="1"/>
      <p:bldP spid="20" grpId="0" animBg="1"/>
      <p:bldP spid="22" grpId="0" animBg="1"/>
      <p:bldP spid="23" grpId="0" animBg="1"/>
      <p:bldP spid="24" grpId="0" animBg="1"/>
      <p:bldP spid="26" grpId="0" animBg="1"/>
      <p:bldP spid="27" grpId="0" animBg="1"/>
      <p:bldP spid="28" grpId="0" animBg="1"/>
      <p:bldP spid="2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rgbClr val="1B2333"/>
                </a:solidFill>
                <a:latin typeface="Cambria" pitchFamily="34" charset="0"/>
                <a:ea typeface="Cambria" pitchFamily="34" charset="-122"/>
                <a:cs typeface="Cambria" pitchFamily="34" charset="-120"/>
              </a:rPr>
              <a:t>Trois jeux de données de référence</a:t>
            </a:r>
            <a:endParaRPr lang="en-US" sz="3400" dirty="0"/>
          </a:p>
        </p:txBody>
      </p:sp>
      <p:sp>
        <p:nvSpPr>
          <p:cNvPr id="3" name="page"/>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100" dirty="0">
                <a:solidFill>
                  <a:srgbClr val="5B6577"/>
                </a:solidFill>
                <a:latin typeface="Calibri" pitchFamily="34" charset="0"/>
                <a:ea typeface="Calibri" pitchFamily="34" charset="-122"/>
                <a:cs typeface="Calibri" pitchFamily="34" charset="-120"/>
              </a:rPr>
              <a:t>5</a:t>
            </a:r>
            <a:endParaRPr lang="en-US" sz="1100" dirty="0"/>
          </a:p>
        </p:txBody>
      </p:sp>
      <p:sp>
        <p:nvSpPr>
          <p:cNvPr id="4" name="a1_c"/>
          <p:cNvSpPr/>
          <p:nvPr/>
        </p:nvSpPr>
        <p:spPr>
          <a:xfrm>
            <a:off x="640080" y="1417320"/>
            <a:ext cx="3383280" cy="3566160"/>
          </a:xfrm>
          <a:prstGeom prst="roundRect">
            <a:avLst>
              <a:gd name="adj" fmla="val 3243"/>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5" name="a1_i_disc"/>
          <p:cNvSpPr/>
          <p:nvPr/>
        </p:nvSpPr>
        <p:spPr>
          <a:xfrm>
            <a:off x="914400" y="1645920"/>
            <a:ext cx="731520" cy="731520"/>
          </a:xfrm>
          <a:prstGeom prst="ellipse">
            <a:avLst/>
          </a:prstGeom>
          <a:solidFill>
            <a:srgbClr val="F2545B"/>
          </a:solidFill>
          <a:ln w="12700">
            <a:solidFill>
              <a:srgbClr val="F2545B"/>
            </a:solidFill>
            <a:prstDash val="solid"/>
          </a:ln>
        </p:spPr>
      </p:sp>
      <p:pic>
        <p:nvPicPr>
          <p:cNvPr id="6" name="a1_i_icon" descr="preencoded.png">    </p:cNvPr>
          <p:cNvPicPr>
            <a:picLocks noChangeAspect="1"/>
          </p:cNvPicPr>
          <p:nvPr/>
        </p:nvPicPr>
        <p:blipFill>
          <a:blip r:embed="rId1"/>
          <a:stretch>
            <a:fillRect/>
          </a:stretch>
        </p:blipFill>
        <p:spPr>
          <a:xfrm>
            <a:off x="1089965" y="1821485"/>
            <a:ext cx="380390" cy="380390"/>
          </a:xfrm>
          <a:prstGeom prst="rect">
            <a:avLst/>
          </a:prstGeom>
        </p:spPr>
      </p:pic>
      <p:sp>
        <p:nvSpPr>
          <p:cNvPr id="7" name="a1_n"/>
          <p:cNvSpPr txBox="1"/>
          <p:nvPr/>
        </p:nvSpPr>
        <p:spPr>
          <a:xfrm>
            <a:off x="1783080" y="1691640"/>
            <a:ext cx="2103120" cy="640080"/>
          </a:xfrm>
          <a:prstGeom prst="rect">
            <a:avLst/>
          </a:prstGeom>
          <a:noFill/>
          <a:ln/>
        </p:spPr>
        <p:txBody>
          <a:bodyPr wrap="square" lIns="0" tIns="0" rIns="0" bIns="0" rtlCol="0" anchor="ctr"/>
          <a:lstStyle/>
          <a:p>
            <a:pPr indent="0" marL="0">
              <a:buNone/>
            </a:pPr>
            <a:r>
              <a:rPr lang="en-US" sz="2000" b="1" dirty="0">
                <a:solidFill>
                  <a:srgbClr val="1B2333"/>
                </a:solidFill>
                <a:latin typeface="Cambria" pitchFamily="34" charset="0"/>
                <a:ea typeface="Cambria" pitchFamily="34" charset="-122"/>
                <a:cs typeface="Cambria" pitchFamily="34" charset="-120"/>
              </a:rPr>
              <a:t>IBM HI-Small</a:t>
            </a:r>
            <a:endParaRPr lang="en-US" sz="2000" dirty="0"/>
          </a:p>
        </p:txBody>
      </p:sp>
      <p:sp>
        <p:nvSpPr>
          <p:cNvPr id="8" name="a1_v"/>
          <p:cNvSpPr txBox="1"/>
          <p:nvPr/>
        </p:nvSpPr>
        <p:spPr>
          <a:xfrm>
            <a:off x="822960" y="2606040"/>
            <a:ext cx="3017520" cy="914400"/>
          </a:xfrm>
          <a:prstGeom prst="rect">
            <a:avLst/>
          </a:prstGeom>
          <a:noFill/>
          <a:ln/>
        </p:spPr>
        <p:txBody>
          <a:bodyPr wrap="square" lIns="0" tIns="0" rIns="0" bIns="0" rtlCol="0" anchor="ctr"/>
          <a:lstStyle/>
          <a:p>
            <a:pPr algn="ctr" indent="0" marL="0">
              <a:buNone/>
            </a:pPr>
            <a:r>
              <a:rPr lang="en-US" sz="4800" b="1" dirty="0">
                <a:solidFill>
                  <a:srgbClr val="F2545B"/>
                </a:solidFill>
                <a:latin typeface="Cambria" pitchFamily="34" charset="0"/>
                <a:ea typeface="Cambria" pitchFamily="34" charset="-122"/>
                <a:cs typeface="Cambria" pitchFamily="34" charset="-120"/>
              </a:rPr>
              <a:t>5,08 M</a:t>
            </a:r>
            <a:endParaRPr lang="en-US" sz="4800" dirty="0"/>
          </a:p>
        </p:txBody>
      </p:sp>
      <p:sp>
        <p:nvSpPr>
          <p:cNvPr id="9" name="a1_u"/>
          <p:cNvSpPr txBox="1"/>
          <p:nvPr/>
        </p:nvSpPr>
        <p:spPr>
          <a:xfrm>
            <a:off x="822960" y="3474720"/>
            <a:ext cx="3017520" cy="365760"/>
          </a:xfrm>
          <a:prstGeom prst="rect">
            <a:avLst/>
          </a:prstGeom>
          <a:noFill/>
          <a:ln/>
        </p:spPr>
        <p:txBody>
          <a:bodyPr wrap="square" lIns="0" tIns="0" rIns="0" bIns="0" rtlCol="0" anchor="ctr"/>
          <a:lstStyle/>
          <a:p>
            <a:pPr algn="ctr" indent="0" marL="0">
              <a:buNone/>
            </a:pPr>
            <a:r>
              <a:rPr lang="en-US" sz="1600" dirty="0">
                <a:solidFill>
                  <a:srgbClr val="5B6577"/>
                </a:solidFill>
                <a:latin typeface="Calibri" pitchFamily="34" charset="0"/>
                <a:ea typeface="Calibri" pitchFamily="34" charset="-122"/>
                <a:cs typeface="Calibri" pitchFamily="34" charset="-120"/>
              </a:rPr>
              <a:t>transactions</a:t>
            </a:r>
            <a:endParaRPr lang="en-US" sz="1600" dirty="0"/>
          </a:p>
        </p:txBody>
      </p:sp>
      <p:sp>
        <p:nvSpPr>
          <p:cNvPr id="10" name="a1_r"/>
          <p:cNvSpPr txBox="1"/>
          <p:nvPr/>
        </p:nvSpPr>
        <p:spPr>
          <a:xfrm>
            <a:off x="822960" y="4069080"/>
            <a:ext cx="3017520" cy="457200"/>
          </a:xfrm>
          <a:prstGeom prst="rect">
            <a:avLst/>
          </a:prstGeom>
          <a:noFill/>
          <a:ln/>
        </p:spPr>
        <p:txBody>
          <a:bodyPr wrap="square" lIns="0" tIns="0" rIns="0" bIns="0" rtlCol="0" anchor="ctr"/>
          <a:lstStyle/>
          <a:p>
            <a:pPr algn="ctr" indent="0" marL="0">
              <a:buNone/>
            </a:pPr>
            <a:r>
              <a:rPr lang="en-US" sz="1800" b="1" dirty="0">
                <a:solidFill>
                  <a:srgbClr val="1B2333"/>
                </a:solidFill>
                <a:latin typeface="Calibri" pitchFamily="34" charset="0"/>
                <a:ea typeface="Calibri" pitchFamily="34" charset="-122"/>
                <a:cs typeface="Calibri" pitchFamily="34" charset="-120"/>
              </a:rPr>
              <a:t>0,10 % illicites</a:t>
            </a:r>
            <a:endParaRPr lang="en-US" sz="1800" dirty="0"/>
          </a:p>
        </p:txBody>
      </p:sp>
      <p:sp>
        <p:nvSpPr>
          <p:cNvPr id="11" name="a2_c"/>
          <p:cNvSpPr/>
          <p:nvPr/>
        </p:nvSpPr>
        <p:spPr>
          <a:xfrm>
            <a:off x="4389120" y="1417320"/>
            <a:ext cx="3383280" cy="3566160"/>
          </a:xfrm>
          <a:prstGeom prst="roundRect">
            <a:avLst>
              <a:gd name="adj" fmla="val 3243"/>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12" name="a2_i_disc"/>
          <p:cNvSpPr/>
          <p:nvPr/>
        </p:nvSpPr>
        <p:spPr>
          <a:xfrm>
            <a:off x="4663440" y="1645920"/>
            <a:ext cx="731520" cy="731520"/>
          </a:xfrm>
          <a:prstGeom prst="ellipse">
            <a:avLst/>
          </a:prstGeom>
          <a:solidFill>
            <a:srgbClr val="4C9BE8"/>
          </a:solidFill>
          <a:ln w="12700">
            <a:solidFill>
              <a:srgbClr val="4C9BE8"/>
            </a:solidFill>
            <a:prstDash val="solid"/>
          </a:ln>
        </p:spPr>
      </p:sp>
      <p:pic>
        <p:nvPicPr>
          <p:cNvPr id="13" name="a2_i_icon" descr="preencoded.png">    </p:cNvPr>
          <p:cNvPicPr>
            <a:picLocks noChangeAspect="1"/>
          </p:cNvPicPr>
          <p:nvPr/>
        </p:nvPicPr>
        <p:blipFill>
          <a:blip r:embed="rId2"/>
          <a:stretch>
            <a:fillRect/>
          </a:stretch>
        </p:blipFill>
        <p:spPr>
          <a:xfrm>
            <a:off x="4839005" y="1821485"/>
            <a:ext cx="380390" cy="380390"/>
          </a:xfrm>
          <a:prstGeom prst="rect">
            <a:avLst/>
          </a:prstGeom>
        </p:spPr>
      </p:pic>
      <p:sp>
        <p:nvSpPr>
          <p:cNvPr id="14" name="a2_n"/>
          <p:cNvSpPr txBox="1"/>
          <p:nvPr/>
        </p:nvSpPr>
        <p:spPr>
          <a:xfrm>
            <a:off x="5532120" y="1691640"/>
            <a:ext cx="2103120" cy="640080"/>
          </a:xfrm>
          <a:prstGeom prst="rect">
            <a:avLst/>
          </a:prstGeom>
          <a:noFill/>
          <a:ln/>
        </p:spPr>
        <p:txBody>
          <a:bodyPr wrap="square" lIns="0" tIns="0" rIns="0" bIns="0" rtlCol="0" anchor="ctr"/>
          <a:lstStyle/>
          <a:p>
            <a:pPr indent="0" marL="0">
              <a:buNone/>
            </a:pPr>
            <a:r>
              <a:rPr lang="en-US" sz="2000" b="1" dirty="0">
                <a:solidFill>
                  <a:srgbClr val="1B2333"/>
                </a:solidFill>
                <a:latin typeface="Cambria" pitchFamily="34" charset="0"/>
                <a:ea typeface="Cambria" pitchFamily="34" charset="-122"/>
                <a:cs typeface="Cambria" pitchFamily="34" charset="-120"/>
              </a:rPr>
              <a:t>IBM LI-Small</a:t>
            </a:r>
            <a:endParaRPr lang="en-US" sz="2000" dirty="0"/>
          </a:p>
        </p:txBody>
      </p:sp>
      <p:sp>
        <p:nvSpPr>
          <p:cNvPr id="15" name="a2_v"/>
          <p:cNvSpPr txBox="1"/>
          <p:nvPr/>
        </p:nvSpPr>
        <p:spPr>
          <a:xfrm>
            <a:off x="4572000" y="2606040"/>
            <a:ext cx="3017520" cy="914400"/>
          </a:xfrm>
          <a:prstGeom prst="rect">
            <a:avLst/>
          </a:prstGeom>
          <a:noFill/>
          <a:ln/>
        </p:spPr>
        <p:txBody>
          <a:bodyPr wrap="square" lIns="0" tIns="0" rIns="0" bIns="0" rtlCol="0" anchor="ctr"/>
          <a:lstStyle/>
          <a:p>
            <a:pPr algn="ctr" indent="0" marL="0">
              <a:buNone/>
            </a:pPr>
            <a:r>
              <a:rPr lang="en-US" sz="4800" b="1" dirty="0">
                <a:solidFill>
                  <a:srgbClr val="4C9BE8"/>
                </a:solidFill>
                <a:latin typeface="Cambria" pitchFamily="34" charset="0"/>
                <a:ea typeface="Cambria" pitchFamily="34" charset="-122"/>
                <a:cs typeface="Cambria" pitchFamily="34" charset="-120"/>
              </a:rPr>
              <a:t>6,92 M</a:t>
            </a:r>
            <a:endParaRPr lang="en-US" sz="4800" dirty="0"/>
          </a:p>
        </p:txBody>
      </p:sp>
      <p:sp>
        <p:nvSpPr>
          <p:cNvPr id="16" name="a2_u"/>
          <p:cNvSpPr txBox="1"/>
          <p:nvPr/>
        </p:nvSpPr>
        <p:spPr>
          <a:xfrm>
            <a:off x="4572000" y="3474720"/>
            <a:ext cx="3017520" cy="365760"/>
          </a:xfrm>
          <a:prstGeom prst="rect">
            <a:avLst/>
          </a:prstGeom>
          <a:noFill/>
          <a:ln/>
        </p:spPr>
        <p:txBody>
          <a:bodyPr wrap="square" lIns="0" tIns="0" rIns="0" bIns="0" rtlCol="0" anchor="ctr"/>
          <a:lstStyle/>
          <a:p>
            <a:pPr algn="ctr" indent="0" marL="0">
              <a:buNone/>
            </a:pPr>
            <a:r>
              <a:rPr lang="en-US" sz="1600" dirty="0">
                <a:solidFill>
                  <a:srgbClr val="5B6577"/>
                </a:solidFill>
                <a:latin typeface="Calibri" pitchFamily="34" charset="0"/>
                <a:ea typeface="Calibri" pitchFamily="34" charset="-122"/>
                <a:cs typeface="Calibri" pitchFamily="34" charset="-120"/>
              </a:rPr>
              <a:t>transactions</a:t>
            </a:r>
            <a:endParaRPr lang="en-US" sz="1600" dirty="0"/>
          </a:p>
        </p:txBody>
      </p:sp>
      <p:sp>
        <p:nvSpPr>
          <p:cNvPr id="17" name="a2_r"/>
          <p:cNvSpPr txBox="1"/>
          <p:nvPr/>
        </p:nvSpPr>
        <p:spPr>
          <a:xfrm>
            <a:off x="4572000" y="4069080"/>
            <a:ext cx="3017520" cy="457200"/>
          </a:xfrm>
          <a:prstGeom prst="rect">
            <a:avLst/>
          </a:prstGeom>
          <a:noFill/>
          <a:ln/>
        </p:spPr>
        <p:txBody>
          <a:bodyPr wrap="square" lIns="0" tIns="0" rIns="0" bIns="0" rtlCol="0" anchor="ctr"/>
          <a:lstStyle/>
          <a:p>
            <a:pPr algn="ctr" indent="0" marL="0">
              <a:buNone/>
            </a:pPr>
            <a:r>
              <a:rPr lang="en-US" sz="1800" b="1" dirty="0">
                <a:solidFill>
                  <a:srgbClr val="1B2333"/>
                </a:solidFill>
                <a:latin typeface="Calibri" pitchFamily="34" charset="0"/>
                <a:ea typeface="Calibri" pitchFamily="34" charset="-122"/>
                <a:cs typeface="Calibri" pitchFamily="34" charset="-120"/>
              </a:rPr>
              <a:t>0,05 % illicites</a:t>
            </a:r>
            <a:endParaRPr lang="en-US" sz="1800" dirty="0"/>
          </a:p>
        </p:txBody>
      </p:sp>
      <p:sp>
        <p:nvSpPr>
          <p:cNvPr id="18" name="a3_c"/>
          <p:cNvSpPr/>
          <p:nvPr/>
        </p:nvSpPr>
        <p:spPr>
          <a:xfrm>
            <a:off x="8138160" y="1417320"/>
            <a:ext cx="3383280" cy="3566160"/>
          </a:xfrm>
          <a:prstGeom prst="roundRect">
            <a:avLst>
              <a:gd name="adj" fmla="val 3243"/>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19" name="a3_i_disc"/>
          <p:cNvSpPr/>
          <p:nvPr/>
        </p:nvSpPr>
        <p:spPr>
          <a:xfrm>
            <a:off x="8412480" y="1645920"/>
            <a:ext cx="731520" cy="731520"/>
          </a:xfrm>
          <a:prstGeom prst="ellipse">
            <a:avLst/>
          </a:prstGeom>
          <a:solidFill>
            <a:srgbClr val="F5B700"/>
          </a:solidFill>
          <a:ln w="12700">
            <a:solidFill>
              <a:srgbClr val="F5B700"/>
            </a:solidFill>
            <a:prstDash val="solid"/>
          </a:ln>
        </p:spPr>
      </p:sp>
      <p:pic>
        <p:nvPicPr>
          <p:cNvPr id="20" name="a3_i_icon" descr="preencoded.png">    </p:cNvPr>
          <p:cNvPicPr>
            <a:picLocks noChangeAspect="1"/>
          </p:cNvPicPr>
          <p:nvPr/>
        </p:nvPicPr>
        <p:blipFill>
          <a:blip r:embed="rId3"/>
          <a:stretch>
            <a:fillRect/>
          </a:stretch>
        </p:blipFill>
        <p:spPr>
          <a:xfrm>
            <a:off x="8588045" y="1821485"/>
            <a:ext cx="380390" cy="380390"/>
          </a:xfrm>
          <a:prstGeom prst="rect">
            <a:avLst/>
          </a:prstGeom>
        </p:spPr>
      </p:pic>
      <p:sp>
        <p:nvSpPr>
          <p:cNvPr id="21" name="a3_n"/>
          <p:cNvSpPr txBox="1"/>
          <p:nvPr/>
        </p:nvSpPr>
        <p:spPr>
          <a:xfrm>
            <a:off x="9281160" y="1691640"/>
            <a:ext cx="2103120" cy="640080"/>
          </a:xfrm>
          <a:prstGeom prst="rect">
            <a:avLst/>
          </a:prstGeom>
          <a:noFill/>
          <a:ln/>
        </p:spPr>
        <p:txBody>
          <a:bodyPr wrap="square" lIns="0" tIns="0" rIns="0" bIns="0" rtlCol="0" anchor="ctr"/>
          <a:lstStyle/>
          <a:p>
            <a:pPr indent="0" marL="0">
              <a:buNone/>
            </a:pPr>
            <a:r>
              <a:rPr lang="en-US" sz="2000" b="1" dirty="0">
                <a:solidFill>
                  <a:srgbClr val="1B2333"/>
                </a:solidFill>
                <a:latin typeface="Cambria" pitchFamily="34" charset="0"/>
                <a:ea typeface="Cambria" pitchFamily="34" charset="-122"/>
                <a:cs typeface="Cambria" pitchFamily="34" charset="-120"/>
              </a:rPr>
              <a:t>Elliptic</a:t>
            </a:r>
            <a:endParaRPr lang="en-US" sz="2000" dirty="0"/>
          </a:p>
        </p:txBody>
      </p:sp>
      <p:sp>
        <p:nvSpPr>
          <p:cNvPr id="22" name="a3_v"/>
          <p:cNvSpPr txBox="1"/>
          <p:nvPr/>
        </p:nvSpPr>
        <p:spPr>
          <a:xfrm>
            <a:off x="8321040" y="2606040"/>
            <a:ext cx="3017520" cy="914400"/>
          </a:xfrm>
          <a:prstGeom prst="rect">
            <a:avLst/>
          </a:prstGeom>
          <a:noFill/>
          <a:ln/>
        </p:spPr>
        <p:txBody>
          <a:bodyPr wrap="square" lIns="0" tIns="0" rIns="0" bIns="0" rtlCol="0" anchor="ctr"/>
          <a:lstStyle/>
          <a:p>
            <a:pPr algn="ctr" indent="0" marL="0">
              <a:buNone/>
            </a:pPr>
            <a:r>
              <a:rPr lang="en-US" sz="4800" b="1" dirty="0">
                <a:solidFill>
                  <a:srgbClr val="F5B700"/>
                </a:solidFill>
                <a:latin typeface="Cambria" pitchFamily="34" charset="0"/>
                <a:ea typeface="Cambria" pitchFamily="34" charset="-122"/>
                <a:cs typeface="Cambria" pitchFamily="34" charset="-120"/>
              </a:rPr>
              <a:t>49</a:t>
            </a:r>
            <a:endParaRPr lang="en-US" sz="4800" dirty="0"/>
          </a:p>
        </p:txBody>
      </p:sp>
      <p:sp>
        <p:nvSpPr>
          <p:cNvPr id="23" name="a3_u"/>
          <p:cNvSpPr txBox="1"/>
          <p:nvPr/>
        </p:nvSpPr>
        <p:spPr>
          <a:xfrm>
            <a:off x="8321040" y="3474720"/>
            <a:ext cx="3017520" cy="365760"/>
          </a:xfrm>
          <a:prstGeom prst="rect">
            <a:avLst/>
          </a:prstGeom>
          <a:noFill/>
          <a:ln/>
        </p:spPr>
        <p:txBody>
          <a:bodyPr wrap="square" lIns="0" tIns="0" rIns="0" bIns="0" rtlCol="0" anchor="ctr"/>
          <a:lstStyle/>
          <a:p>
            <a:pPr algn="ctr" indent="0" marL="0">
              <a:buNone/>
            </a:pPr>
            <a:r>
              <a:rPr lang="en-US" sz="1600" dirty="0">
                <a:solidFill>
                  <a:srgbClr val="5B6577"/>
                </a:solidFill>
                <a:latin typeface="Calibri" pitchFamily="34" charset="0"/>
                <a:ea typeface="Calibri" pitchFamily="34" charset="-122"/>
                <a:cs typeface="Calibri" pitchFamily="34" charset="-120"/>
              </a:rPr>
              <a:t>pas de temps (Bitcoin)</a:t>
            </a:r>
            <a:endParaRPr lang="en-US" sz="1600" dirty="0"/>
          </a:p>
        </p:txBody>
      </p:sp>
      <p:sp>
        <p:nvSpPr>
          <p:cNvPr id="24" name="a3_r"/>
          <p:cNvSpPr txBox="1"/>
          <p:nvPr/>
        </p:nvSpPr>
        <p:spPr>
          <a:xfrm>
            <a:off x="8321040" y="4069080"/>
            <a:ext cx="3017520" cy="457200"/>
          </a:xfrm>
          <a:prstGeom prst="rect">
            <a:avLst/>
          </a:prstGeom>
          <a:noFill/>
          <a:ln/>
        </p:spPr>
        <p:txBody>
          <a:bodyPr wrap="square" lIns="0" tIns="0" rIns="0" bIns="0" rtlCol="0" anchor="ctr"/>
          <a:lstStyle/>
          <a:p>
            <a:pPr algn="ctr" indent="0" marL="0">
              <a:buNone/>
            </a:pPr>
            <a:r>
              <a:rPr lang="en-US" sz="1800" b="1" dirty="0">
                <a:solidFill>
                  <a:srgbClr val="1B2333"/>
                </a:solidFill>
                <a:latin typeface="Calibri" pitchFamily="34" charset="0"/>
                <a:ea typeface="Calibri" pitchFamily="34" charset="-122"/>
                <a:cs typeface="Calibri" pitchFamily="34" charset="-120"/>
              </a:rPr>
              <a:t>6,5 % illicites (test)</a:t>
            </a:r>
            <a:endParaRPr lang="en-US" sz="1800" dirty="0"/>
          </a:p>
        </p:txBody>
      </p:sp>
      <p:sp>
        <p:nvSpPr>
          <p:cNvPr id="25" name="a4_tip_disc"/>
          <p:cNvSpPr/>
          <p:nvPr/>
        </p:nvSpPr>
        <p:spPr>
          <a:xfrm>
            <a:off x="640080" y="5349240"/>
            <a:ext cx="685800" cy="685800"/>
          </a:xfrm>
          <a:prstGeom prst="ellipse">
            <a:avLst/>
          </a:prstGeom>
          <a:solidFill>
            <a:srgbClr val="F5B700"/>
          </a:solidFill>
          <a:ln w="12700">
            <a:solidFill>
              <a:srgbClr val="F5B700"/>
            </a:solidFill>
            <a:prstDash val="solid"/>
          </a:ln>
        </p:spPr>
      </p:sp>
      <p:pic>
        <p:nvPicPr>
          <p:cNvPr id="26" name="a4_tip_icon" descr="preencoded.png">    </p:cNvPr>
          <p:cNvPicPr>
            <a:picLocks noChangeAspect="1"/>
          </p:cNvPicPr>
          <p:nvPr/>
        </p:nvPicPr>
        <p:blipFill>
          <a:blip r:embed="rId4"/>
          <a:stretch>
            <a:fillRect/>
          </a:stretch>
        </p:blipFill>
        <p:spPr>
          <a:xfrm>
            <a:off x="804672" y="5513832"/>
            <a:ext cx="356616" cy="356616"/>
          </a:xfrm>
          <a:prstGeom prst="rect">
            <a:avLst/>
          </a:prstGeom>
        </p:spPr>
      </p:pic>
      <p:sp>
        <p:nvSpPr>
          <p:cNvPr id="27" name="a4_tiptxt"/>
          <p:cNvSpPr txBox="1"/>
          <p:nvPr/>
        </p:nvSpPr>
        <p:spPr>
          <a:xfrm>
            <a:off x="1508760" y="5349240"/>
            <a:ext cx="10058400" cy="685800"/>
          </a:xfrm>
          <a:prstGeom prst="rect">
            <a:avLst/>
          </a:prstGeom>
          <a:noFill/>
          <a:ln/>
        </p:spPr>
        <p:txBody>
          <a:bodyPr wrap="square" lIns="0" tIns="0" rIns="0" bIns="0" rtlCol="0" anchor="ctr"/>
          <a:lstStyle/>
          <a:p>
            <a:pPr indent="0" marL="0">
              <a:buNone/>
            </a:pPr>
            <a:r>
              <a:rPr lang="en-US" sz="1800" b="1" dirty="0">
                <a:solidFill>
                  <a:srgbClr val="1B2333"/>
                </a:solidFill>
                <a:latin typeface="Calibri" pitchFamily="34" charset="0"/>
                <a:ea typeface="Calibri" pitchFamily="34" charset="-122"/>
                <a:cs typeface="Calibri" pitchFamily="34" charset="-120"/>
              </a:rPr>
              <a:t>Indice clé : </a:t>
            </a:r>
            <a:pPr indent="0" marL="0">
              <a:buNone/>
            </a:pPr>
            <a:r>
              <a:rPr lang="en-US" sz="1800" dirty="0">
                <a:solidFill>
                  <a:srgbClr val="1B2333"/>
                </a:solidFill>
                <a:latin typeface="Calibri" pitchFamily="34" charset="0"/>
                <a:ea typeface="Calibri" pitchFamily="34" charset="-122"/>
                <a:cs typeface="Calibri" pitchFamily="34" charset="-120"/>
              </a:rPr>
              <a:t>les virements ACH portent 0,75 % de blanchiment, les autres formats ≤ 0,04 %</a:t>
            </a:r>
            <a:endParaRPr lang="en-US" sz="18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childTnLst>
                          </p:cTn>
                        </p:par>
                        <p:par>
                          <p:cTn id="26" fill="hold">
                            <p:stCondLst>
                              <p:cond delay="350"/>
                            </p:stCondLst>
                            <p:childTnLst>
                              <p:par>
                                <p:cTn id="27" presetID="10" presetClass="entr" presetSubtype="0" fill="hold" grpId="0" nodeType="after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5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500"/>
                                        <p:tgtEl>
                                          <p:spTgt spid="17"/>
                                        </p:tgtEl>
                                      </p:cBhvr>
                                    </p:animEffect>
                                  </p:childTnLst>
                                </p:cTn>
                              </p:par>
                            </p:childTnLst>
                          </p:cTn>
                        </p:par>
                        <p:par>
                          <p:cTn id="48" fill="hold">
                            <p:stCondLst>
                              <p:cond delay="700"/>
                            </p:stCondLst>
                            <p:childTnLst>
                              <p:par>
                                <p:cTn id="49" presetID="10" presetClass="entr" presetSubtype="0" fill="hold" grpId="0" nodeType="after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500"/>
                                        <p:tgtEl>
                                          <p:spTgt spid="1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500"/>
                                        <p:tgtEl>
                                          <p:spTgt spid="19"/>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500"/>
                                        <p:tgtEl>
                                          <p:spTgt spid="20"/>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500"/>
                                        <p:tgtEl>
                                          <p:spTgt spid="21"/>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50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500"/>
                                        <p:tgtEl>
                                          <p:spTgt spid="2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500"/>
                                        <p:tgtEl>
                                          <p:spTgt spid="24"/>
                                        </p:tgtEl>
                                      </p:cBhvr>
                                    </p:animEffect>
                                  </p:childTnLst>
                                </p:cTn>
                              </p:par>
                            </p:childTnLst>
                          </p:cTn>
                        </p:par>
                        <p:par>
                          <p:cTn id="70" fill="hold">
                            <p:stCondLst>
                              <p:cond delay="1050"/>
                            </p:stCondLst>
                            <p:childTnLst>
                              <p:par>
                                <p:cTn id="71" presetID="10" presetClass="entr" presetSubtype="0" fill="hold" grpId="0" nodeType="afterEffect">
                                  <p:stCondLst>
                                    <p:cond delay="0"/>
                                  </p:stCondLst>
                                  <p:childTnLst>
                                    <p:set>
                                      <p:cBhvr>
                                        <p:cTn id="72" dur="1" fill="hold">
                                          <p:stCondLst>
                                            <p:cond delay="0"/>
                                          </p:stCondLst>
                                        </p:cTn>
                                        <p:tgtEl>
                                          <p:spTgt spid="25"/>
                                        </p:tgtEl>
                                        <p:attrNameLst>
                                          <p:attrName>style.visibility</p:attrName>
                                        </p:attrNameLst>
                                      </p:cBhvr>
                                      <p:to>
                                        <p:strVal val="visible"/>
                                      </p:to>
                                    </p:set>
                                    <p:animEffect transition="in" filter="fade">
                                      <p:cBhvr>
                                        <p:cTn id="73" dur="500"/>
                                        <p:tgtEl>
                                          <p:spTgt spid="25"/>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6"/>
                                        </p:tgtEl>
                                        <p:attrNameLst>
                                          <p:attrName>style.visibility</p:attrName>
                                        </p:attrNameLst>
                                      </p:cBhvr>
                                      <p:to>
                                        <p:strVal val="visible"/>
                                      </p:to>
                                    </p:set>
                                    <p:animEffect transition="in" filter="fade">
                                      <p:cBhvr>
                                        <p:cTn id="76" dur="500"/>
                                        <p:tgtEl>
                                          <p:spTgt spid="26"/>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27"/>
                                        </p:tgtEl>
                                        <p:attrNameLst>
                                          <p:attrName>style.visibility</p:attrName>
                                        </p:attrNameLst>
                                      </p:cBhvr>
                                      <p:to>
                                        <p:strVal val="visible"/>
                                      </p:to>
                                    </p:set>
                                    <p:animEffect transition="in" filter="fade">
                                      <p:cBhvr>
                                        <p:cTn id="79"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1" grpId="0" animBg="1"/>
      <p:bldP spid="12" grpId="0" animBg="1"/>
      <p:bldP spid="14" grpId="0" animBg="1"/>
      <p:bldP spid="15" grpId="0" animBg="1"/>
      <p:bldP spid="16" grpId="0" animBg="1"/>
      <p:bldP spid="17" grpId="0" animBg="1"/>
      <p:bldP spid="18" grpId="0" animBg="1"/>
      <p:bldP spid="19" grpId="0" animBg="1"/>
      <p:bldP spid="21" grpId="0" animBg="1"/>
      <p:bldP spid="22" grpId="0" animBg="1"/>
      <p:bldP spid="23" grpId="0" animBg="1"/>
      <p:bldP spid="24" grpId="0" animBg="1"/>
      <p:bldP spid="25" grpId="0" animBg="1"/>
      <p:bldP spid="2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rgbClr val="1B2333"/>
                </a:solidFill>
                <a:latin typeface="Cambria" pitchFamily="34" charset="0"/>
                <a:ea typeface="Cambria" pitchFamily="34" charset="-122"/>
                <a:cs typeface="Cambria" pitchFamily="34" charset="-120"/>
              </a:rPr>
              <a:t>Un protocole sans fuite de données</a:t>
            </a:r>
            <a:endParaRPr lang="en-US" sz="3400" dirty="0"/>
          </a:p>
        </p:txBody>
      </p:sp>
      <p:sp>
        <p:nvSpPr>
          <p:cNvPr id="3" name="page"/>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100" dirty="0">
                <a:solidFill>
                  <a:srgbClr val="5B6577"/>
                </a:solidFill>
                <a:latin typeface="Calibri" pitchFamily="34" charset="0"/>
                <a:ea typeface="Calibri" pitchFamily="34" charset="-122"/>
                <a:cs typeface="Calibri" pitchFamily="34" charset="-120"/>
              </a:rPr>
              <a:t>6</a:t>
            </a:r>
            <a:endParaRPr lang="en-US" sz="1100" dirty="0"/>
          </a:p>
        </p:txBody>
      </p:sp>
      <p:sp>
        <p:nvSpPr>
          <p:cNvPr id="4" name="a1w_seg"/>
          <p:cNvSpPr/>
          <p:nvPr/>
        </p:nvSpPr>
        <p:spPr>
          <a:xfrm>
            <a:off x="640080" y="1737360"/>
            <a:ext cx="6483096" cy="914400"/>
          </a:xfrm>
          <a:prstGeom prst="rect">
            <a:avLst/>
          </a:prstGeom>
          <a:solidFill>
            <a:srgbClr val="00A99D"/>
          </a:solidFill>
          <a:ln w="12700">
            <a:solidFill>
              <a:srgbClr val="00A99D"/>
            </a:solidFill>
            <a:prstDash val="solid"/>
          </a:ln>
        </p:spPr>
      </p:sp>
      <p:sp>
        <p:nvSpPr>
          <p:cNvPr id="5" name="a1w_lab"/>
          <p:cNvSpPr txBox="1"/>
          <p:nvPr/>
        </p:nvSpPr>
        <p:spPr>
          <a:xfrm>
            <a:off x="777240" y="1737360"/>
            <a:ext cx="6254496" cy="9144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Entraînement · 60 %</a:t>
            </a:r>
            <a:endParaRPr lang="en-US" sz="2000" dirty="0"/>
          </a:p>
        </p:txBody>
      </p:sp>
      <p:sp>
        <p:nvSpPr>
          <p:cNvPr id="6" name="a1w_verb"/>
          <p:cNvSpPr txBox="1"/>
          <p:nvPr/>
        </p:nvSpPr>
        <p:spPr>
          <a:xfrm>
            <a:off x="640080" y="2743200"/>
            <a:ext cx="6528816" cy="411480"/>
          </a:xfrm>
          <a:prstGeom prst="rect">
            <a:avLst/>
          </a:prstGeom>
          <a:noFill/>
          <a:ln/>
        </p:spPr>
        <p:txBody>
          <a:bodyPr wrap="square" lIns="0" tIns="0" rIns="0" bIns="0" rtlCol="0" anchor="ctr"/>
          <a:lstStyle/>
          <a:p>
            <a:pPr algn="ctr" indent="0" marL="0">
              <a:buNone/>
            </a:pPr>
            <a:r>
              <a:rPr lang="en-US" sz="1600" i="1" dirty="0">
                <a:solidFill>
                  <a:srgbClr val="5B6577"/>
                </a:solidFill>
                <a:latin typeface="Calibri" pitchFamily="34" charset="0"/>
                <a:ea typeface="Calibri" pitchFamily="34" charset="-122"/>
                <a:cs typeface="Calibri" pitchFamily="34" charset="-120"/>
              </a:rPr>
              <a:t>apprendre</a:t>
            </a:r>
            <a:endParaRPr lang="en-US" sz="1600" dirty="0"/>
          </a:p>
        </p:txBody>
      </p:sp>
      <p:sp>
        <p:nvSpPr>
          <p:cNvPr id="7" name="a2w_seg"/>
          <p:cNvSpPr/>
          <p:nvPr/>
        </p:nvSpPr>
        <p:spPr>
          <a:xfrm>
            <a:off x="7168896" y="1737360"/>
            <a:ext cx="2130552" cy="914400"/>
          </a:xfrm>
          <a:prstGeom prst="rect">
            <a:avLst/>
          </a:prstGeom>
          <a:solidFill>
            <a:srgbClr val="F5B700"/>
          </a:solidFill>
          <a:ln w="12700">
            <a:solidFill>
              <a:srgbClr val="F5B700"/>
            </a:solidFill>
            <a:prstDash val="solid"/>
          </a:ln>
        </p:spPr>
      </p:sp>
      <p:sp>
        <p:nvSpPr>
          <p:cNvPr id="8" name="a2w_lab"/>
          <p:cNvSpPr txBox="1"/>
          <p:nvPr/>
        </p:nvSpPr>
        <p:spPr>
          <a:xfrm>
            <a:off x="7306056" y="1737360"/>
            <a:ext cx="1901952" cy="9144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Validation · 20 %</a:t>
            </a:r>
            <a:endParaRPr lang="en-US" sz="2000" dirty="0"/>
          </a:p>
        </p:txBody>
      </p:sp>
      <p:sp>
        <p:nvSpPr>
          <p:cNvPr id="9" name="a2w_verb"/>
          <p:cNvSpPr txBox="1"/>
          <p:nvPr/>
        </p:nvSpPr>
        <p:spPr>
          <a:xfrm>
            <a:off x="7168896" y="2743200"/>
            <a:ext cx="2176272" cy="411480"/>
          </a:xfrm>
          <a:prstGeom prst="rect">
            <a:avLst/>
          </a:prstGeom>
          <a:noFill/>
          <a:ln/>
        </p:spPr>
        <p:txBody>
          <a:bodyPr wrap="square" lIns="0" tIns="0" rIns="0" bIns="0" rtlCol="0" anchor="ctr"/>
          <a:lstStyle/>
          <a:p>
            <a:pPr algn="ctr" indent="0" marL="0">
              <a:buNone/>
            </a:pPr>
            <a:r>
              <a:rPr lang="en-US" sz="1600" i="1" dirty="0">
                <a:solidFill>
                  <a:srgbClr val="5B6577"/>
                </a:solidFill>
                <a:latin typeface="Calibri" pitchFamily="34" charset="0"/>
                <a:ea typeface="Calibri" pitchFamily="34" charset="-122"/>
                <a:cs typeface="Calibri" pitchFamily="34" charset="-120"/>
              </a:rPr>
              <a:t>régler</a:t>
            </a:r>
            <a:endParaRPr lang="en-US" sz="1600" dirty="0"/>
          </a:p>
        </p:txBody>
      </p:sp>
      <p:sp>
        <p:nvSpPr>
          <p:cNvPr id="10" name="a3w_seg"/>
          <p:cNvSpPr/>
          <p:nvPr/>
        </p:nvSpPr>
        <p:spPr>
          <a:xfrm>
            <a:off x="9345168" y="1737360"/>
            <a:ext cx="2130552" cy="914400"/>
          </a:xfrm>
          <a:prstGeom prst="rect">
            <a:avLst/>
          </a:prstGeom>
          <a:solidFill>
            <a:srgbClr val="F2545B"/>
          </a:solidFill>
          <a:ln w="12700">
            <a:solidFill>
              <a:srgbClr val="F2545B"/>
            </a:solidFill>
            <a:prstDash val="solid"/>
          </a:ln>
        </p:spPr>
      </p:sp>
      <p:sp>
        <p:nvSpPr>
          <p:cNvPr id="11" name="a3w_lab"/>
          <p:cNvSpPr txBox="1"/>
          <p:nvPr/>
        </p:nvSpPr>
        <p:spPr>
          <a:xfrm>
            <a:off x="9482328" y="1737360"/>
            <a:ext cx="1901952" cy="914400"/>
          </a:xfrm>
          <a:prstGeom prst="rect">
            <a:avLst/>
          </a:prstGeom>
          <a:noFill/>
          <a:ln/>
        </p:spPr>
        <p:txBody>
          <a:bodyPr wrap="square" lIns="0" tIns="0" rIns="0" bIns="0" rtlCol="0" anchor="ctr"/>
          <a:lstStyle/>
          <a:p>
            <a:pPr indent="0" marL="0">
              <a:buNone/>
            </a:pPr>
            <a:r>
              <a:rPr lang="en-US" sz="2000" b="1" dirty="0">
                <a:solidFill>
                  <a:srgbClr val="FFFFFF"/>
                </a:solidFill>
                <a:latin typeface="Calibri" pitchFamily="34" charset="0"/>
                <a:ea typeface="Calibri" pitchFamily="34" charset="-122"/>
                <a:cs typeface="Calibri" pitchFamily="34" charset="-120"/>
              </a:rPr>
              <a:t>Test · 20 %</a:t>
            </a:r>
            <a:endParaRPr lang="en-US" sz="2000" dirty="0"/>
          </a:p>
        </p:txBody>
      </p:sp>
      <p:sp>
        <p:nvSpPr>
          <p:cNvPr id="12" name="a3w_verb"/>
          <p:cNvSpPr txBox="1"/>
          <p:nvPr/>
        </p:nvSpPr>
        <p:spPr>
          <a:xfrm>
            <a:off x="9345168" y="2743200"/>
            <a:ext cx="2176272" cy="411480"/>
          </a:xfrm>
          <a:prstGeom prst="rect">
            <a:avLst/>
          </a:prstGeom>
          <a:noFill/>
          <a:ln/>
        </p:spPr>
        <p:txBody>
          <a:bodyPr wrap="square" lIns="0" tIns="0" rIns="0" bIns="0" rtlCol="0" anchor="ctr"/>
          <a:lstStyle/>
          <a:p>
            <a:pPr algn="ctr" indent="0" marL="0">
              <a:buNone/>
            </a:pPr>
            <a:r>
              <a:rPr lang="en-US" sz="1600" i="1" dirty="0">
                <a:solidFill>
                  <a:srgbClr val="5B6577"/>
                </a:solidFill>
                <a:latin typeface="Calibri" pitchFamily="34" charset="0"/>
                <a:ea typeface="Calibri" pitchFamily="34" charset="-122"/>
                <a:cs typeface="Calibri" pitchFamily="34" charset="-120"/>
              </a:rPr>
              <a:t>mesurer</a:t>
            </a:r>
            <a:endParaRPr lang="en-US" sz="1600" dirty="0"/>
          </a:p>
        </p:txBody>
      </p:sp>
      <p:sp>
        <p:nvSpPr>
          <p:cNvPr id="13" name="a3w_time"/>
          <p:cNvSpPr txBox="1"/>
          <p:nvPr/>
        </p:nvSpPr>
        <p:spPr>
          <a:xfrm>
            <a:off x="10607040" y="3154680"/>
            <a:ext cx="914400" cy="365760"/>
          </a:xfrm>
          <a:prstGeom prst="rect">
            <a:avLst/>
          </a:prstGeom>
          <a:noFill/>
          <a:ln/>
        </p:spPr>
        <p:txBody>
          <a:bodyPr wrap="square" lIns="0" tIns="0" rIns="0" bIns="0" rtlCol="0" anchor="ctr"/>
          <a:lstStyle/>
          <a:p>
            <a:pPr algn="r" indent="0" marL="0">
              <a:buNone/>
            </a:pPr>
            <a:r>
              <a:rPr lang="en-US" sz="1400" dirty="0">
                <a:solidFill>
                  <a:srgbClr val="5B6577"/>
                </a:solidFill>
                <a:latin typeface="Calibri" pitchFamily="34" charset="0"/>
                <a:ea typeface="Calibri" pitchFamily="34" charset="-122"/>
                <a:cs typeface="Calibri" pitchFamily="34" charset="-120"/>
              </a:rPr>
              <a:t>temps →</a:t>
            </a:r>
            <a:endParaRPr lang="en-US" sz="1400" dirty="0"/>
          </a:p>
        </p:txBody>
      </p:sp>
      <p:sp>
        <p:nvSpPr>
          <p:cNvPr id="14" name="a4_r_disc"/>
          <p:cNvSpPr/>
          <p:nvPr/>
        </p:nvSpPr>
        <p:spPr>
          <a:xfrm>
            <a:off x="640080" y="3977640"/>
            <a:ext cx="822960" cy="822960"/>
          </a:xfrm>
          <a:prstGeom prst="ellipse">
            <a:avLst/>
          </a:prstGeom>
          <a:solidFill>
            <a:srgbClr val="00A99D"/>
          </a:solidFill>
          <a:ln w="12700">
            <a:solidFill>
              <a:srgbClr val="00A99D"/>
            </a:solidFill>
            <a:prstDash val="solid"/>
          </a:ln>
        </p:spPr>
      </p:sp>
      <p:pic>
        <p:nvPicPr>
          <p:cNvPr id="15" name="a4_r_icon" descr="preencoded.png">    </p:cNvPr>
          <p:cNvPicPr>
            <a:picLocks noChangeAspect="1"/>
          </p:cNvPicPr>
          <p:nvPr/>
        </p:nvPicPr>
        <p:blipFill>
          <a:blip r:embed="rId1"/>
          <a:stretch>
            <a:fillRect/>
          </a:stretch>
        </p:blipFill>
        <p:spPr>
          <a:xfrm>
            <a:off x="837590" y="4175150"/>
            <a:ext cx="427939" cy="427939"/>
          </a:xfrm>
          <a:prstGeom prst="rect">
            <a:avLst/>
          </a:prstGeom>
        </p:spPr>
      </p:pic>
      <p:sp>
        <p:nvSpPr>
          <p:cNvPr id="16" name="a4_t"/>
          <p:cNvSpPr txBox="1"/>
          <p:nvPr/>
        </p:nvSpPr>
        <p:spPr>
          <a:xfrm>
            <a:off x="1645920" y="3977640"/>
            <a:ext cx="2651760" cy="457200"/>
          </a:xfrm>
          <a:prstGeom prst="rect">
            <a:avLst/>
          </a:prstGeom>
          <a:noFill/>
          <a:ln/>
        </p:spPr>
        <p:txBody>
          <a:bodyPr wrap="square" lIns="0" tIns="0" rIns="0" bIns="0" rtlCol="0" anchor="ctr"/>
          <a:lstStyle/>
          <a:p>
            <a:pPr indent="0" marL="0">
              <a:buNone/>
            </a:pPr>
            <a:r>
              <a:rPr lang="en-US" sz="1800" b="1" dirty="0">
                <a:solidFill>
                  <a:srgbClr val="1B2333"/>
                </a:solidFill>
                <a:latin typeface="Calibri" pitchFamily="34" charset="0"/>
                <a:ea typeface="Calibri" pitchFamily="34" charset="-122"/>
                <a:cs typeface="Calibri" pitchFamily="34" charset="-120"/>
              </a:rPr>
              <a:t>Caractéristiques causales</a:t>
            </a:r>
            <a:endParaRPr lang="en-US" sz="1800" dirty="0"/>
          </a:p>
        </p:txBody>
      </p:sp>
      <p:sp>
        <p:nvSpPr>
          <p:cNvPr id="17" name="a4_d"/>
          <p:cNvSpPr txBox="1"/>
          <p:nvPr/>
        </p:nvSpPr>
        <p:spPr>
          <a:xfrm>
            <a:off x="1645920" y="4434840"/>
            <a:ext cx="2651760" cy="457200"/>
          </a:xfrm>
          <a:prstGeom prst="rect">
            <a:avLst/>
          </a:prstGeom>
          <a:noFill/>
          <a:ln/>
        </p:spPr>
        <p:txBody>
          <a:bodyPr wrap="square" lIns="0" tIns="0" rIns="0" bIns="0" rtlCol="0" anchor="ctr"/>
          <a:lstStyle/>
          <a:p>
            <a:pPr indent="0" marL="0">
              <a:buNone/>
            </a:pPr>
            <a:r>
              <a:rPr lang="en-US" sz="1600" dirty="0">
                <a:solidFill>
                  <a:srgbClr val="5B6577"/>
                </a:solidFill>
                <a:latin typeface="Calibri" pitchFamily="34" charset="0"/>
                <a:ea typeface="Calibri" pitchFamily="34" charset="-122"/>
                <a:cs typeface="Calibri" pitchFamily="34" charset="-120"/>
              </a:rPr>
              <a:t>jamais d'information future</a:t>
            </a:r>
            <a:endParaRPr lang="en-US" sz="1600" dirty="0"/>
          </a:p>
        </p:txBody>
      </p:sp>
      <p:sp>
        <p:nvSpPr>
          <p:cNvPr id="18" name="a5_r_disc"/>
          <p:cNvSpPr/>
          <p:nvPr/>
        </p:nvSpPr>
        <p:spPr>
          <a:xfrm>
            <a:off x="4389120" y="3977640"/>
            <a:ext cx="822960" cy="822960"/>
          </a:xfrm>
          <a:prstGeom prst="ellipse">
            <a:avLst/>
          </a:prstGeom>
          <a:solidFill>
            <a:srgbClr val="F5B700"/>
          </a:solidFill>
          <a:ln w="12700">
            <a:solidFill>
              <a:srgbClr val="F5B700"/>
            </a:solidFill>
            <a:prstDash val="solid"/>
          </a:ln>
        </p:spPr>
      </p:sp>
      <p:pic>
        <p:nvPicPr>
          <p:cNvPr id="19" name="a5_r_icon" descr="preencoded.png">    </p:cNvPr>
          <p:cNvPicPr>
            <a:picLocks noChangeAspect="1"/>
          </p:cNvPicPr>
          <p:nvPr/>
        </p:nvPicPr>
        <p:blipFill>
          <a:blip r:embed="rId2"/>
          <a:stretch>
            <a:fillRect/>
          </a:stretch>
        </p:blipFill>
        <p:spPr>
          <a:xfrm>
            <a:off x="4586630" y="4175150"/>
            <a:ext cx="427939" cy="427939"/>
          </a:xfrm>
          <a:prstGeom prst="rect">
            <a:avLst/>
          </a:prstGeom>
        </p:spPr>
      </p:pic>
      <p:sp>
        <p:nvSpPr>
          <p:cNvPr id="20" name="a5_t"/>
          <p:cNvSpPr txBox="1"/>
          <p:nvPr/>
        </p:nvSpPr>
        <p:spPr>
          <a:xfrm>
            <a:off x="5394960" y="3977640"/>
            <a:ext cx="2651760" cy="457200"/>
          </a:xfrm>
          <a:prstGeom prst="rect">
            <a:avLst/>
          </a:prstGeom>
          <a:noFill/>
          <a:ln/>
        </p:spPr>
        <p:txBody>
          <a:bodyPr wrap="square" lIns="0" tIns="0" rIns="0" bIns="0" rtlCol="0" anchor="ctr"/>
          <a:lstStyle/>
          <a:p>
            <a:pPr indent="0" marL="0">
              <a:buNone/>
            </a:pPr>
            <a:r>
              <a:rPr lang="en-US" sz="1800" b="1" dirty="0">
                <a:solidFill>
                  <a:srgbClr val="1B2333"/>
                </a:solidFill>
                <a:latin typeface="Calibri" pitchFamily="34" charset="0"/>
                <a:ea typeface="Calibri" pitchFamily="34" charset="-122"/>
                <a:cs typeface="Calibri" pitchFamily="34" charset="-120"/>
              </a:rPr>
              <a:t>Seuils et réglages</a:t>
            </a:r>
            <a:endParaRPr lang="en-US" sz="1800" dirty="0"/>
          </a:p>
        </p:txBody>
      </p:sp>
      <p:sp>
        <p:nvSpPr>
          <p:cNvPr id="21" name="a5_d"/>
          <p:cNvSpPr txBox="1"/>
          <p:nvPr/>
        </p:nvSpPr>
        <p:spPr>
          <a:xfrm>
            <a:off x="5394960" y="4434840"/>
            <a:ext cx="2651760" cy="457200"/>
          </a:xfrm>
          <a:prstGeom prst="rect">
            <a:avLst/>
          </a:prstGeom>
          <a:noFill/>
          <a:ln/>
        </p:spPr>
        <p:txBody>
          <a:bodyPr wrap="square" lIns="0" tIns="0" rIns="0" bIns="0" rtlCol="0" anchor="ctr"/>
          <a:lstStyle/>
          <a:p>
            <a:pPr indent="0" marL="0">
              <a:buNone/>
            </a:pPr>
            <a:r>
              <a:rPr lang="en-US" sz="1600" dirty="0">
                <a:solidFill>
                  <a:srgbClr val="5B6577"/>
                </a:solidFill>
                <a:latin typeface="Calibri" pitchFamily="34" charset="0"/>
                <a:ea typeface="Calibri" pitchFamily="34" charset="-122"/>
                <a:cs typeface="Calibri" pitchFamily="34" charset="-120"/>
              </a:rPr>
              <a:t>choisis sur la validation</a:t>
            </a:r>
            <a:endParaRPr lang="en-US" sz="1600" dirty="0"/>
          </a:p>
        </p:txBody>
      </p:sp>
      <p:sp>
        <p:nvSpPr>
          <p:cNvPr id="22" name="a6_r_disc"/>
          <p:cNvSpPr/>
          <p:nvPr/>
        </p:nvSpPr>
        <p:spPr>
          <a:xfrm>
            <a:off x="8138160" y="3977640"/>
            <a:ext cx="822960" cy="822960"/>
          </a:xfrm>
          <a:prstGeom prst="ellipse">
            <a:avLst/>
          </a:prstGeom>
          <a:solidFill>
            <a:srgbClr val="7B61FF"/>
          </a:solidFill>
          <a:ln w="12700">
            <a:solidFill>
              <a:srgbClr val="7B61FF"/>
            </a:solidFill>
            <a:prstDash val="solid"/>
          </a:ln>
        </p:spPr>
      </p:sp>
      <p:pic>
        <p:nvPicPr>
          <p:cNvPr id="23" name="a6_r_icon" descr="preencoded.png">    </p:cNvPr>
          <p:cNvPicPr>
            <a:picLocks noChangeAspect="1"/>
          </p:cNvPicPr>
          <p:nvPr/>
        </p:nvPicPr>
        <p:blipFill>
          <a:blip r:embed="rId3"/>
          <a:stretch>
            <a:fillRect/>
          </a:stretch>
        </p:blipFill>
        <p:spPr>
          <a:xfrm>
            <a:off x="8335670" y="4175150"/>
            <a:ext cx="427939" cy="427939"/>
          </a:xfrm>
          <a:prstGeom prst="rect">
            <a:avLst/>
          </a:prstGeom>
        </p:spPr>
      </p:pic>
      <p:sp>
        <p:nvSpPr>
          <p:cNvPr id="24" name="a6_t"/>
          <p:cNvSpPr txBox="1"/>
          <p:nvPr/>
        </p:nvSpPr>
        <p:spPr>
          <a:xfrm>
            <a:off x="9144000" y="3977640"/>
            <a:ext cx="2651760" cy="457200"/>
          </a:xfrm>
          <a:prstGeom prst="rect">
            <a:avLst/>
          </a:prstGeom>
          <a:noFill/>
          <a:ln/>
        </p:spPr>
        <p:txBody>
          <a:bodyPr wrap="square" lIns="0" tIns="0" rIns="0" bIns="0" rtlCol="0" anchor="ctr"/>
          <a:lstStyle/>
          <a:p>
            <a:pPr indent="0" marL="0">
              <a:buNone/>
            </a:pPr>
            <a:r>
              <a:rPr lang="en-US" sz="1800" b="1" dirty="0">
                <a:solidFill>
                  <a:srgbClr val="1B2333"/>
                </a:solidFill>
                <a:latin typeface="Calibri" pitchFamily="34" charset="0"/>
                <a:ea typeface="Calibri" pitchFamily="34" charset="-122"/>
                <a:cs typeface="Calibri" pitchFamily="34" charset="-120"/>
              </a:rPr>
              <a:t>3 graines</a:t>
            </a:r>
            <a:endParaRPr lang="en-US" sz="1800" dirty="0"/>
          </a:p>
        </p:txBody>
      </p:sp>
      <p:sp>
        <p:nvSpPr>
          <p:cNvPr id="25" name="a6_d"/>
          <p:cNvSpPr txBox="1"/>
          <p:nvPr/>
        </p:nvSpPr>
        <p:spPr>
          <a:xfrm>
            <a:off x="9144000" y="4434840"/>
            <a:ext cx="2651760" cy="457200"/>
          </a:xfrm>
          <a:prstGeom prst="rect">
            <a:avLst/>
          </a:prstGeom>
          <a:noFill/>
          <a:ln/>
        </p:spPr>
        <p:txBody>
          <a:bodyPr wrap="square" lIns="0" tIns="0" rIns="0" bIns="0" rtlCol="0" anchor="ctr"/>
          <a:lstStyle/>
          <a:p>
            <a:pPr indent="0" marL="0">
              <a:buNone/>
            </a:pPr>
            <a:r>
              <a:rPr lang="en-US" sz="1600" dirty="0">
                <a:solidFill>
                  <a:srgbClr val="5B6577"/>
                </a:solidFill>
                <a:latin typeface="Calibri" pitchFamily="34" charset="0"/>
                <a:ea typeface="Calibri" pitchFamily="34" charset="-122"/>
                <a:cs typeface="Calibri" pitchFamily="34" charset="-120"/>
              </a:rPr>
              <a:t>moyenne ± écart-type</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500"/>
                                        <p:tgtEl>
                                          <p:spTgt spid="4"/>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wipe(left)">
                                      <p:cBhvr>
                                        <p:cTn id="10" dur="500"/>
                                        <p:tgtEl>
                                          <p:spTgt spid="5"/>
                                        </p:tgtEl>
                                      </p:cBhvr>
                                    </p:animEffect>
                                  </p:childTnLst>
                                </p:cTn>
                              </p:par>
                              <p:par>
                                <p:cTn id="11" presetID="22" presetClass="entr" presetSubtype="8"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wipe(left)">
                                      <p:cBhvr>
                                        <p:cTn id="13" dur="500"/>
                                        <p:tgtEl>
                                          <p:spTgt spid="6"/>
                                        </p:tgtEl>
                                      </p:cBhvr>
                                    </p:animEffect>
                                  </p:childTnLst>
                                </p:cTn>
                              </p:par>
                            </p:childTnLst>
                          </p:cTn>
                        </p:par>
                        <p:par>
                          <p:cTn id="14" fill="hold">
                            <p:stCondLst>
                              <p:cond delay="350"/>
                            </p:stCondLst>
                            <p:childTnLst>
                              <p:par>
                                <p:cTn id="15" presetID="22" presetClass="entr" presetSubtype="8" fill="hold" grpId="0" nodeType="after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wipe(left)">
                                      <p:cBhvr>
                                        <p:cTn id="17" dur="500"/>
                                        <p:tgtEl>
                                          <p:spTgt spid="7"/>
                                        </p:tgtEl>
                                      </p:cBhvr>
                                    </p:animEffect>
                                  </p:childTnLst>
                                </p:cTn>
                              </p:par>
                              <p:par>
                                <p:cTn id="18" presetID="22" presetClass="entr" presetSubtype="8" fill="hold" grpId="0" nodeType="with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wipe(left)">
                                      <p:cBhvr>
                                        <p:cTn id="20" dur="500"/>
                                        <p:tgtEl>
                                          <p:spTgt spid="8"/>
                                        </p:tgtEl>
                                      </p:cBhvr>
                                    </p:animEffect>
                                  </p:childTnLst>
                                </p:cTn>
                              </p:par>
                              <p:par>
                                <p:cTn id="21" presetID="22" presetClass="entr" presetSubtype="8"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wipe(left)">
                                      <p:cBhvr>
                                        <p:cTn id="23" dur="500"/>
                                        <p:tgtEl>
                                          <p:spTgt spid="9"/>
                                        </p:tgtEl>
                                      </p:cBhvr>
                                    </p:animEffect>
                                  </p:childTnLst>
                                </p:cTn>
                              </p:par>
                            </p:childTnLst>
                          </p:cTn>
                        </p:par>
                        <p:par>
                          <p:cTn id="24" fill="hold">
                            <p:stCondLst>
                              <p:cond delay="700"/>
                            </p:stCondLst>
                            <p:childTnLst>
                              <p:par>
                                <p:cTn id="25" presetID="22" presetClass="entr" presetSubtype="8" fill="hold" grpId="0" nodeType="after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wipe(left)">
                                      <p:cBhvr>
                                        <p:cTn id="27" dur="500"/>
                                        <p:tgtEl>
                                          <p:spTgt spid="10"/>
                                        </p:tgtEl>
                                      </p:cBhvr>
                                    </p:animEffect>
                                  </p:childTnLst>
                                </p:cTn>
                              </p:par>
                              <p:par>
                                <p:cTn id="28" presetID="22" presetClass="entr" presetSubtype="8"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wipe(left)">
                                      <p:cBhvr>
                                        <p:cTn id="30" dur="500"/>
                                        <p:tgtEl>
                                          <p:spTgt spid="11"/>
                                        </p:tgtEl>
                                      </p:cBhvr>
                                    </p:animEffect>
                                  </p:childTnLst>
                                </p:cTn>
                              </p:par>
                              <p:par>
                                <p:cTn id="31" presetID="22" presetClass="entr" presetSubtype="8"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wipe(left)">
                                      <p:cBhvr>
                                        <p:cTn id="33" dur="500"/>
                                        <p:tgtEl>
                                          <p:spTgt spid="12"/>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wipe(left)">
                                      <p:cBhvr>
                                        <p:cTn id="36" dur="500"/>
                                        <p:tgtEl>
                                          <p:spTgt spid="13"/>
                                        </p:tgtEl>
                                      </p:cBhvr>
                                    </p:animEffect>
                                  </p:childTnLst>
                                </p:cTn>
                              </p:par>
                            </p:childTnLst>
                          </p:cTn>
                        </p:par>
                        <p:par>
                          <p:cTn id="37" fill="hold">
                            <p:stCondLst>
                              <p:cond delay="1050"/>
                            </p:stCondLst>
                            <p:childTnLst>
                              <p:par>
                                <p:cTn id="38" presetID="10" presetClass="entr" presetSubtype="0" fill="hold" grpId="0" nodeType="after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00"/>
                                        <p:tgtEl>
                                          <p:spTgt spid="1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500"/>
                                        <p:tgtEl>
                                          <p:spTgt spid="1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500"/>
                                        <p:tgtEl>
                                          <p:spTgt spid="17"/>
                                        </p:tgtEl>
                                      </p:cBhvr>
                                    </p:animEffect>
                                  </p:childTnLst>
                                </p:cTn>
                              </p:par>
                            </p:childTnLst>
                          </p:cTn>
                        </p:par>
                        <p:par>
                          <p:cTn id="50" fill="hold">
                            <p:stCondLst>
                              <p:cond delay="1400"/>
                            </p:stCondLst>
                            <p:childTnLst>
                              <p:par>
                                <p:cTn id="51" presetID="10" presetClass="entr" presetSubtype="0" fill="hold" grpId="0" nodeType="after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500"/>
                                        <p:tgtEl>
                                          <p:spTgt spid="1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500"/>
                                        <p:tgtEl>
                                          <p:spTgt spid="20"/>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500"/>
                                        <p:tgtEl>
                                          <p:spTgt spid="21"/>
                                        </p:tgtEl>
                                      </p:cBhvr>
                                    </p:animEffect>
                                  </p:childTnLst>
                                </p:cTn>
                              </p:par>
                            </p:childTnLst>
                          </p:cTn>
                        </p:par>
                        <p:par>
                          <p:cTn id="63" fill="hold">
                            <p:stCondLst>
                              <p:cond delay="1750"/>
                            </p:stCondLst>
                            <p:childTnLst>
                              <p:par>
                                <p:cTn id="64" presetID="10" presetClass="entr" presetSubtype="0" fill="hold" grpId="0" nodeType="after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500"/>
                                        <p:tgtEl>
                                          <p:spTgt spid="22"/>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500"/>
                                        <p:tgtEl>
                                          <p:spTgt spid="23"/>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500"/>
                                        <p:tgtEl>
                                          <p:spTgt spid="24"/>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6" grpId="0" animBg="1"/>
      <p:bldP spid="17" grpId="0" animBg="1"/>
      <p:bldP spid="18" grpId="0" animBg="1"/>
      <p:bldP spid="20" grpId="0" animBg="1"/>
      <p:bldP spid="21" grpId="0" animBg="1"/>
      <p:bldP spid="22" grpId="0" animBg="1"/>
      <p:bldP spid="24" grpId="0" animBg="1"/>
      <p:bldP spid="2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rgbClr val="1B2333"/>
                </a:solidFill>
                <a:latin typeface="Cambria" pitchFamily="34" charset="0"/>
                <a:ea typeface="Cambria" pitchFamily="34" charset="-122"/>
                <a:cs typeface="Cambria" pitchFamily="34" charset="-120"/>
              </a:rPr>
              <a:t>Sept motifs détectés par des règles</a:t>
            </a:r>
            <a:endParaRPr lang="en-US" sz="3400" dirty="0"/>
          </a:p>
        </p:txBody>
      </p:sp>
      <p:sp>
        <p:nvSpPr>
          <p:cNvPr id="3" name="page"/>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100" dirty="0">
                <a:solidFill>
                  <a:srgbClr val="5B6577"/>
                </a:solidFill>
                <a:latin typeface="Calibri" pitchFamily="34" charset="0"/>
                <a:ea typeface="Calibri" pitchFamily="34" charset="-122"/>
                <a:cs typeface="Calibri" pitchFamily="34" charset="-120"/>
              </a:rPr>
              <a:t>7</a:t>
            </a:r>
            <a:endParaRPr lang="en-US" sz="1100" dirty="0"/>
          </a:p>
        </p:txBody>
      </p:sp>
      <p:sp>
        <p:nvSpPr>
          <p:cNvPr id="4" name="a1_c"/>
          <p:cNvSpPr/>
          <p:nvPr/>
        </p:nvSpPr>
        <p:spPr>
          <a:xfrm>
            <a:off x="640080" y="1325880"/>
            <a:ext cx="2514600" cy="2377440"/>
          </a:xfrm>
          <a:prstGeom prst="roundRect">
            <a:avLst>
              <a:gd name="adj" fmla="val 4615"/>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5" name="a1_m_e0"/>
          <p:cNvSpPr/>
          <p:nvPr/>
        </p:nvSpPr>
        <p:spPr>
          <a:xfrm>
            <a:off x="1315351" y="1702880"/>
            <a:ext cx="1062270" cy="382800"/>
          </a:xfrm>
          <a:prstGeom prst="line">
            <a:avLst/>
          </a:prstGeom>
          <a:noFill/>
          <a:ln w="22225">
            <a:solidFill>
              <a:srgbClr val="8A95A8"/>
            </a:solidFill>
            <a:prstDash val="solid"/>
            <a:tailEnd type="triangle"/>
          </a:ln>
        </p:spPr>
      </p:sp>
      <p:sp>
        <p:nvSpPr>
          <p:cNvPr id="6" name="a1_m_e1"/>
          <p:cNvSpPr/>
          <p:nvPr/>
        </p:nvSpPr>
        <p:spPr>
          <a:xfrm>
            <a:off x="1321308" y="2125980"/>
            <a:ext cx="1049274" cy="914"/>
          </a:xfrm>
          <a:prstGeom prst="line">
            <a:avLst/>
          </a:prstGeom>
          <a:noFill/>
          <a:ln w="22225">
            <a:solidFill>
              <a:srgbClr val="8A95A8"/>
            </a:solidFill>
            <a:prstDash val="solid"/>
            <a:tailEnd type="triangle"/>
          </a:ln>
        </p:spPr>
      </p:sp>
      <p:sp>
        <p:nvSpPr>
          <p:cNvPr id="7" name="a1_m_e2"/>
          <p:cNvSpPr/>
          <p:nvPr/>
        </p:nvSpPr>
        <p:spPr>
          <a:xfrm flipV="1">
            <a:off x="1315351" y="2166280"/>
            <a:ext cx="1062270" cy="382800"/>
          </a:xfrm>
          <a:prstGeom prst="line">
            <a:avLst/>
          </a:prstGeom>
          <a:noFill/>
          <a:ln w="22225">
            <a:solidFill>
              <a:srgbClr val="8A95A8"/>
            </a:solidFill>
            <a:prstDash val="solid"/>
            <a:tailEnd type="triangle"/>
          </a:ln>
        </p:spPr>
      </p:sp>
      <p:sp>
        <p:nvSpPr>
          <p:cNvPr id="8" name="a1_m_n0"/>
          <p:cNvSpPr/>
          <p:nvPr/>
        </p:nvSpPr>
        <p:spPr>
          <a:xfrm>
            <a:off x="1120140" y="1568196"/>
            <a:ext cx="201168" cy="201168"/>
          </a:xfrm>
          <a:prstGeom prst="ellipse">
            <a:avLst/>
          </a:prstGeom>
          <a:solidFill>
            <a:srgbClr val="4C9BE8"/>
          </a:solidFill>
          <a:ln w="19050">
            <a:solidFill>
              <a:srgbClr val="FFFFFF"/>
            </a:solidFill>
            <a:prstDash val="solid"/>
          </a:ln>
        </p:spPr>
      </p:sp>
      <p:sp>
        <p:nvSpPr>
          <p:cNvPr id="9" name="a1_m_n1"/>
          <p:cNvSpPr/>
          <p:nvPr/>
        </p:nvSpPr>
        <p:spPr>
          <a:xfrm>
            <a:off x="1120140" y="2025396"/>
            <a:ext cx="201168" cy="201168"/>
          </a:xfrm>
          <a:prstGeom prst="ellipse">
            <a:avLst/>
          </a:prstGeom>
          <a:solidFill>
            <a:srgbClr val="4C9BE8"/>
          </a:solidFill>
          <a:ln w="19050">
            <a:solidFill>
              <a:srgbClr val="FFFFFF"/>
            </a:solidFill>
            <a:prstDash val="solid"/>
          </a:ln>
        </p:spPr>
      </p:sp>
      <p:sp>
        <p:nvSpPr>
          <p:cNvPr id="10" name="a1_m_n2"/>
          <p:cNvSpPr/>
          <p:nvPr/>
        </p:nvSpPr>
        <p:spPr>
          <a:xfrm>
            <a:off x="1120140" y="2482596"/>
            <a:ext cx="201168" cy="201168"/>
          </a:xfrm>
          <a:prstGeom prst="ellipse">
            <a:avLst/>
          </a:prstGeom>
          <a:solidFill>
            <a:srgbClr val="4C9BE8"/>
          </a:solidFill>
          <a:ln w="19050">
            <a:solidFill>
              <a:srgbClr val="FFFFFF"/>
            </a:solidFill>
            <a:prstDash val="solid"/>
          </a:ln>
        </p:spPr>
      </p:sp>
      <p:sp>
        <p:nvSpPr>
          <p:cNvPr id="11" name="a1_m_n3"/>
          <p:cNvSpPr/>
          <p:nvPr/>
        </p:nvSpPr>
        <p:spPr>
          <a:xfrm>
            <a:off x="2388870" y="2025396"/>
            <a:ext cx="201168" cy="201168"/>
          </a:xfrm>
          <a:prstGeom prst="ellipse">
            <a:avLst/>
          </a:prstGeom>
          <a:solidFill>
            <a:srgbClr val="F2545B"/>
          </a:solidFill>
          <a:ln w="19050">
            <a:solidFill>
              <a:srgbClr val="FFFFFF"/>
            </a:solidFill>
            <a:prstDash val="solid"/>
          </a:ln>
        </p:spPr>
      </p:sp>
      <p:sp>
        <p:nvSpPr>
          <p:cNvPr id="12" name="a1_t"/>
          <p:cNvSpPr txBox="1"/>
          <p:nvPr/>
        </p:nvSpPr>
        <p:spPr>
          <a:xfrm>
            <a:off x="731520" y="2834640"/>
            <a:ext cx="2331720" cy="365760"/>
          </a:xfrm>
          <a:prstGeom prst="rect">
            <a:avLst/>
          </a:prstGeom>
          <a:noFill/>
          <a:ln/>
        </p:spPr>
        <p:txBody>
          <a:bodyPr wrap="square" lIns="0" tIns="0" rIns="0" bIns="0" rtlCol="0" anchor="ctr"/>
          <a:lstStyle/>
          <a:p>
            <a:pPr algn="ctr" indent="0" marL="0">
              <a:buNone/>
            </a:pPr>
            <a:r>
              <a:rPr lang="en-US" sz="1700" b="1" dirty="0">
                <a:solidFill>
                  <a:srgbClr val="1B2333"/>
                </a:solidFill>
                <a:latin typeface="Calibri" pitchFamily="34" charset="0"/>
                <a:ea typeface="Calibri" pitchFamily="34" charset="-122"/>
                <a:cs typeface="Calibri" pitchFamily="34" charset="-120"/>
              </a:rPr>
              <a:t>Fan-in</a:t>
            </a:r>
            <a:endParaRPr lang="en-US" sz="1700" dirty="0"/>
          </a:p>
        </p:txBody>
      </p:sp>
      <p:sp>
        <p:nvSpPr>
          <p:cNvPr id="13" name="a1_r"/>
          <p:cNvSpPr txBox="1"/>
          <p:nvPr/>
        </p:nvSpPr>
        <p:spPr>
          <a:xfrm>
            <a:off x="731520" y="3200400"/>
            <a:ext cx="2331720" cy="320040"/>
          </a:xfrm>
          <a:prstGeom prst="rect">
            <a:avLst/>
          </a:prstGeom>
          <a:noFill/>
          <a:ln/>
        </p:spPr>
        <p:txBody>
          <a:bodyPr wrap="square" lIns="0" tIns="0" rIns="0" bIns="0" rtlCol="0" anchor="ctr"/>
          <a:lstStyle/>
          <a:p>
            <a:pPr algn="ctr" indent="0" marL="0">
              <a:buNone/>
            </a:pPr>
            <a:r>
              <a:rPr lang="en-US" sz="1400" b="1" dirty="0">
                <a:solidFill>
                  <a:srgbClr val="00A99D"/>
                </a:solidFill>
                <a:latin typeface="Calibri" pitchFamily="34" charset="0"/>
                <a:ea typeface="Calibri" pitchFamily="34" charset="-122"/>
                <a:cs typeface="Calibri" pitchFamily="34" charset="-120"/>
              </a:rPr>
              <a:t>trouvé : 90 %</a:t>
            </a:r>
            <a:endParaRPr lang="en-US" sz="1400" dirty="0"/>
          </a:p>
        </p:txBody>
      </p:sp>
      <p:sp>
        <p:nvSpPr>
          <p:cNvPr id="14" name="a2_c"/>
          <p:cNvSpPr/>
          <p:nvPr/>
        </p:nvSpPr>
        <p:spPr>
          <a:xfrm>
            <a:off x="3429000" y="1325880"/>
            <a:ext cx="2514600" cy="2377440"/>
          </a:xfrm>
          <a:prstGeom prst="roundRect">
            <a:avLst>
              <a:gd name="adj" fmla="val 4615"/>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15" name="a2_m_e0"/>
          <p:cNvSpPr/>
          <p:nvPr/>
        </p:nvSpPr>
        <p:spPr>
          <a:xfrm flipV="1">
            <a:off x="4188853" y="1709080"/>
            <a:ext cx="1062270" cy="382800"/>
          </a:xfrm>
          <a:prstGeom prst="line">
            <a:avLst/>
          </a:prstGeom>
          <a:noFill/>
          <a:ln w="22225">
            <a:solidFill>
              <a:srgbClr val="8A95A8"/>
            </a:solidFill>
            <a:prstDash val="solid"/>
            <a:tailEnd type="triangle"/>
          </a:ln>
        </p:spPr>
      </p:sp>
      <p:sp>
        <p:nvSpPr>
          <p:cNvPr id="16" name="a2_m_e1"/>
          <p:cNvSpPr/>
          <p:nvPr/>
        </p:nvSpPr>
        <p:spPr>
          <a:xfrm>
            <a:off x="4194810" y="2125980"/>
            <a:ext cx="1049274" cy="914"/>
          </a:xfrm>
          <a:prstGeom prst="line">
            <a:avLst/>
          </a:prstGeom>
          <a:noFill/>
          <a:ln w="22225">
            <a:solidFill>
              <a:srgbClr val="8A95A8"/>
            </a:solidFill>
            <a:prstDash val="solid"/>
            <a:tailEnd type="triangle"/>
          </a:ln>
        </p:spPr>
      </p:sp>
      <p:sp>
        <p:nvSpPr>
          <p:cNvPr id="17" name="a2_m_e2"/>
          <p:cNvSpPr/>
          <p:nvPr/>
        </p:nvSpPr>
        <p:spPr>
          <a:xfrm>
            <a:off x="4188853" y="2160080"/>
            <a:ext cx="1062270" cy="382800"/>
          </a:xfrm>
          <a:prstGeom prst="line">
            <a:avLst/>
          </a:prstGeom>
          <a:noFill/>
          <a:ln w="22225">
            <a:solidFill>
              <a:srgbClr val="8A95A8"/>
            </a:solidFill>
            <a:prstDash val="solid"/>
            <a:tailEnd type="triangle"/>
          </a:ln>
        </p:spPr>
      </p:sp>
      <p:sp>
        <p:nvSpPr>
          <p:cNvPr id="18" name="a2_m_n0"/>
          <p:cNvSpPr/>
          <p:nvPr/>
        </p:nvSpPr>
        <p:spPr>
          <a:xfrm>
            <a:off x="3993642" y="2025396"/>
            <a:ext cx="201168" cy="201168"/>
          </a:xfrm>
          <a:prstGeom prst="ellipse">
            <a:avLst/>
          </a:prstGeom>
          <a:solidFill>
            <a:srgbClr val="F2545B"/>
          </a:solidFill>
          <a:ln w="19050">
            <a:solidFill>
              <a:srgbClr val="FFFFFF"/>
            </a:solidFill>
            <a:prstDash val="solid"/>
          </a:ln>
        </p:spPr>
      </p:sp>
      <p:sp>
        <p:nvSpPr>
          <p:cNvPr id="19" name="a2_m_n1"/>
          <p:cNvSpPr/>
          <p:nvPr/>
        </p:nvSpPr>
        <p:spPr>
          <a:xfrm>
            <a:off x="5262372" y="1568196"/>
            <a:ext cx="201168" cy="201168"/>
          </a:xfrm>
          <a:prstGeom prst="ellipse">
            <a:avLst/>
          </a:prstGeom>
          <a:solidFill>
            <a:srgbClr val="4C9BE8"/>
          </a:solidFill>
          <a:ln w="19050">
            <a:solidFill>
              <a:srgbClr val="FFFFFF"/>
            </a:solidFill>
            <a:prstDash val="solid"/>
          </a:ln>
        </p:spPr>
      </p:sp>
      <p:sp>
        <p:nvSpPr>
          <p:cNvPr id="20" name="a2_m_n2"/>
          <p:cNvSpPr/>
          <p:nvPr/>
        </p:nvSpPr>
        <p:spPr>
          <a:xfrm>
            <a:off x="5262372" y="2025396"/>
            <a:ext cx="201168" cy="201168"/>
          </a:xfrm>
          <a:prstGeom prst="ellipse">
            <a:avLst/>
          </a:prstGeom>
          <a:solidFill>
            <a:srgbClr val="4C9BE8"/>
          </a:solidFill>
          <a:ln w="19050">
            <a:solidFill>
              <a:srgbClr val="FFFFFF"/>
            </a:solidFill>
            <a:prstDash val="solid"/>
          </a:ln>
        </p:spPr>
      </p:sp>
      <p:sp>
        <p:nvSpPr>
          <p:cNvPr id="21" name="a2_m_n3"/>
          <p:cNvSpPr/>
          <p:nvPr/>
        </p:nvSpPr>
        <p:spPr>
          <a:xfrm>
            <a:off x="5262372" y="2482596"/>
            <a:ext cx="201168" cy="201168"/>
          </a:xfrm>
          <a:prstGeom prst="ellipse">
            <a:avLst/>
          </a:prstGeom>
          <a:solidFill>
            <a:srgbClr val="4C9BE8"/>
          </a:solidFill>
          <a:ln w="19050">
            <a:solidFill>
              <a:srgbClr val="FFFFFF"/>
            </a:solidFill>
            <a:prstDash val="solid"/>
          </a:ln>
        </p:spPr>
      </p:sp>
      <p:sp>
        <p:nvSpPr>
          <p:cNvPr id="22" name="a2_t"/>
          <p:cNvSpPr txBox="1"/>
          <p:nvPr/>
        </p:nvSpPr>
        <p:spPr>
          <a:xfrm>
            <a:off x="3520440" y="2834640"/>
            <a:ext cx="2331720" cy="365760"/>
          </a:xfrm>
          <a:prstGeom prst="rect">
            <a:avLst/>
          </a:prstGeom>
          <a:noFill/>
          <a:ln/>
        </p:spPr>
        <p:txBody>
          <a:bodyPr wrap="square" lIns="0" tIns="0" rIns="0" bIns="0" rtlCol="0" anchor="ctr"/>
          <a:lstStyle/>
          <a:p>
            <a:pPr algn="ctr" indent="0" marL="0">
              <a:buNone/>
            </a:pPr>
            <a:r>
              <a:rPr lang="en-US" sz="1700" b="1" dirty="0">
                <a:solidFill>
                  <a:srgbClr val="1B2333"/>
                </a:solidFill>
                <a:latin typeface="Calibri" pitchFamily="34" charset="0"/>
                <a:ea typeface="Calibri" pitchFamily="34" charset="-122"/>
                <a:cs typeface="Calibri" pitchFamily="34" charset="-120"/>
              </a:rPr>
              <a:t>Fan-out</a:t>
            </a:r>
            <a:endParaRPr lang="en-US" sz="1700" dirty="0"/>
          </a:p>
        </p:txBody>
      </p:sp>
      <p:sp>
        <p:nvSpPr>
          <p:cNvPr id="23" name="a2_r"/>
          <p:cNvSpPr txBox="1"/>
          <p:nvPr/>
        </p:nvSpPr>
        <p:spPr>
          <a:xfrm>
            <a:off x="3520440" y="3200400"/>
            <a:ext cx="2331720" cy="320040"/>
          </a:xfrm>
          <a:prstGeom prst="rect">
            <a:avLst/>
          </a:prstGeom>
          <a:noFill/>
          <a:ln/>
        </p:spPr>
        <p:txBody>
          <a:bodyPr wrap="square" lIns="0" tIns="0" rIns="0" bIns="0" rtlCol="0" anchor="ctr"/>
          <a:lstStyle/>
          <a:p>
            <a:pPr algn="ctr" indent="0" marL="0">
              <a:buNone/>
            </a:pPr>
            <a:r>
              <a:rPr lang="en-US" sz="1400" b="1" dirty="0">
                <a:solidFill>
                  <a:srgbClr val="00A99D"/>
                </a:solidFill>
                <a:latin typeface="Calibri" pitchFamily="34" charset="0"/>
                <a:ea typeface="Calibri" pitchFamily="34" charset="-122"/>
                <a:cs typeface="Calibri" pitchFamily="34" charset="-120"/>
              </a:rPr>
              <a:t>trouvé : 74 %</a:t>
            </a:r>
            <a:endParaRPr lang="en-US" sz="1400" dirty="0"/>
          </a:p>
        </p:txBody>
      </p:sp>
      <p:sp>
        <p:nvSpPr>
          <p:cNvPr id="24" name="a3_c"/>
          <p:cNvSpPr/>
          <p:nvPr/>
        </p:nvSpPr>
        <p:spPr>
          <a:xfrm>
            <a:off x="6217920" y="1325880"/>
            <a:ext cx="2514600" cy="2377440"/>
          </a:xfrm>
          <a:prstGeom prst="roundRect">
            <a:avLst>
              <a:gd name="adj" fmla="val 4615"/>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25" name="a3_m_e0"/>
          <p:cNvSpPr/>
          <p:nvPr/>
        </p:nvSpPr>
        <p:spPr>
          <a:xfrm>
            <a:off x="7543630" y="1719657"/>
            <a:ext cx="561230" cy="604929"/>
          </a:xfrm>
          <a:prstGeom prst="line">
            <a:avLst/>
          </a:prstGeom>
          <a:noFill/>
          <a:ln w="22225">
            <a:solidFill>
              <a:srgbClr val="8A95A8"/>
            </a:solidFill>
            <a:prstDash val="solid"/>
            <a:tailEnd type="triangle"/>
          </a:ln>
        </p:spPr>
      </p:sp>
      <p:sp>
        <p:nvSpPr>
          <p:cNvPr id="26" name="a3_m_e1"/>
          <p:cNvSpPr/>
          <p:nvPr/>
        </p:nvSpPr>
        <p:spPr>
          <a:xfrm flipH="1">
            <a:off x="6883603" y="2411730"/>
            <a:ext cx="1201522" cy="914"/>
          </a:xfrm>
          <a:prstGeom prst="line">
            <a:avLst/>
          </a:prstGeom>
          <a:noFill/>
          <a:ln w="22225">
            <a:solidFill>
              <a:srgbClr val="8A95A8"/>
            </a:solidFill>
            <a:prstDash val="solid"/>
            <a:tailEnd type="triangle"/>
          </a:ln>
        </p:spPr>
      </p:sp>
      <p:sp>
        <p:nvSpPr>
          <p:cNvPr id="27" name="a3_m_e2"/>
          <p:cNvSpPr/>
          <p:nvPr/>
        </p:nvSpPr>
        <p:spPr>
          <a:xfrm flipV="1">
            <a:off x="6833142" y="1733064"/>
            <a:ext cx="561230" cy="604929"/>
          </a:xfrm>
          <a:prstGeom prst="line">
            <a:avLst/>
          </a:prstGeom>
          <a:noFill/>
          <a:ln w="22225">
            <a:solidFill>
              <a:srgbClr val="8A95A8"/>
            </a:solidFill>
            <a:prstDash val="solid"/>
            <a:tailEnd type="triangle"/>
          </a:ln>
        </p:spPr>
      </p:sp>
      <p:sp>
        <p:nvSpPr>
          <p:cNvPr id="28" name="a3_m_n0"/>
          <p:cNvSpPr/>
          <p:nvPr/>
        </p:nvSpPr>
        <p:spPr>
          <a:xfrm>
            <a:off x="7374636" y="1545336"/>
            <a:ext cx="201168" cy="201168"/>
          </a:xfrm>
          <a:prstGeom prst="ellipse">
            <a:avLst/>
          </a:prstGeom>
          <a:solidFill>
            <a:srgbClr val="F2545B"/>
          </a:solidFill>
          <a:ln w="19050">
            <a:solidFill>
              <a:srgbClr val="FFFFFF"/>
            </a:solidFill>
            <a:prstDash val="solid"/>
          </a:ln>
        </p:spPr>
      </p:sp>
      <p:sp>
        <p:nvSpPr>
          <p:cNvPr id="29" name="a3_m_n1"/>
          <p:cNvSpPr/>
          <p:nvPr/>
        </p:nvSpPr>
        <p:spPr>
          <a:xfrm>
            <a:off x="8085125" y="2311146"/>
            <a:ext cx="201168" cy="201168"/>
          </a:xfrm>
          <a:prstGeom prst="ellipse">
            <a:avLst/>
          </a:prstGeom>
          <a:solidFill>
            <a:srgbClr val="F2545B"/>
          </a:solidFill>
          <a:ln w="19050">
            <a:solidFill>
              <a:srgbClr val="FFFFFF"/>
            </a:solidFill>
            <a:prstDash val="solid"/>
          </a:ln>
        </p:spPr>
      </p:sp>
      <p:sp>
        <p:nvSpPr>
          <p:cNvPr id="30" name="a3_m_n2"/>
          <p:cNvSpPr/>
          <p:nvPr/>
        </p:nvSpPr>
        <p:spPr>
          <a:xfrm>
            <a:off x="6664147" y="2311146"/>
            <a:ext cx="201168" cy="201168"/>
          </a:xfrm>
          <a:prstGeom prst="ellipse">
            <a:avLst/>
          </a:prstGeom>
          <a:solidFill>
            <a:srgbClr val="F2545B"/>
          </a:solidFill>
          <a:ln w="19050">
            <a:solidFill>
              <a:srgbClr val="FFFFFF"/>
            </a:solidFill>
            <a:prstDash val="solid"/>
          </a:ln>
        </p:spPr>
      </p:sp>
      <p:sp>
        <p:nvSpPr>
          <p:cNvPr id="31" name="a3_t"/>
          <p:cNvSpPr txBox="1"/>
          <p:nvPr/>
        </p:nvSpPr>
        <p:spPr>
          <a:xfrm>
            <a:off x="6309360" y="2834640"/>
            <a:ext cx="2331720" cy="365760"/>
          </a:xfrm>
          <a:prstGeom prst="rect">
            <a:avLst/>
          </a:prstGeom>
          <a:noFill/>
          <a:ln/>
        </p:spPr>
        <p:txBody>
          <a:bodyPr wrap="square" lIns="0" tIns="0" rIns="0" bIns="0" rtlCol="0" anchor="ctr"/>
          <a:lstStyle/>
          <a:p>
            <a:pPr algn="ctr" indent="0" marL="0">
              <a:buNone/>
            </a:pPr>
            <a:r>
              <a:rPr lang="en-US" sz="1700" b="1" dirty="0">
                <a:solidFill>
                  <a:srgbClr val="1B2333"/>
                </a:solidFill>
                <a:latin typeface="Calibri" pitchFamily="34" charset="0"/>
                <a:ea typeface="Calibri" pitchFamily="34" charset="-122"/>
                <a:cs typeface="Calibri" pitchFamily="34" charset="-120"/>
              </a:rPr>
              <a:t>Cycle</a:t>
            </a:r>
            <a:endParaRPr lang="en-US" sz="1700" dirty="0"/>
          </a:p>
        </p:txBody>
      </p:sp>
      <p:sp>
        <p:nvSpPr>
          <p:cNvPr id="32" name="a3_r"/>
          <p:cNvSpPr txBox="1"/>
          <p:nvPr/>
        </p:nvSpPr>
        <p:spPr>
          <a:xfrm>
            <a:off x="6309360" y="3200400"/>
            <a:ext cx="2331720" cy="320040"/>
          </a:xfrm>
          <a:prstGeom prst="rect">
            <a:avLst/>
          </a:prstGeom>
          <a:noFill/>
          <a:ln/>
        </p:spPr>
        <p:txBody>
          <a:bodyPr wrap="square" lIns="0" tIns="0" rIns="0" bIns="0" rtlCol="0" anchor="ctr"/>
          <a:lstStyle/>
          <a:p>
            <a:pPr algn="ctr" indent="0" marL="0">
              <a:buNone/>
            </a:pPr>
            <a:r>
              <a:rPr lang="en-US" sz="1400" b="1" dirty="0">
                <a:solidFill>
                  <a:srgbClr val="00A99D"/>
                </a:solidFill>
                <a:latin typeface="Calibri" pitchFamily="34" charset="0"/>
                <a:ea typeface="Calibri" pitchFamily="34" charset="-122"/>
                <a:cs typeface="Calibri" pitchFamily="34" charset="-120"/>
              </a:rPr>
              <a:t>trouvé : 63 %</a:t>
            </a:r>
            <a:endParaRPr lang="en-US" sz="1400" dirty="0"/>
          </a:p>
        </p:txBody>
      </p:sp>
      <p:sp>
        <p:nvSpPr>
          <p:cNvPr id="33" name="a4_c"/>
          <p:cNvSpPr/>
          <p:nvPr/>
        </p:nvSpPr>
        <p:spPr>
          <a:xfrm>
            <a:off x="9006840" y="1325880"/>
            <a:ext cx="2514600" cy="2377440"/>
          </a:xfrm>
          <a:prstGeom prst="roundRect">
            <a:avLst>
              <a:gd name="adj" fmla="val 4615"/>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34" name="a4_m_e0"/>
          <p:cNvSpPr/>
          <p:nvPr/>
        </p:nvSpPr>
        <p:spPr>
          <a:xfrm flipV="1">
            <a:off x="9638236" y="1733106"/>
            <a:ext cx="525941" cy="338443"/>
          </a:xfrm>
          <a:prstGeom prst="line">
            <a:avLst/>
          </a:prstGeom>
          <a:noFill/>
          <a:ln w="22225">
            <a:solidFill>
              <a:srgbClr val="8A95A8"/>
            </a:solidFill>
            <a:prstDash val="solid"/>
            <a:tailEnd type="triangle"/>
          </a:ln>
        </p:spPr>
      </p:sp>
      <p:sp>
        <p:nvSpPr>
          <p:cNvPr id="35" name="a4_m_e1"/>
          <p:cNvSpPr/>
          <p:nvPr/>
        </p:nvSpPr>
        <p:spPr>
          <a:xfrm>
            <a:off x="9654235" y="2125980"/>
            <a:ext cx="491033" cy="914"/>
          </a:xfrm>
          <a:prstGeom prst="line">
            <a:avLst/>
          </a:prstGeom>
          <a:noFill/>
          <a:ln w="22225">
            <a:solidFill>
              <a:srgbClr val="8A95A8"/>
            </a:solidFill>
            <a:prstDash val="solid"/>
            <a:tailEnd type="triangle"/>
          </a:ln>
        </p:spPr>
      </p:sp>
      <p:sp>
        <p:nvSpPr>
          <p:cNvPr id="36" name="a4_m_e2"/>
          <p:cNvSpPr/>
          <p:nvPr/>
        </p:nvSpPr>
        <p:spPr>
          <a:xfrm>
            <a:off x="9638236" y="2180410"/>
            <a:ext cx="525941" cy="338443"/>
          </a:xfrm>
          <a:prstGeom prst="line">
            <a:avLst/>
          </a:prstGeom>
          <a:noFill/>
          <a:ln w="22225">
            <a:solidFill>
              <a:srgbClr val="8A95A8"/>
            </a:solidFill>
            <a:prstDash val="solid"/>
            <a:tailEnd type="triangle"/>
          </a:ln>
        </p:spPr>
      </p:sp>
      <p:sp>
        <p:nvSpPr>
          <p:cNvPr id="37" name="a4_m_e3"/>
          <p:cNvSpPr/>
          <p:nvPr/>
        </p:nvSpPr>
        <p:spPr>
          <a:xfrm>
            <a:off x="10348724" y="1723210"/>
            <a:ext cx="525941" cy="338443"/>
          </a:xfrm>
          <a:prstGeom prst="line">
            <a:avLst/>
          </a:prstGeom>
          <a:noFill/>
          <a:ln w="22225">
            <a:solidFill>
              <a:srgbClr val="8A95A8"/>
            </a:solidFill>
            <a:prstDash val="solid"/>
            <a:tailEnd type="triangle"/>
          </a:ln>
        </p:spPr>
      </p:sp>
      <p:sp>
        <p:nvSpPr>
          <p:cNvPr id="38" name="a4_m_e4"/>
          <p:cNvSpPr/>
          <p:nvPr/>
        </p:nvSpPr>
        <p:spPr>
          <a:xfrm>
            <a:off x="10364724" y="2125980"/>
            <a:ext cx="491033" cy="914"/>
          </a:xfrm>
          <a:prstGeom prst="line">
            <a:avLst/>
          </a:prstGeom>
          <a:noFill/>
          <a:ln w="22225">
            <a:solidFill>
              <a:srgbClr val="8A95A8"/>
            </a:solidFill>
            <a:prstDash val="solid"/>
            <a:tailEnd type="triangle"/>
          </a:ln>
        </p:spPr>
      </p:sp>
      <p:sp>
        <p:nvSpPr>
          <p:cNvPr id="39" name="a4_m_e5"/>
          <p:cNvSpPr/>
          <p:nvPr/>
        </p:nvSpPr>
        <p:spPr>
          <a:xfrm flipV="1">
            <a:off x="10348724" y="2190306"/>
            <a:ext cx="525941" cy="338443"/>
          </a:xfrm>
          <a:prstGeom prst="line">
            <a:avLst/>
          </a:prstGeom>
          <a:noFill/>
          <a:ln w="22225">
            <a:solidFill>
              <a:srgbClr val="8A95A8"/>
            </a:solidFill>
            <a:prstDash val="solid"/>
            <a:tailEnd type="triangle"/>
          </a:ln>
        </p:spPr>
      </p:sp>
      <p:sp>
        <p:nvSpPr>
          <p:cNvPr id="40" name="a4_m_n0"/>
          <p:cNvSpPr/>
          <p:nvPr/>
        </p:nvSpPr>
        <p:spPr>
          <a:xfrm>
            <a:off x="9453067" y="2025396"/>
            <a:ext cx="201168" cy="201168"/>
          </a:xfrm>
          <a:prstGeom prst="ellipse">
            <a:avLst/>
          </a:prstGeom>
          <a:solidFill>
            <a:srgbClr val="4C9BE8"/>
          </a:solidFill>
          <a:ln w="19050">
            <a:solidFill>
              <a:srgbClr val="FFFFFF"/>
            </a:solidFill>
            <a:prstDash val="solid"/>
          </a:ln>
        </p:spPr>
      </p:sp>
      <p:sp>
        <p:nvSpPr>
          <p:cNvPr id="41" name="a4_m_n1"/>
          <p:cNvSpPr/>
          <p:nvPr/>
        </p:nvSpPr>
        <p:spPr>
          <a:xfrm>
            <a:off x="10163556" y="1568196"/>
            <a:ext cx="201168" cy="201168"/>
          </a:xfrm>
          <a:prstGeom prst="ellipse">
            <a:avLst/>
          </a:prstGeom>
          <a:solidFill>
            <a:srgbClr val="4C9BE8"/>
          </a:solidFill>
          <a:ln w="19050">
            <a:solidFill>
              <a:srgbClr val="FFFFFF"/>
            </a:solidFill>
            <a:prstDash val="solid"/>
          </a:ln>
        </p:spPr>
      </p:sp>
      <p:sp>
        <p:nvSpPr>
          <p:cNvPr id="42" name="a4_m_n2"/>
          <p:cNvSpPr/>
          <p:nvPr/>
        </p:nvSpPr>
        <p:spPr>
          <a:xfrm>
            <a:off x="10163556" y="2025396"/>
            <a:ext cx="201168" cy="201168"/>
          </a:xfrm>
          <a:prstGeom prst="ellipse">
            <a:avLst/>
          </a:prstGeom>
          <a:solidFill>
            <a:srgbClr val="4C9BE8"/>
          </a:solidFill>
          <a:ln w="19050">
            <a:solidFill>
              <a:srgbClr val="FFFFFF"/>
            </a:solidFill>
            <a:prstDash val="solid"/>
          </a:ln>
        </p:spPr>
      </p:sp>
      <p:sp>
        <p:nvSpPr>
          <p:cNvPr id="43" name="a4_m_n3"/>
          <p:cNvSpPr/>
          <p:nvPr/>
        </p:nvSpPr>
        <p:spPr>
          <a:xfrm>
            <a:off x="10163556" y="2482596"/>
            <a:ext cx="201168" cy="201168"/>
          </a:xfrm>
          <a:prstGeom prst="ellipse">
            <a:avLst/>
          </a:prstGeom>
          <a:solidFill>
            <a:srgbClr val="4C9BE8"/>
          </a:solidFill>
          <a:ln w="19050">
            <a:solidFill>
              <a:srgbClr val="FFFFFF"/>
            </a:solidFill>
            <a:prstDash val="solid"/>
          </a:ln>
        </p:spPr>
      </p:sp>
      <p:sp>
        <p:nvSpPr>
          <p:cNvPr id="44" name="a4_m_n4"/>
          <p:cNvSpPr/>
          <p:nvPr/>
        </p:nvSpPr>
        <p:spPr>
          <a:xfrm>
            <a:off x="10874045" y="2025396"/>
            <a:ext cx="201168" cy="201168"/>
          </a:xfrm>
          <a:prstGeom prst="ellipse">
            <a:avLst/>
          </a:prstGeom>
          <a:solidFill>
            <a:srgbClr val="F2545B"/>
          </a:solidFill>
          <a:ln w="19050">
            <a:solidFill>
              <a:srgbClr val="FFFFFF"/>
            </a:solidFill>
            <a:prstDash val="solid"/>
          </a:ln>
        </p:spPr>
      </p:sp>
      <p:sp>
        <p:nvSpPr>
          <p:cNvPr id="45" name="a4_t"/>
          <p:cNvSpPr txBox="1"/>
          <p:nvPr/>
        </p:nvSpPr>
        <p:spPr>
          <a:xfrm>
            <a:off x="9098280" y="2834640"/>
            <a:ext cx="2331720" cy="365760"/>
          </a:xfrm>
          <a:prstGeom prst="rect">
            <a:avLst/>
          </a:prstGeom>
          <a:noFill/>
          <a:ln/>
        </p:spPr>
        <p:txBody>
          <a:bodyPr wrap="square" lIns="0" tIns="0" rIns="0" bIns="0" rtlCol="0" anchor="ctr"/>
          <a:lstStyle/>
          <a:p>
            <a:pPr algn="ctr" indent="0" marL="0">
              <a:buNone/>
            </a:pPr>
            <a:r>
              <a:rPr lang="en-US" sz="1700" b="1" dirty="0">
                <a:solidFill>
                  <a:srgbClr val="1B2333"/>
                </a:solidFill>
                <a:latin typeface="Calibri" pitchFamily="34" charset="0"/>
                <a:ea typeface="Calibri" pitchFamily="34" charset="-122"/>
                <a:cs typeface="Calibri" pitchFamily="34" charset="-120"/>
              </a:rPr>
              <a:t>Scatter-gather</a:t>
            </a:r>
            <a:endParaRPr lang="en-US" sz="1700" dirty="0"/>
          </a:p>
        </p:txBody>
      </p:sp>
      <p:sp>
        <p:nvSpPr>
          <p:cNvPr id="46" name="a4_r"/>
          <p:cNvSpPr txBox="1"/>
          <p:nvPr/>
        </p:nvSpPr>
        <p:spPr>
          <a:xfrm>
            <a:off x="9098280" y="3200400"/>
            <a:ext cx="2331720" cy="320040"/>
          </a:xfrm>
          <a:prstGeom prst="rect">
            <a:avLst/>
          </a:prstGeom>
          <a:noFill/>
          <a:ln/>
        </p:spPr>
        <p:txBody>
          <a:bodyPr wrap="square" lIns="0" tIns="0" rIns="0" bIns="0" rtlCol="0" anchor="ctr"/>
          <a:lstStyle/>
          <a:p>
            <a:pPr algn="ctr" indent="0" marL="0">
              <a:buNone/>
            </a:pPr>
            <a:r>
              <a:rPr lang="en-US" sz="1400" b="1" dirty="0">
                <a:solidFill>
                  <a:srgbClr val="00A99D"/>
                </a:solidFill>
                <a:latin typeface="Calibri" pitchFamily="34" charset="0"/>
                <a:ea typeface="Calibri" pitchFamily="34" charset="-122"/>
                <a:cs typeface="Calibri" pitchFamily="34" charset="-120"/>
              </a:rPr>
              <a:t>trouvé : 81 %</a:t>
            </a:r>
            <a:endParaRPr lang="en-US" sz="1400" dirty="0"/>
          </a:p>
        </p:txBody>
      </p:sp>
      <p:sp>
        <p:nvSpPr>
          <p:cNvPr id="47" name="a5_c"/>
          <p:cNvSpPr/>
          <p:nvPr/>
        </p:nvSpPr>
        <p:spPr>
          <a:xfrm>
            <a:off x="2011680" y="3931920"/>
            <a:ext cx="2514600" cy="2377440"/>
          </a:xfrm>
          <a:prstGeom prst="roundRect">
            <a:avLst>
              <a:gd name="adj" fmla="val 4615"/>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48" name="a5_m_e0"/>
          <p:cNvSpPr/>
          <p:nvPr/>
        </p:nvSpPr>
        <p:spPr>
          <a:xfrm>
            <a:off x="2646137" y="4381320"/>
            <a:ext cx="519262" cy="292377"/>
          </a:xfrm>
          <a:prstGeom prst="line">
            <a:avLst/>
          </a:prstGeom>
          <a:noFill/>
          <a:ln w="22225">
            <a:solidFill>
              <a:srgbClr val="8A95A8"/>
            </a:solidFill>
            <a:prstDash val="solid"/>
            <a:tailEnd type="triangle"/>
          </a:ln>
        </p:spPr>
      </p:sp>
      <p:sp>
        <p:nvSpPr>
          <p:cNvPr id="49" name="a5_m_e1"/>
          <p:cNvSpPr/>
          <p:nvPr/>
        </p:nvSpPr>
        <p:spPr>
          <a:xfrm flipV="1">
            <a:off x="2646137" y="4790343"/>
            <a:ext cx="519262" cy="292377"/>
          </a:xfrm>
          <a:prstGeom prst="line">
            <a:avLst/>
          </a:prstGeom>
          <a:noFill/>
          <a:ln w="22225">
            <a:solidFill>
              <a:srgbClr val="8A95A8"/>
            </a:solidFill>
            <a:prstDash val="solid"/>
            <a:tailEnd type="triangle"/>
          </a:ln>
        </p:spPr>
      </p:sp>
      <p:sp>
        <p:nvSpPr>
          <p:cNvPr id="50" name="a5_m_e2"/>
          <p:cNvSpPr/>
          <p:nvPr/>
        </p:nvSpPr>
        <p:spPr>
          <a:xfrm flipV="1">
            <a:off x="3356625" y="4390293"/>
            <a:ext cx="519262" cy="292377"/>
          </a:xfrm>
          <a:prstGeom prst="line">
            <a:avLst/>
          </a:prstGeom>
          <a:noFill/>
          <a:ln w="22225">
            <a:solidFill>
              <a:srgbClr val="8A95A8"/>
            </a:solidFill>
            <a:prstDash val="solid"/>
            <a:tailEnd type="triangle"/>
          </a:ln>
        </p:spPr>
      </p:sp>
      <p:sp>
        <p:nvSpPr>
          <p:cNvPr id="51" name="a5_m_e3"/>
          <p:cNvSpPr/>
          <p:nvPr/>
        </p:nvSpPr>
        <p:spPr>
          <a:xfrm>
            <a:off x="3356625" y="4781370"/>
            <a:ext cx="519262" cy="292377"/>
          </a:xfrm>
          <a:prstGeom prst="line">
            <a:avLst/>
          </a:prstGeom>
          <a:noFill/>
          <a:ln w="22225">
            <a:solidFill>
              <a:srgbClr val="8A95A8"/>
            </a:solidFill>
            <a:prstDash val="solid"/>
            <a:tailEnd type="triangle"/>
          </a:ln>
        </p:spPr>
      </p:sp>
      <p:sp>
        <p:nvSpPr>
          <p:cNvPr id="52" name="a5_m_n0"/>
          <p:cNvSpPr/>
          <p:nvPr/>
        </p:nvSpPr>
        <p:spPr>
          <a:xfrm>
            <a:off x="2457907" y="4231386"/>
            <a:ext cx="201168" cy="201168"/>
          </a:xfrm>
          <a:prstGeom prst="ellipse">
            <a:avLst/>
          </a:prstGeom>
          <a:solidFill>
            <a:srgbClr val="4C9BE8"/>
          </a:solidFill>
          <a:ln w="19050">
            <a:solidFill>
              <a:srgbClr val="FFFFFF"/>
            </a:solidFill>
            <a:prstDash val="solid"/>
          </a:ln>
        </p:spPr>
      </p:sp>
      <p:sp>
        <p:nvSpPr>
          <p:cNvPr id="53" name="a5_m_n1"/>
          <p:cNvSpPr/>
          <p:nvPr/>
        </p:nvSpPr>
        <p:spPr>
          <a:xfrm>
            <a:off x="2457907" y="5031486"/>
            <a:ext cx="201168" cy="201168"/>
          </a:xfrm>
          <a:prstGeom prst="ellipse">
            <a:avLst/>
          </a:prstGeom>
          <a:solidFill>
            <a:srgbClr val="4C9BE8"/>
          </a:solidFill>
          <a:ln w="19050">
            <a:solidFill>
              <a:srgbClr val="FFFFFF"/>
            </a:solidFill>
            <a:prstDash val="solid"/>
          </a:ln>
        </p:spPr>
      </p:sp>
      <p:sp>
        <p:nvSpPr>
          <p:cNvPr id="54" name="a5_m_n2"/>
          <p:cNvSpPr/>
          <p:nvPr/>
        </p:nvSpPr>
        <p:spPr>
          <a:xfrm>
            <a:off x="3168396" y="4631436"/>
            <a:ext cx="201168" cy="201168"/>
          </a:xfrm>
          <a:prstGeom prst="ellipse">
            <a:avLst/>
          </a:prstGeom>
          <a:solidFill>
            <a:srgbClr val="F2545B"/>
          </a:solidFill>
          <a:ln w="19050">
            <a:solidFill>
              <a:srgbClr val="FFFFFF"/>
            </a:solidFill>
            <a:prstDash val="solid"/>
          </a:ln>
        </p:spPr>
      </p:sp>
      <p:sp>
        <p:nvSpPr>
          <p:cNvPr id="55" name="a5_m_n3"/>
          <p:cNvSpPr/>
          <p:nvPr/>
        </p:nvSpPr>
        <p:spPr>
          <a:xfrm>
            <a:off x="3878885" y="4231386"/>
            <a:ext cx="201168" cy="201168"/>
          </a:xfrm>
          <a:prstGeom prst="ellipse">
            <a:avLst/>
          </a:prstGeom>
          <a:solidFill>
            <a:srgbClr val="4C9BE8"/>
          </a:solidFill>
          <a:ln w="19050">
            <a:solidFill>
              <a:srgbClr val="FFFFFF"/>
            </a:solidFill>
            <a:prstDash val="solid"/>
          </a:ln>
        </p:spPr>
      </p:sp>
      <p:sp>
        <p:nvSpPr>
          <p:cNvPr id="56" name="a5_m_n4"/>
          <p:cNvSpPr/>
          <p:nvPr/>
        </p:nvSpPr>
        <p:spPr>
          <a:xfrm>
            <a:off x="3878885" y="5031486"/>
            <a:ext cx="201168" cy="201168"/>
          </a:xfrm>
          <a:prstGeom prst="ellipse">
            <a:avLst/>
          </a:prstGeom>
          <a:solidFill>
            <a:srgbClr val="4C9BE8"/>
          </a:solidFill>
          <a:ln w="19050">
            <a:solidFill>
              <a:srgbClr val="FFFFFF"/>
            </a:solidFill>
            <a:prstDash val="solid"/>
          </a:ln>
        </p:spPr>
      </p:sp>
      <p:sp>
        <p:nvSpPr>
          <p:cNvPr id="57" name="a5_t"/>
          <p:cNvSpPr txBox="1"/>
          <p:nvPr/>
        </p:nvSpPr>
        <p:spPr>
          <a:xfrm>
            <a:off x="2103120" y="5440680"/>
            <a:ext cx="2331720" cy="365760"/>
          </a:xfrm>
          <a:prstGeom prst="rect">
            <a:avLst/>
          </a:prstGeom>
          <a:noFill/>
          <a:ln/>
        </p:spPr>
        <p:txBody>
          <a:bodyPr wrap="square" lIns="0" tIns="0" rIns="0" bIns="0" rtlCol="0" anchor="ctr"/>
          <a:lstStyle/>
          <a:p>
            <a:pPr algn="ctr" indent="0" marL="0">
              <a:buNone/>
            </a:pPr>
            <a:r>
              <a:rPr lang="en-US" sz="1700" b="1" dirty="0">
                <a:solidFill>
                  <a:srgbClr val="1B2333"/>
                </a:solidFill>
                <a:latin typeface="Calibri" pitchFamily="34" charset="0"/>
                <a:ea typeface="Calibri" pitchFamily="34" charset="-122"/>
                <a:cs typeface="Calibri" pitchFamily="34" charset="-120"/>
              </a:rPr>
              <a:t>Gather-scatter</a:t>
            </a:r>
            <a:endParaRPr lang="en-US" sz="1700" dirty="0"/>
          </a:p>
        </p:txBody>
      </p:sp>
      <p:sp>
        <p:nvSpPr>
          <p:cNvPr id="58" name="a5_r"/>
          <p:cNvSpPr txBox="1"/>
          <p:nvPr/>
        </p:nvSpPr>
        <p:spPr>
          <a:xfrm>
            <a:off x="2103120" y="5806440"/>
            <a:ext cx="2331720" cy="320040"/>
          </a:xfrm>
          <a:prstGeom prst="rect">
            <a:avLst/>
          </a:prstGeom>
          <a:noFill/>
          <a:ln/>
        </p:spPr>
        <p:txBody>
          <a:bodyPr wrap="square" lIns="0" tIns="0" rIns="0" bIns="0" rtlCol="0" anchor="ctr"/>
          <a:lstStyle/>
          <a:p>
            <a:pPr algn="ctr" indent="0" marL="0">
              <a:buNone/>
            </a:pPr>
            <a:r>
              <a:rPr lang="en-US" sz="1400" b="1" dirty="0">
                <a:solidFill>
                  <a:srgbClr val="00A99D"/>
                </a:solidFill>
                <a:latin typeface="Calibri" pitchFamily="34" charset="0"/>
                <a:ea typeface="Calibri" pitchFamily="34" charset="-122"/>
                <a:cs typeface="Calibri" pitchFamily="34" charset="-120"/>
              </a:rPr>
              <a:t>trouvé : 17 %</a:t>
            </a:r>
            <a:endParaRPr lang="en-US" sz="1400" dirty="0"/>
          </a:p>
        </p:txBody>
      </p:sp>
      <p:sp>
        <p:nvSpPr>
          <p:cNvPr id="59" name="a6_c"/>
          <p:cNvSpPr/>
          <p:nvPr/>
        </p:nvSpPr>
        <p:spPr>
          <a:xfrm>
            <a:off x="4800600" y="3931920"/>
            <a:ext cx="2514600" cy="2377440"/>
          </a:xfrm>
          <a:prstGeom prst="roundRect">
            <a:avLst>
              <a:gd name="adj" fmla="val 4615"/>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60" name="a6_m_e0"/>
          <p:cNvSpPr/>
          <p:nvPr/>
        </p:nvSpPr>
        <p:spPr>
          <a:xfrm>
            <a:off x="5447995" y="4732020"/>
            <a:ext cx="491033" cy="914"/>
          </a:xfrm>
          <a:prstGeom prst="line">
            <a:avLst/>
          </a:prstGeom>
          <a:noFill/>
          <a:ln w="22225">
            <a:solidFill>
              <a:srgbClr val="8A95A8"/>
            </a:solidFill>
            <a:prstDash val="solid"/>
            <a:tailEnd type="triangle"/>
          </a:ln>
        </p:spPr>
      </p:sp>
      <p:sp>
        <p:nvSpPr>
          <p:cNvPr id="61" name="a6_m_e1"/>
          <p:cNvSpPr/>
          <p:nvPr/>
        </p:nvSpPr>
        <p:spPr>
          <a:xfrm>
            <a:off x="6158484" y="4732020"/>
            <a:ext cx="491033" cy="914"/>
          </a:xfrm>
          <a:prstGeom prst="line">
            <a:avLst/>
          </a:prstGeom>
          <a:noFill/>
          <a:ln w="22225">
            <a:solidFill>
              <a:srgbClr val="8A95A8"/>
            </a:solidFill>
            <a:prstDash val="solid"/>
            <a:tailEnd type="triangle"/>
          </a:ln>
        </p:spPr>
      </p:sp>
      <p:sp>
        <p:nvSpPr>
          <p:cNvPr id="62" name="a6_m_n0"/>
          <p:cNvSpPr/>
          <p:nvPr/>
        </p:nvSpPr>
        <p:spPr>
          <a:xfrm>
            <a:off x="5246827" y="4631436"/>
            <a:ext cx="201168" cy="201168"/>
          </a:xfrm>
          <a:prstGeom prst="ellipse">
            <a:avLst/>
          </a:prstGeom>
          <a:solidFill>
            <a:srgbClr val="4C9BE8"/>
          </a:solidFill>
          <a:ln w="19050">
            <a:solidFill>
              <a:srgbClr val="FFFFFF"/>
            </a:solidFill>
            <a:prstDash val="solid"/>
          </a:ln>
        </p:spPr>
      </p:sp>
      <p:sp>
        <p:nvSpPr>
          <p:cNvPr id="63" name="a6_m_n1"/>
          <p:cNvSpPr/>
          <p:nvPr/>
        </p:nvSpPr>
        <p:spPr>
          <a:xfrm>
            <a:off x="5957316" y="4631436"/>
            <a:ext cx="201168" cy="201168"/>
          </a:xfrm>
          <a:prstGeom prst="ellipse">
            <a:avLst/>
          </a:prstGeom>
          <a:solidFill>
            <a:srgbClr val="F2545B"/>
          </a:solidFill>
          <a:ln w="19050">
            <a:solidFill>
              <a:srgbClr val="FFFFFF"/>
            </a:solidFill>
            <a:prstDash val="solid"/>
          </a:ln>
        </p:spPr>
      </p:sp>
      <p:sp>
        <p:nvSpPr>
          <p:cNvPr id="64" name="a6_m_n2"/>
          <p:cNvSpPr/>
          <p:nvPr/>
        </p:nvSpPr>
        <p:spPr>
          <a:xfrm>
            <a:off x="6667805" y="4631436"/>
            <a:ext cx="201168" cy="201168"/>
          </a:xfrm>
          <a:prstGeom prst="ellipse">
            <a:avLst/>
          </a:prstGeom>
          <a:solidFill>
            <a:srgbClr val="4C9BE8"/>
          </a:solidFill>
          <a:ln w="19050">
            <a:solidFill>
              <a:srgbClr val="FFFFFF"/>
            </a:solidFill>
            <a:prstDash val="solid"/>
          </a:ln>
        </p:spPr>
      </p:sp>
      <p:sp>
        <p:nvSpPr>
          <p:cNvPr id="65" name="a6_t"/>
          <p:cNvSpPr txBox="1"/>
          <p:nvPr/>
        </p:nvSpPr>
        <p:spPr>
          <a:xfrm>
            <a:off x="4892040" y="5440680"/>
            <a:ext cx="2331720" cy="365760"/>
          </a:xfrm>
          <a:prstGeom prst="rect">
            <a:avLst/>
          </a:prstGeom>
          <a:noFill/>
          <a:ln/>
        </p:spPr>
        <p:txBody>
          <a:bodyPr wrap="square" lIns="0" tIns="0" rIns="0" bIns="0" rtlCol="0" anchor="ctr"/>
          <a:lstStyle/>
          <a:p>
            <a:pPr algn="ctr" indent="0" marL="0">
              <a:buNone/>
            </a:pPr>
            <a:r>
              <a:rPr lang="en-US" sz="1700" b="1" dirty="0">
                <a:solidFill>
                  <a:srgbClr val="1B2333"/>
                </a:solidFill>
                <a:latin typeface="Calibri" pitchFamily="34" charset="0"/>
                <a:ea typeface="Calibri" pitchFamily="34" charset="-122"/>
                <a:cs typeface="Calibri" pitchFamily="34" charset="-120"/>
              </a:rPr>
              <a:t>Relais (stack)</a:t>
            </a:r>
            <a:endParaRPr lang="en-US" sz="1700" dirty="0"/>
          </a:p>
        </p:txBody>
      </p:sp>
      <p:sp>
        <p:nvSpPr>
          <p:cNvPr id="66" name="a6_r"/>
          <p:cNvSpPr txBox="1"/>
          <p:nvPr/>
        </p:nvSpPr>
        <p:spPr>
          <a:xfrm>
            <a:off x="4892040" y="5806440"/>
            <a:ext cx="2331720" cy="320040"/>
          </a:xfrm>
          <a:prstGeom prst="rect">
            <a:avLst/>
          </a:prstGeom>
          <a:noFill/>
          <a:ln/>
        </p:spPr>
        <p:txBody>
          <a:bodyPr wrap="square" lIns="0" tIns="0" rIns="0" bIns="0" rtlCol="0" anchor="ctr"/>
          <a:lstStyle/>
          <a:p>
            <a:pPr algn="ctr" indent="0" marL="0">
              <a:buNone/>
            </a:pPr>
            <a:r>
              <a:rPr lang="en-US" sz="1400" b="1" dirty="0">
                <a:solidFill>
                  <a:srgbClr val="00A99D"/>
                </a:solidFill>
                <a:latin typeface="Calibri" pitchFamily="34" charset="0"/>
                <a:ea typeface="Calibri" pitchFamily="34" charset="-122"/>
                <a:cs typeface="Calibri" pitchFamily="34" charset="-120"/>
              </a:rPr>
              <a:t>trouvé : 55 %</a:t>
            </a:r>
            <a:endParaRPr lang="en-US" sz="1400" dirty="0"/>
          </a:p>
        </p:txBody>
      </p:sp>
      <p:sp>
        <p:nvSpPr>
          <p:cNvPr id="67" name="a7_c"/>
          <p:cNvSpPr/>
          <p:nvPr/>
        </p:nvSpPr>
        <p:spPr>
          <a:xfrm>
            <a:off x="7589520" y="3931920"/>
            <a:ext cx="2514600" cy="2377440"/>
          </a:xfrm>
          <a:prstGeom prst="roundRect">
            <a:avLst>
              <a:gd name="adj" fmla="val 4615"/>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68" name="a7_m_e0"/>
          <p:cNvSpPr/>
          <p:nvPr/>
        </p:nvSpPr>
        <p:spPr>
          <a:xfrm>
            <a:off x="8422671" y="4445433"/>
            <a:ext cx="325653" cy="220036"/>
          </a:xfrm>
          <a:prstGeom prst="line">
            <a:avLst/>
          </a:prstGeom>
          <a:noFill/>
          <a:ln w="22225">
            <a:solidFill>
              <a:srgbClr val="8A95A8"/>
            </a:solidFill>
            <a:prstDash val="solid"/>
            <a:tailEnd type="triangle"/>
          </a:ln>
        </p:spPr>
      </p:sp>
      <p:sp>
        <p:nvSpPr>
          <p:cNvPr id="69" name="a7_m_e1"/>
          <p:cNvSpPr/>
          <p:nvPr/>
        </p:nvSpPr>
        <p:spPr>
          <a:xfrm flipV="1">
            <a:off x="8930163" y="4455671"/>
            <a:ext cx="325653" cy="220036"/>
          </a:xfrm>
          <a:prstGeom prst="line">
            <a:avLst/>
          </a:prstGeom>
          <a:noFill/>
          <a:ln w="22225">
            <a:solidFill>
              <a:srgbClr val="8A95A8"/>
            </a:solidFill>
            <a:prstDash val="solid"/>
            <a:tailEnd type="triangle"/>
          </a:ln>
        </p:spPr>
      </p:sp>
      <p:sp>
        <p:nvSpPr>
          <p:cNvPr id="70" name="a7_m_e2"/>
          <p:cNvSpPr/>
          <p:nvPr/>
        </p:nvSpPr>
        <p:spPr>
          <a:xfrm flipH="1" flipV="1">
            <a:off x="8949686" y="4791595"/>
            <a:ext cx="402168" cy="232916"/>
          </a:xfrm>
          <a:prstGeom prst="line">
            <a:avLst/>
          </a:prstGeom>
          <a:noFill/>
          <a:ln w="22225">
            <a:solidFill>
              <a:srgbClr val="8A95A8"/>
            </a:solidFill>
            <a:prstDash val="solid"/>
            <a:tailEnd type="triangle"/>
          </a:ln>
        </p:spPr>
      </p:sp>
      <p:sp>
        <p:nvSpPr>
          <p:cNvPr id="71" name="a7_m_e3"/>
          <p:cNvSpPr/>
          <p:nvPr/>
        </p:nvSpPr>
        <p:spPr>
          <a:xfrm flipH="1">
            <a:off x="8357612" y="4782429"/>
            <a:ext cx="402168" cy="232916"/>
          </a:xfrm>
          <a:prstGeom prst="line">
            <a:avLst/>
          </a:prstGeom>
          <a:noFill/>
          <a:ln w="22225">
            <a:solidFill>
              <a:srgbClr val="8A95A8"/>
            </a:solidFill>
            <a:prstDash val="solid"/>
            <a:tailEnd type="triangle"/>
          </a:ln>
        </p:spPr>
      </p:sp>
      <p:sp>
        <p:nvSpPr>
          <p:cNvPr id="72" name="a7_m_e4"/>
          <p:cNvSpPr/>
          <p:nvPr/>
        </p:nvSpPr>
        <p:spPr>
          <a:xfrm>
            <a:off x="8439912" y="4389120"/>
            <a:ext cx="795528" cy="914"/>
          </a:xfrm>
          <a:prstGeom prst="line">
            <a:avLst/>
          </a:prstGeom>
          <a:noFill/>
          <a:ln w="22225">
            <a:solidFill>
              <a:srgbClr val="8A95A8"/>
            </a:solidFill>
            <a:prstDash val="solid"/>
            <a:tailEnd type="triangle"/>
          </a:ln>
        </p:spPr>
      </p:sp>
      <p:sp>
        <p:nvSpPr>
          <p:cNvPr id="73" name="a7_m_e5"/>
          <p:cNvSpPr/>
          <p:nvPr/>
        </p:nvSpPr>
        <p:spPr>
          <a:xfrm flipH="1">
            <a:off x="8373618" y="5074920"/>
            <a:ext cx="964692" cy="914"/>
          </a:xfrm>
          <a:prstGeom prst="line">
            <a:avLst/>
          </a:prstGeom>
          <a:noFill/>
          <a:ln w="22225">
            <a:solidFill>
              <a:srgbClr val="8A95A8"/>
            </a:solidFill>
            <a:prstDash val="solid"/>
            <a:tailEnd type="triangle"/>
          </a:ln>
        </p:spPr>
      </p:sp>
      <p:sp>
        <p:nvSpPr>
          <p:cNvPr id="74" name="a7_m_n0"/>
          <p:cNvSpPr/>
          <p:nvPr/>
        </p:nvSpPr>
        <p:spPr>
          <a:xfrm>
            <a:off x="8238744" y="4288536"/>
            <a:ext cx="201168" cy="201168"/>
          </a:xfrm>
          <a:prstGeom prst="ellipse">
            <a:avLst/>
          </a:prstGeom>
          <a:solidFill>
            <a:srgbClr val="F2545B"/>
          </a:solidFill>
          <a:ln w="19050">
            <a:solidFill>
              <a:srgbClr val="FFFFFF"/>
            </a:solidFill>
            <a:prstDash val="solid"/>
          </a:ln>
        </p:spPr>
      </p:sp>
      <p:sp>
        <p:nvSpPr>
          <p:cNvPr id="75" name="a7_m_n1"/>
          <p:cNvSpPr/>
          <p:nvPr/>
        </p:nvSpPr>
        <p:spPr>
          <a:xfrm>
            <a:off x="9253728" y="4288536"/>
            <a:ext cx="201168" cy="201168"/>
          </a:xfrm>
          <a:prstGeom prst="ellipse">
            <a:avLst/>
          </a:prstGeom>
          <a:solidFill>
            <a:srgbClr val="F2545B"/>
          </a:solidFill>
          <a:ln w="19050">
            <a:solidFill>
              <a:srgbClr val="FFFFFF"/>
            </a:solidFill>
            <a:prstDash val="solid"/>
          </a:ln>
        </p:spPr>
      </p:sp>
      <p:sp>
        <p:nvSpPr>
          <p:cNvPr id="76" name="a7_m_n2"/>
          <p:cNvSpPr/>
          <p:nvPr/>
        </p:nvSpPr>
        <p:spPr>
          <a:xfrm>
            <a:off x="9338310" y="4974336"/>
            <a:ext cx="201168" cy="201168"/>
          </a:xfrm>
          <a:prstGeom prst="ellipse">
            <a:avLst/>
          </a:prstGeom>
          <a:solidFill>
            <a:srgbClr val="F2545B"/>
          </a:solidFill>
          <a:ln w="19050">
            <a:solidFill>
              <a:srgbClr val="FFFFFF"/>
            </a:solidFill>
            <a:prstDash val="solid"/>
          </a:ln>
        </p:spPr>
      </p:sp>
      <p:sp>
        <p:nvSpPr>
          <p:cNvPr id="77" name="a7_m_n3"/>
          <p:cNvSpPr/>
          <p:nvPr/>
        </p:nvSpPr>
        <p:spPr>
          <a:xfrm>
            <a:off x="8154162" y="4974336"/>
            <a:ext cx="201168" cy="201168"/>
          </a:xfrm>
          <a:prstGeom prst="ellipse">
            <a:avLst/>
          </a:prstGeom>
          <a:solidFill>
            <a:srgbClr val="F2545B"/>
          </a:solidFill>
          <a:ln w="19050">
            <a:solidFill>
              <a:srgbClr val="FFFFFF"/>
            </a:solidFill>
            <a:prstDash val="solid"/>
          </a:ln>
        </p:spPr>
      </p:sp>
      <p:sp>
        <p:nvSpPr>
          <p:cNvPr id="78" name="a7_m_n4"/>
          <p:cNvSpPr/>
          <p:nvPr/>
        </p:nvSpPr>
        <p:spPr>
          <a:xfrm>
            <a:off x="8746236" y="4631436"/>
            <a:ext cx="201168" cy="201168"/>
          </a:xfrm>
          <a:prstGeom prst="ellipse">
            <a:avLst/>
          </a:prstGeom>
          <a:solidFill>
            <a:srgbClr val="F5B700"/>
          </a:solidFill>
          <a:ln w="19050">
            <a:solidFill>
              <a:srgbClr val="FFFFFF"/>
            </a:solidFill>
            <a:prstDash val="solid"/>
          </a:ln>
        </p:spPr>
      </p:sp>
      <p:sp>
        <p:nvSpPr>
          <p:cNvPr id="79" name="a7_t"/>
          <p:cNvSpPr txBox="1"/>
          <p:nvPr/>
        </p:nvSpPr>
        <p:spPr>
          <a:xfrm>
            <a:off x="7680960" y="5440680"/>
            <a:ext cx="2331720" cy="365760"/>
          </a:xfrm>
          <a:prstGeom prst="rect">
            <a:avLst/>
          </a:prstGeom>
          <a:noFill/>
          <a:ln/>
        </p:spPr>
        <p:txBody>
          <a:bodyPr wrap="square" lIns="0" tIns="0" rIns="0" bIns="0" rtlCol="0" anchor="ctr"/>
          <a:lstStyle/>
          <a:p>
            <a:pPr algn="ctr" indent="0" marL="0">
              <a:buNone/>
            </a:pPr>
            <a:r>
              <a:rPr lang="en-US" sz="1700" b="1" dirty="0">
                <a:solidFill>
                  <a:srgbClr val="1B2333"/>
                </a:solidFill>
                <a:latin typeface="Calibri" pitchFamily="34" charset="0"/>
                <a:ea typeface="Calibri" pitchFamily="34" charset="-122"/>
                <a:cs typeface="Calibri" pitchFamily="34" charset="-120"/>
              </a:rPr>
              <a:t>Communauté</a:t>
            </a:r>
            <a:endParaRPr lang="en-US" sz="1700" dirty="0"/>
          </a:p>
        </p:txBody>
      </p:sp>
      <p:sp>
        <p:nvSpPr>
          <p:cNvPr id="80" name="a7_r"/>
          <p:cNvSpPr txBox="1"/>
          <p:nvPr/>
        </p:nvSpPr>
        <p:spPr>
          <a:xfrm>
            <a:off x="7680960" y="5806440"/>
            <a:ext cx="2331720" cy="320040"/>
          </a:xfrm>
          <a:prstGeom prst="rect">
            <a:avLst/>
          </a:prstGeom>
          <a:noFill/>
          <a:ln/>
        </p:spPr>
        <p:txBody>
          <a:bodyPr wrap="square" lIns="0" tIns="0" rIns="0" bIns="0" rtlCol="0" anchor="ctr"/>
          <a:lstStyle/>
          <a:p>
            <a:pPr algn="ctr" indent="0" marL="0">
              <a:buNone/>
            </a:pPr>
            <a:r>
              <a:rPr lang="en-US" sz="1400" dirty="0">
                <a:solidFill>
                  <a:srgbClr val="5B6577"/>
                </a:solidFill>
                <a:latin typeface="Calibri" pitchFamily="34" charset="0"/>
                <a:ea typeface="Calibri" pitchFamily="34" charset="-122"/>
                <a:cs typeface="Calibri" pitchFamily="34" charset="-120"/>
              </a:rPr>
              <a:t>groupes de comptes relais</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00"/>
                                        <p:tgtEl>
                                          <p:spTgt spid="13"/>
                                        </p:tgtEl>
                                      </p:cBhvr>
                                    </p:animEffect>
                                  </p:childTnLst>
                                </p:cTn>
                              </p:par>
                            </p:childTnLst>
                          </p:cTn>
                        </p:par>
                        <p:par>
                          <p:cTn id="35" fill="hold">
                            <p:stCondLst>
                              <p:cond delay="350"/>
                            </p:stCondLst>
                            <p:childTnLst>
                              <p:par>
                                <p:cTn id="36" presetID="10" presetClass="entr" presetSubtype="0" fill="hold" grpId="0" nodeType="after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500"/>
                                        <p:tgtEl>
                                          <p:spTgt spid="14"/>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6"/>
                                        </p:tgtEl>
                                        <p:attrNameLst>
                                          <p:attrName>style.visibility</p:attrName>
                                        </p:attrNameLst>
                                      </p:cBhvr>
                                      <p:to>
                                        <p:strVal val="visible"/>
                                      </p:to>
                                    </p:set>
                                    <p:animEffect transition="in" filter="fade">
                                      <p:cBhvr>
                                        <p:cTn id="44" dur="500"/>
                                        <p:tgtEl>
                                          <p:spTgt spid="16"/>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animEffect transition="in" filter="fade">
                                      <p:cBhvr>
                                        <p:cTn id="47" dur="500"/>
                                        <p:tgtEl>
                                          <p:spTgt spid="17"/>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8"/>
                                        </p:tgtEl>
                                        <p:attrNameLst>
                                          <p:attrName>style.visibility</p:attrName>
                                        </p:attrNameLst>
                                      </p:cBhvr>
                                      <p:to>
                                        <p:strVal val="visible"/>
                                      </p:to>
                                    </p:set>
                                    <p:animEffect transition="in" filter="fade">
                                      <p:cBhvr>
                                        <p:cTn id="50" dur="500"/>
                                        <p:tgtEl>
                                          <p:spTgt spid="18"/>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9"/>
                                        </p:tgtEl>
                                        <p:attrNameLst>
                                          <p:attrName>style.visibility</p:attrName>
                                        </p:attrNameLst>
                                      </p:cBhvr>
                                      <p:to>
                                        <p:strVal val="visible"/>
                                      </p:to>
                                    </p:set>
                                    <p:animEffect transition="in" filter="fade">
                                      <p:cBhvr>
                                        <p:cTn id="53" dur="500"/>
                                        <p:tgtEl>
                                          <p:spTgt spid="19"/>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20"/>
                                        </p:tgtEl>
                                        <p:attrNameLst>
                                          <p:attrName>style.visibility</p:attrName>
                                        </p:attrNameLst>
                                      </p:cBhvr>
                                      <p:to>
                                        <p:strVal val="visible"/>
                                      </p:to>
                                    </p:set>
                                    <p:animEffect transition="in" filter="fade">
                                      <p:cBhvr>
                                        <p:cTn id="56" dur="500"/>
                                        <p:tgtEl>
                                          <p:spTgt spid="20"/>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1"/>
                                        </p:tgtEl>
                                        <p:attrNameLst>
                                          <p:attrName>style.visibility</p:attrName>
                                        </p:attrNameLst>
                                      </p:cBhvr>
                                      <p:to>
                                        <p:strVal val="visible"/>
                                      </p:to>
                                    </p:set>
                                    <p:animEffect transition="in" filter="fade">
                                      <p:cBhvr>
                                        <p:cTn id="59" dur="500"/>
                                        <p:tgtEl>
                                          <p:spTgt spid="21"/>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2"/>
                                        </p:tgtEl>
                                        <p:attrNameLst>
                                          <p:attrName>style.visibility</p:attrName>
                                        </p:attrNameLst>
                                      </p:cBhvr>
                                      <p:to>
                                        <p:strVal val="visible"/>
                                      </p:to>
                                    </p:set>
                                    <p:animEffect transition="in" filter="fade">
                                      <p:cBhvr>
                                        <p:cTn id="62" dur="500"/>
                                        <p:tgtEl>
                                          <p:spTgt spid="22"/>
                                        </p:tgtEl>
                                      </p:cBhvr>
                                    </p:animEffect>
                                  </p:childTnLst>
                                </p:cTn>
                              </p:par>
                              <p:par>
                                <p:cTn id="63" presetID="10" presetClass="entr" presetSubtype="0" fill="hold" grpId="0" nodeType="withEffect">
                                  <p:stCondLst>
                                    <p:cond delay="0"/>
                                  </p:stCondLst>
                                  <p:childTnLst>
                                    <p:set>
                                      <p:cBhvr>
                                        <p:cTn id="64" dur="1" fill="hold">
                                          <p:stCondLst>
                                            <p:cond delay="0"/>
                                          </p:stCondLst>
                                        </p:cTn>
                                        <p:tgtEl>
                                          <p:spTgt spid="23"/>
                                        </p:tgtEl>
                                        <p:attrNameLst>
                                          <p:attrName>style.visibility</p:attrName>
                                        </p:attrNameLst>
                                      </p:cBhvr>
                                      <p:to>
                                        <p:strVal val="visible"/>
                                      </p:to>
                                    </p:set>
                                    <p:animEffect transition="in" filter="fade">
                                      <p:cBhvr>
                                        <p:cTn id="65" dur="500"/>
                                        <p:tgtEl>
                                          <p:spTgt spid="23"/>
                                        </p:tgtEl>
                                      </p:cBhvr>
                                    </p:animEffect>
                                  </p:childTnLst>
                                </p:cTn>
                              </p:par>
                            </p:childTnLst>
                          </p:cTn>
                        </p:par>
                        <p:par>
                          <p:cTn id="66" fill="hold">
                            <p:stCondLst>
                              <p:cond delay="700"/>
                            </p:stCondLst>
                            <p:childTnLst>
                              <p:par>
                                <p:cTn id="67" presetID="10" presetClass="entr" presetSubtype="0" fill="hold" grpId="0" nodeType="after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500"/>
                                        <p:tgtEl>
                                          <p:spTgt spid="2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500"/>
                                        <p:tgtEl>
                                          <p:spTgt spid="25"/>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500"/>
                                        <p:tgtEl>
                                          <p:spTgt spid="2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500"/>
                                        <p:tgtEl>
                                          <p:spTgt spid="27"/>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8"/>
                                        </p:tgtEl>
                                        <p:attrNameLst>
                                          <p:attrName>style.visibility</p:attrName>
                                        </p:attrNameLst>
                                      </p:cBhvr>
                                      <p:to>
                                        <p:strVal val="visible"/>
                                      </p:to>
                                    </p:set>
                                    <p:animEffect transition="in" filter="fade">
                                      <p:cBhvr>
                                        <p:cTn id="81" dur="500"/>
                                        <p:tgtEl>
                                          <p:spTgt spid="28"/>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500"/>
                                        <p:tgtEl>
                                          <p:spTgt spid="29"/>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500"/>
                                        <p:tgtEl>
                                          <p:spTgt spid="30"/>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1"/>
                                        </p:tgtEl>
                                        <p:attrNameLst>
                                          <p:attrName>style.visibility</p:attrName>
                                        </p:attrNameLst>
                                      </p:cBhvr>
                                      <p:to>
                                        <p:strVal val="visible"/>
                                      </p:to>
                                    </p:set>
                                    <p:animEffect transition="in" filter="fade">
                                      <p:cBhvr>
                                        <p:cTn id="90" dur="500"/>
                                        <p:tgtEl>
                                          <p:spTgt spid="31"/>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fade">
                                      <p:cBhvr>
                                        <p:cTn id="93" dur="500"/>
                                        <p:tgtEl>
                                          <p:spTgt spid="32"/>
                                        </p:tgtEl>
                                      </p:cBhvr>
                                    </p:animEffect>
                                  </p:childTnLst>
                                </p:cTn>
                              </p:par>
                            </p:childTnLst>
                          </p:cTn>
                        </p:par>
                        <p:par>
                          <p:cTn id="94" fill="hold">
                            <p:stCondLst>
                              <p:cond delay="1050"/>
                            </p:stCondLst>
                            <p:childTnLst>
                              <p:par>
                                <p:cTn id="95" presetID="10" presetClass="entr" presetSubtype="0" fill="hold" grpId="0" nodeType="afterEffect">
                                  <p:stCondLst>
                                    <p:cond delay="0"/>
                                  </p:stCondLst>
                                  <p:childTnLst>
                                    <p:set>
                                      <p:cBhvr>
                                        <p:cTn id="96" dur="1" fill="hold">
                                          <p:stCondLst>
                                            <p:cond delay="0"/>
                                          </p:stCondLst>
                                        </p:cTn>
                                        <p:tgtEl>
                                          <p:spTgt spid="33"/>
                                        </p:tgtEl>
                                        <p:attrNameLst>
                                          <p:attrName>style.visibility</p:attrName>
                                        </p:attrNameLst>
                                      </p:cBhvr>
                                      <p:to>
                                        <p:strVal val="visible"/>
                                      </p:to>
                                    </p:set>
                                    <p:animEffect transition="in" filter="fade">
                                      <p:cBhvr>
                                        <p:cTn id="97" dur="500"/>
                                        <p:tgtEl>
                                          <p:spTgt spid="33"/>
                                        </p:tgtEl>
                                      </p:cBhvr>
                                    </p:animEffect>
                                  </p:childTnLst>
                                </p:cTn>
                              </p:par>
                              <p:par>
                                <p:cTn id="98" presetID="10" presetClass="entr" presetSubtype="0" fill="hold" grpId="0" nodeType="withEffect">
                                  <p:stCondLst>
                                    <p:cond delay="0"/>
                                  </p:stCondLst>
                                  <p:childTnLst>
                                    <p:set>
                                      <p:cBhvr>
                                        <p:cTn id="99" dur="1" fill="hold">
                                          <p:stCondLst>
                                            <p:cond delay="0"/>
                                          </p:stCondLst>
                                        </p:cTn>
                                        <p:tgtEl>
                                          <p:spTgt spid="34"/>
                                        </p:tgtEl>
                                        <p:attrNameLst>
                                          <p:attrName>style.visibility</p:attrName>
                                        </p:attrNameLst>
                                      </p:cBhvr>
                                      <p:to>
                                        <p:strVal val="visible"/>
                                      </p:to>
                                    </p:set>
                                    <p:animEffect transition="in" filter="fade">
                                      <p:cBhvr>
                                        <p:cTn id="100" dur="500"/>
                                        <p:tgtEl>
                                          <p:spTgt spid="34"/>
                                        </p:tgtEl>
                                      </p:cBhvr>
                                    </p:animEffect>
                                  </p:childTnLst>
                                </p:cTn>
                              </p:par>
                              <p:par>
                                <p:cTn id="101" presetID="10" presetClass="entr" presetSubtype="0" fill="hold" grpId="0" nodeType="withEffect">
                                  <p:stCondLst>
                                    <p:cond delay="0"/>
                                  </p:stCondLst>
                                  <p:childTnLst>
                                    <p:set>
                                      <p:cBhvr>
                                        <p:cTn id="102" dur="1" fill="hold">
                                          <p:stCondLst>
                                            <p:cond delay="0"/>
                                          </p:stCondLst>
                                        </p:cTn>
                                        <p:tgtEl>
                                          <p:spTgt spid="35"/>
                                        </p:tgtEl>
                                        <p:attrNameLst>
                                          <p:attrName>style.visibility</p:attrName>
                                        </p:attrNameLst>
                                      </p:cBhvr>
                                      <p:to>
                                        <p:strVal val="visible"/>
                                      </p:to>
                                    </p:set>
                                    <p:animEffect transition="in" filter="fade">
                                      <p:cBhvr>
                                        <p:cTn id="103" dur="500"/>
                                        <p:tgtEl>
                                          <p:spTgt spid="35"/>
                                        </p:tgtEl>
                                      </p:cBhvr>
                                    </p:animEffect>
                                  </p:childTnLst>
                                </p:cTn>
                              </p:par>
                              <p:par>
                                <p:cTn id="104" presetID="10" presetClass="entr" presetSubtype="0" fill="hold" grpId="0" nodeType="withEffect">
                                  <p:stCondLst>
                                    <p:cond delay="0"/>
                                  </p:stCondLst>
                                  <p:childTnLst>
                                    <p:set>
                                      <p:cBhvr>
                                        <p:cTn id="105" dur="1" fill="hold">
                                          <p:stCondLst>
                                            <p:cond delay="0"/>
                                          </p:stCondLst>
                                        </p:cTn>
                                        <p:tgtEl>
                                          <p:spTgt spid="36"/>
                                        </p:tgtEl>
                                        <p:attrNameLst>
                                          <p:attrName>style.visibility</p:attrName>
                                        </p:attrNameLst>
                                      </p:cBhvr>
                                      <p:to>
                                        <p:strVal val="visible"/>
                                      </p:to>
                                    </p:set>
                                    <p:animEffect transition="in" filter="fade">
                                      <p:cBhvr>
                                        <p:cTn id="106" dur="500"/>
                                        <p:tgtEl>
                                          <p:spTgt spid="36"/>
                                        </p:tgtEl>
                                      </p:cBhvr>
                                    </p:animEffect>
                                  </p:childTnLst>
                                </p:cTn>
                              </p:par>
                              <p:par>
                                <p:cTn id="107" presetID="10" presetClass="entr" presetSubtype="0" fill="hold" grpId="0" nodeType="withEffect">
                                  <p:stCondLst>
                                    <p:cond delay="0"/>
                                  </p:stCondLst>
                                  <p:childTnLst>
                                    <p:set>
                                      <p:cBhvr>
                                        <p:cTn id="108" dur="1" fill="hold">
                                          <p:stCondLst>
                                            <p:cond delay="0"/>
                                          </p:stCondLst>
                                        </p:cTn>
                                        <p:tgtEl>
                                          <p:spTgt spid="37"/>
                                        </p:tgtEl>
                                        <p:attrNameLst>
                                          <p:attrName>style.visibility</p:attrName>
                                        </p:attrNameLst>
                                      </p:cBhvr>
                                      <p:to>
                                        <p:strVal val="visible"/>
                                      </p:to>
                                    </p:set>
                                    <p:animEffect transition="in" filter="fade">
                                      <p:cBhvr>
                                        <p:cTn id="109" dur="500"/>
                                        <p:tgtEl>
                                          <p:spTgt spid="37"/>
                                        </p:tgtEl>
                                      </p:cBhvr>
                                    </p:animEffect>
                                  </p:childTnLst>
                                </p:cTn>
                              </p:par>
                              <p:par>
                                <p:cTn id="110" presetID="10" presetClass="entr" presetSubtype="0" fill="hold" grpId="0" nodeType="withEffect">
                                  <p:stCondLst>
                                    <p:cond delay="0"/>
                                  </p:stCondLst>
                                  <p:childTnLst>
                                    <p:set>
                                      <p:cBhvr>
                                        <p:cTn id="111" dur="1" fill="hold">
                                          <p:stCondLst>
                                            <p:cond delay="0"/>
                                          </p:stCondLst>
                                        </p:cTn>
                                        <p:tgtEl>
                                          <p:spTgt spid="38"/>
                                        </p:tgtEl>
                                        <p:attrNameLst>
                                          <p:attrName>style.visibility</p:attrName>
                                        </p:attrNameLst>
                                      </p:cBhvr>
                                      <p:to>
                                        <p:strVal val="visible"/>
                                      </p:to>
                                    </p:set>
                                    <p:animEffect transition="in" filter="fade">
                                      <p:cBhvr>
                                        <p:cTn id="112" dur="500"/>
                                        <p:tgtEl>
                                          <p:spTgt spid="38"/>
                                        </p:tgtEl>
                                      </p:cBhvr>
                                    </p:animEffect>
                                  </p:childTnLst>
                                </p:cTn>
                              </p:par>
                              <p:par>
                                <p:cTn id="113" presetID="10" presetClass="entr" presetSubtype="0" fill="hold" grpId="0" nodeType="withEffect">
                                  <p:stCondLst>
                                    <p:cond delay="0"/>
                                  </p:stCondLst>
                                  <p:childTnLst>
                                    <p:set>
                                      <p:cBhvr>
                                        <p:cTn id="114" dur="1" fill="hold">
                                          <p:stCondLst>
                                            <p:cond delay="0"/>
                                          </p:stCondLst>
                                        </p:cTn>
                                        <p:tgtEl>
                                          <p:spTgt spid="39"/>
                                        </p:tgtEl>
                                        <p:attrNameLst>
                                          <p:attrName>style.visibility</p:attrName>
                                        </p:attrNameLst>
                                      </p:cBhvr>
                                      <p:to>
                                        <p:strVal val="visible"/>
                                      </p:to>
                                    </p:set>
                                    <p:animEffect transition="in" filter="fade">
                                      <p:cBhvr>
                                        <p:cTn id="115" dur="500"/>
                                        <p:tgtEl>
                                          <p:spTgt spid="39"/>
                                        </p:tgtEl>
                                      </p:cBhvr>
                                    </p:animEffect>
                                  </p:childTnLst>
                                </p:cTn>
                              </p:par>
                              <p:par>
                                <p:cTn id="116" presetID="10" presetClass="entr" presetSubtype="0" fill="hold" grpId="0" nodeType="withEffect">
                                  <p:stCondLst>
                                    <p:cond delay="0"/>
                                  </p:stCondLst>
                                  <p:childTnLst>
                                    <p:set>
                                      <p:cBhvr>
                                        <p:cTn id="117" dur="1" fill="hold">
                                          <p:stCondLst>
                                            <p:cond delay="0"/>
                                          </p:stCondLst>
                                        </p:cTn>
                                        <p:tgtEl>
                                          <p:spTgt spid="40"/>
                                        </p:tgtEl>
                                        <p:attrNameLst>
                                          <p:attrName>style.visibility</p:attrName>
                                        </p:attrNameLst>
                                      </p:cBhvr>
                                      <p:to>
                                        <p:strVal val="visible"/>
                                      </p:to>
                                    </p:set>
                                    <p:animEffect transition="in" filter="fade">
                                      <p:cBhvr>
                                        <p:cTn id="118" dur="500"/>
                                        <p:tgtEl>
                                          <p:spTgt spid="40"/>
                                        </p:tgtEl>
                                      </p:cBhvr>
                                    </p:animEffect>
                                  </p:childTnLst>
                                </p:cTn>
                              </p:par>
                              <p:par>
                                <p:cTn id="119" presetID="10" presetClass="entr" presetSubtype="0" fill="hold" grpId="0" nodeType="withEffect">
                                  <p:stCondLst>
                                    <p:cond delay="0"/>
                                  </p:stCondLst>
                                  <p:childTnLst>
                                    <p:set>
                                      <p:cBhvr>
                                        <p:cTn id="120" dur="1" fill="hold">
                                          <p:stCondLst>
                                            <p:cond delay="0"/>
                                          </p:stCondLst>
                                        </p:cTn>
                                        <p:tgtEl>
                                          <p:spTgt spid="41"/>
                                        </p:tgtEl>
                                        <p:attrNameLst>
                                          <p:attrName>style.visibility</p:attrName>
                                        </p:attrNameLst>
                                      </p:cBhvr>
                                      <p:to>
                                        <p:strVal val="visible"/>
                                      </p:to>
                                    </p:set>
                                    <p:animEffect transition="in" filter="fade">
                                      <p:cBhvr>
                                        <p:cTn id="121" dur="500"/>
                                        <p:tgtEl>
                                          <p:spTgt spid="41"/>
                                        </p:tgtEl>
                                      </p:cBhvr>
                                    </p:animEffect>
                                  </p:childTnLst>
                                </p:cTn>
                              </p:par>
                              <p:par>
                                <p:cTn id="122" presetID="10" presetClass="entr" presetSubtype="0" fill="hold" grpId="0" nodeType="withEffect">
                                  <p:stCondLst>
                                    <p:cond delay="0"/>
                                  </p:stCondLst>
                                  <p:childTnLst>
                                    <p:set>
                                      <p:cBhvr>
                                        <p:cTn id="123" dur="1" fill="hold">
                                          <p:stCondLst>
                                            <p:cond delay="0"/>
                                          </p:stCondLst>
                                        </p:cTn>
                                        <p:tgtEl>
                                          <p:spTgt spid="42"/>
                                        </p:tgtEl>
                                        <p:attrNameLst>
                                          <p:attrName>style.visibility</p:attrName>
                                        </p:attrNameLst>
                                      </p:cBhvr>
                                      <p:to>
                                        <p:strVal val="visible"/>
                                      </p:to>
                                    </p:set>
                                    <p:animEffect transition="in" filter="fade">
                                      <p:cBhvr>
                                        <p:cTn id="124" dur="500"/>
                                        <p:tgtEl>
                                          <p:spTgt spid="42"/>
                                        </p:tgtEl>
                                      </p:cBhvr>
                                    </p:animEffect>
                                  </p:childTnLst>
                                </p:cTn>
                              </p:par>
                              <p:par>
                                <p:cTn id="125" presetID="10" presetClass="entr" presetSubtype="0" fill="hold" grpId="0" nodeType="withEffect">
                                  <p:stCondLst>
                                    <p:cond delay="0"/>
                                  </p:stCondLst>
                                  <p:childTnLst>
                                    <p:set>
                                      <p:cBhvr>
                                        <p:cTn id="126" dur="1" fill="hold">
                                          <p:stCondLst>
                                            <p:cond delay="0"/>
                                          </p:stCondLst>
                                        </p:cTn>
                                        <p:tgtEl>
                                          <p:spTgt spid="43"/>
                                        </p:tgtEl>
                                        <p:attrNameLst>
                                          <p:attrName>style.visibility</p:attrName>
                                        </p:attrNameLst>
                                      </p:cBhvr>
                                      <p:to>
                                        <p:strVal val="visible"/>
                                      </p:to>
                                    </p:set>
                                    <p:animEffect transition="in" filter="fade">
                                      <p:cBhvr>
                                        <p:cTn id="127" dur="500"/>
                                        <p:tgtEl>
                                          <p:spTgt spid="43"/>
                                        </p:tgtEl>
                                      </p:cBhvr>
                                    </p:animEffect>
                                  </p:childTnLst>
                                </p:cTn>
                              </p:par>
                              <p:par>
                                <p:cTn id="128" presetID="10" presetClass="entr" presetSubtype="0" fill="hold" grpId="0" nodeType="withEffect">
                                  <p:stCondLst>
                                    <p:cond delay="0"/>
                                  </p:stCondLst>
                                  <p:childTnLst>
                                    <p:set>
                                      <p:cBhvr>
                                        <p:cTn id="129" dur="1" fill="hold">
                                          <p:stCondLst>
                                            <p:cond delay="0"/>
                                          </p:stCondLst>
                                        </p:cTn>
                                        <p:tgtEl>
                                          <p:spTgt spid="44"/>
                                        </p:tgtEl>
                                        <p:attrNameLst>
                                          <p:attrName>style.visibility</p:attrName>
                                        </p:attrNameLst>
                                      </p:cBhvr>
                                      <p:to>
                                        <p:strVal val="visible"/>
                                      </p:to>
                                    </p:set>
                                    <p:animEffect transition="in" filter="fade">
                                      <p:cBhvr>
                                        <p:cTn id="130" dur="500"/>
                                        <p:tgtEl>
                                          <p:spTgt spid="44"/>
                                        </p:tgtEl>
                                      </p:cBhvr>
                                    </p:animEffect>
                                  </p:childTnLst>
                                </p:cTn>
                              </p:par>
                              <p:par>
                                <p:cTn id="131" presetID="10" presetClass="entr" presetSubtype="0" fill="hold" grpId="0" nodeType="withEffect">
                                  <p:stCondLst>
                                    <p:cond delay="0"/>
                                  </p:stCondLst>
                                  <p:childTnLst>
                                    <p:set>
                                      <p:cBhvr>
                                        <p:cTn id="132" dur="1" fill="hold">
                                          <p:stCondLst>
                                            <p:cond delay="0"/>
                                          </p:stCondLst>
                                        </p:cTn>
                                        <p:tgtEl>
                                          <p:spTgt spid="45"/>
                                        </p:tgtEl>
                                        <p:attrNameLst>
                                          <p:attrName>style.visibility</p:attrName>
                                        </p:attrNameLst>
                                      </p:cBhvr>
                                      <p:to>
                                        <p:strVal val="visible"/>
                                      </p:to>
                                    </p:set>
                                    <p:animEffect transition="in" filter="fade">
                                      <p:cBhvr>
                                        <p:cTn id="133" dur="500"/>
                                        <p:tgtEl>
                                          <p:spTgt spid="45"/>
                                        </p:tgtEl>
                                      </p:cBhvr>
                                    </p:animEffect>
                                  </p:childTnLst>
                                </p:cTn>
                              </p:par>
                              <p:par>
                                <p:cTn id="134" presetID="10" presetClass="entr" presetSubtype="0" fill="hold" grpId="0" nodeType="withEffect">
                                  <p:stCondLst>
                                    <p:cond delay="0"/>
                                  </p:stCondLst>
                                  <p:childTnLst>
                                    <p:set>
                                      <p:cBhvr>
                                        <p:cTn id="135" dur="1" fill="hold">
                                          <p:stCondLst>
                                            <p:cond delay="0"/>
                                          </p:stCondLst>
                                        </p:cTn>
                                        <p:tgtEl>
                                          <p:spTgt spid="46"/>
                                        </p:tgtEl>
                                        <p:attrNameLst>
                                          <p:attrName>style.visibility</p:attrName>
                                        </p:attrNameLst>
                                      </p:cBhvr>
                                      <p:to>
                                        <p:strVal val="visible"/>
                                      </p:to>
                                    </p:set>
                                    <p:animEffect transition="in" filter="fade">
                                      <p:cBhvr>
                                        <p:cTn id="136" dur="500"/>
                                        <p:tgtEl>
                                          <p:spTgt spid="46"/>
                                        </p:tgtEl>
                                      </p:cBhvr>
                                    </p:animEffect>
                                  </p:childTnLst>
                                </p:cTn>
                              </p:par>
                            </p:childTnLst>
                          </p:cTn>
                        </p:par>
                        <p:par>
                          <p:cTn id="137" fill="hold">
                            <p:stCondLst>
                              <p:cond delay="1400"/>
                            </p:stCondLst>
                            <p:childTnLst>
                              <p:par>
                                <p:cTn id="138" presetID="10" presetClass="entr" presetSubtype="0" fill="hold" grpId="0" nodeType="afterEffect">
                                  <p:stCondLst>
                                    <p:cond delay="0"/>
                                  </p:stCondLst>
                                  <p:childTnLst>
                                    <p:set>
                                      <p:cBhvr>
                                        <p:cTn id="139" dur="1" fill="hold">
                                          <p:stCondLst>
                                            <p:cond delay="0"/>
                                          </p:stCondLst>
                                        </p:cTn>
                                        <p:tgtEl>
                                          <p:spTgt spid="47"/>
                                        </p:tgtEl>
                                        <p:attrNameLst>
                                          <p:attrName>style.visibility</p:attrName>
                                        </p:attrNameLst>
                                      </p:cBhvr>
                                      <p:to>
                                        <p:strVal val="visible"/>
                                      </p:to>
                                    </p:set>
                                    <p:animEffect transition="in" filter="fade">
                                      <p:cBhvr>
                                        <p:cTn id="140" dur="500"/>
                                        <p:tgtEl>
                                          <p:spTgt spid="47"/>
                                        </p:tgtEl>
                                      </p:cBhvr>
                                    </p:animEffect>
                                  </p:childTnLst>
                                </p:cTn>
                              </p:par>
                              <p:par>
                                <p:cTn id="141" presetID="10" presetClass="entr" presetSubtype="0" fill="hold" grpId="0" nodeType="withEffect">
                                  <p:stCondLst>
                                    <p:cond delay="0"/>
                                  </p:stCondLst>
                                  <p:childTnLst>
                                    <p:set>
                                      <p:cBhvr>
                                        <p:cTn id="142" dur="1" fill="hold">
                                          <p:stCondLst>
                                            <p:cond delay="0"/>
                                          </p:stCondLst>
                                        </p:cTn>
                                        <p:tgtEl>
                                          <p:spTgt spid="48"/>
                                        </p:tgtEl>
                                        <p:attrNameLst>
                                          <p:attrName>style.visibility</p:attrName>
                                        </p:attrNameLst>
                                      </p:cBhvr>
                                      <p:to>
                                        <p:strVal val="visible"/>
                                      </p:to>
                                    </p:set>
                                    <p:animEffect transition="in" filter="fade">
                                      <p:cBhvr>
                                        <p:cTn id="143" dur="500"/>
                                        <p:tgtEl>
                                          <p:spTgt spid="48"/>
                                        </p:tgtEl>
                                      </p:cBhvr>
                                    </p:animEffect>
                                  </p:childTnLst>
                                </p:cTn>
                              </p:par>
                              <p:par>
                                <p:cTn id="144" presetID="10" presetClass="entr" presetSubtype="0" fill="hold" grpId="0" nodeType="withEffect">
                                  <p:stCondLst>
                                    <p:cond delay="0"/>
                                  </p:stCondLst>
                                  <p:childTnLst>
                                    <p:set>
                                      <p:cBhvr>
                                        <p:cTn id="145" dur="1" fill="hold">
                                          <p:stCondLst>
                                            <p:cond delay="0"/>
                                          </p:stCondLst>
                                        </p:cTn>
                                        <p:tgtEl>
                                          <p:spTgt spid="49"/>
                                        </p:tgtEl>
                                        <p:attrNameLst>
                                          <p:attrName>style.visibility</p:attrName>
                                        </p:attrNameLst>
                                      </p:cBhvr>
                                      <p:to>
                                        <p:strVal val="visible"/>
                                      </p:to>
                                    </p:set>
                                    <p:animEffect transition="in" filter="fade">
                                      <p:cBhvr>
                                        <p:cTn id="146" dur="500"/>
                                        <p:tgtEl>
                                          <p:spTgt spid="49"/>
                                        </p:tgtEl>
                                      </p:cBhvr>
                                    </p:animEffect>
                                  </p:childTnLst>
                                </p:cTn>
                              </p:par>
                              <p:par>
                                <p:cTn id="147" presetID="10" presetClass="entr" presetSubtype="0" fill="hold" grpId="0" nodeType="withEffect">
                                  <p:stCondLst>
                                    <p:cond delay="0"/>
                                  </p:stCondLst>
                                  <p:childTnLst>
                                    <p:set>
                                      <p:cBhvr>
                                        <p:cTn id="148" dur="1" fill="hold">
                                          <p:stCondLst>
                                            <p:cond delay="0"/>
                                          </p:stCondLst>
                                        </p:cTn>
                                        <p:tgtEl>
                                          <p:spTgt spid="50"/>
                                        </p:tgtEl>
                                        <p:attrNameLst>
                                          <p:attrName>style.visibility</p:attrName>
                                        </p:attrNameLst>
                                      </p:cBhvr>
                                      <p:to>
                                        <p:strVal val="visible"/>
                                      </p:to>
                                    </p:set>
                                    <p:animEffect transition="in" filter="fade">
                                      <p:cBhvr>
                                        <p:cTn id="149" dur="500"/>
                                        <p:tgtEl>
                                          <p:spTgt spid="50"/>
                                        </p:tgtEl>
                                      </p:cBhvr>
                                    </p:animEffect>
                                  </p:childTnLst>
                                </p:cTn>
                              </p:par>
                              <p:par>
                                <p:cTn id="150" presetID="10" presetClass="entr" presetSubtype="0" fill="hold" grpId="0" nodeType="withEffect">
                                  <p:stCondLst>
                                    <p:cond delay="0"/>
                                  </p:stCondLst>
                                  <p:childTnLst>
                                    <p:set>
                                      <p:cBhvr>
                                        <p:cTn id="151" dur="1" fill="hold">
                                          <p:stCondLst>
                                            <p:cond delay="0"/>
                                          </p:stCondLst>
                                        </p:cTn>
                                        <p:tgtEl>
                                          <p:spTgt spid="51"/>
                                        </p:tgtEl>
                                        <p:attrNameLst>
                                          <p:attrName>style.visibility</p:attrName>
                                        </p:attrNameLst>
                                      </p:cBhvr>
                                      <p:to>
                                        <p:strVal val="visible"/>
                                      </p:to>
                                    </p:set>
                                    <p:animEffect transition="in" filter="fade">
                                      <p:cBhvr>
                                        <p:cTn id="152" dur="500"/>
                                        <p:tgtEl>
                                          <p:spTgt spid="51"/>
                                        </p:tgtEl>
                                      </p:cBhvr>
                                    </p:animEffect>
                                  </p:childTnLst>
                                </p:cTn>
                              </p:par>
                              <p:par>
                                <p:cTn id="153" presetID="10" presetClass="entr" presetSubtype="0" fill="hold" grpId="0" nodeType="withEffect">
                                  <p:stCondLst>
                                    <p:cond delay="0"/>
                                  </p:stCondLst>
                                  <p:childTnLst>
                                    <p:set>
                                      <p:cBhvr>
                                        <p:cTn id="154" dur="1" fill="hold">
                                          <p:stCondLst>
                                            <p:cond delay="0"/>
                                          </p:stCondLst>
                                        </p:cTn>
                                        <p:tgtEl>
                                          <p:spTgt spid="52"/>
                                        </p:tgtEl>
                                        <p:attrNameLst>
                                          <p:attrName>style.visibility</p:attrName>
                                        </p:attrNameLst>
                                      </p:cBhvr>
                                      <p:to>
                                        <p:strVal val="visible"/>
                                      </p:to>
                                    </p:set>
                                    <p:animEffect transition="in" filter="fade">
                                      <p:cBhvr>
                                        <p:cTn id="155" dur="500"/>
                                        <p:tgtEl>
                                          <p:spTgt spid="52"/>
                                        </p:tgtEl>
                                      </p:cBhvr>
                                    </p:animEffect>
                                  </p:childTnLst>
                                </p:cTn>
                              </p:par>
                              <p:par>
                                <p:cTn id="156" presetID="10" presetClass="entr" presetSubtype="0" fill="hold" grpId="0" nodeType="withEffect">
                                  <p:stCondLst>
                                    <p:cond delay="0"/>
                                  </p:stCondLst>
                                  <p:childTnLst>
                                    <p:set>
                                      <p:cBhvr>
                                        <p:cTn id="157" dur="1" fill="hold">
                                          <p:stCondLst>
                                            <p:cond delay="0"/>
                                          </p:stCondLst>
                                        </p:cTn>
                                        <p:tgtEl>
                                          <p:spTgt spid="53"/>
                                        </p:tgtEl>
                                        <p:attrNameLst>
                                          <p:attrName>style.visibility</p:attrName>
                                        </p:attrNameLst>
                                      </p:cBhvr>
                                      <p:to>
                                        <p:strVal val="visible"/>
                                      </p:to>
                                    </p:set>
                                    <p:animEffect transition="in" filter="fade">
                                      <p:cBhvr>
                                        <p:cTn id="158" dur="500"/>
                                        <p:tgtEl>
                                          <p:spTgt spid="53"/>
                                        </p:tgtEl>
                                      </p:cBhvr>
                                    </p:animEffect>
                                  </p:childTnLst>
                                </p:cTn>
                              </p:par>
                              <p:par>
                                <p:cTn id="159" presetID="10" presetClass="entr" presetSubtype="0" fill="hold" grpId="0" nodeType="withEffect">
                                  <p:stCondLst>
                                    <p:cond delay="0"/>
                                  </p:stCondLst>
                                  <p:childTnLst>
                                    <p:set>
                                      <p:cBhvr>
                                        <p:cTn id="160" dur="1" fill="hold">
                                          <p:stCondLst>
                                            <p:cond delay="0"/>
                                          </p:stCondLst>
                                        </p:cTn>
                                        <p:tgtEl>
                                          <p:spTgt spid="54"/>
                                        </p:tgtEl>
                                        <p:attrNameLst>
                                          <p:attrName>style.visibility</p:attrName>
                                        </p:attrNameLst>
                                      </p:cBhvr>
                                      <p:to>
                                        <p:strVal val="visible"/>
                                      </p:to>
                                    </p:set>
                                    <p:animEffect transition="in" filter="fade">
                                      <p:cBhvr>
                                        <p:cTn id="161" dur="500"/>
                                        <p:tgtEl>
                                          <p:spTgt spid="54"/>
                                        </p:tgtEl>
                                      </p:cBhvr>
                                    </p:animEffect>
                                  </p:childTnLst>
                                </p:cTn>
                              </p:par>
                              <p:par>
                                <p:cTn id="162" presetID="10" presetClass="entr" presetSubtype="0" fill="hold" grpId="0" nodeType="withEffect">
                                  <p:stCondLst>
                                    <p:cond delay="0"/>
                                  </p:stCondLst>
                                  <p:childTnLst>
                                    <p:set>
                                      <p:cBhvr>
                                        <p:cTn id="163" dur="1" fill="hold">
                                          <p:stCondLst>
                                            <p:cond delay="0"/>
                                          </p:stCondLst>
                                        </p:cTn>
                                        <p:tgtEl>
                                          <p:spTgt spid="55"/>
                                        </p:tgtEl>
                                        <p:attrNameLst>
                                          <p:attrName>style.visibility</p:attrName>
                                        </p:attrNameLst>
                                      </p:cBhvr>
                                      <p:to>
                                        <p:strVal val="visible"/>
                                      </p:to>
                                    </p:set>
                                    <p:animEffect transition="in" filter="fade">
                                      <p:cBhvr>
                                        <p:cTn id="164" dur="500"/>
                                        <p:tgtEl>
                                          <p:spTgt spid="55"/>
                                        </p:tgtEl>
                                      </p:cBhvr>
                                    </p:animEffect>
                                  </p:childTnLst>
                                </p:cTn>
                              </p:par>
                              <p:par>
                                <p:cTn id="165" presetID="10" presetClass="entr" presetSubtype="0" fill="hold" grpId="0" nodeType="withEffect">
                                  <p:stCondLst>
                                    <p:cond delay="0"/>
                                  </p:stCondLst>
                                  <p:childTnLst>
                                    <p:set>
                                      <p:cBhvr>
                                        <p:cTn id="166" dur="1" fill="hold">
                                          <p:stCondLst>
                                            <p:cond delay="0"/>
                                          </p:stCondLst>
                                        </p:cTn>
                                        <p:tgtEl>
                                          <p:spTgt spid="56"/>
                                        </p:tgtEl>
                                        <p:attrNameLst>
                                          <p:attrName>style.visibility</p:attrName>
                                        </p:attrNameLst>
                                      </p:cBhvr>
                                      <p:to>
                                        <p:strVal val="visible"/>
                                      </p:to>
                                    </p:set>
                                    <p:animEffect transition="in" filter="fade">
                                      <p:cBhvr>
                                        <p:cTn id="167" dur="500"/>
                                        <p:tgtEl>
                                          <p:spTgt spid="56"/>
                                        </p:tgtEl>
                                      </p:cBhvr>
                                    </p:animEffect>
                                  </p:childTnLst>
                                </p:cTn>
                              </p:par>
                              <p:par>
                                <p:cTn id="168" presetID="10" presetClass="entr" presetSubtype="0" fill="hold" grpId="0" nodeType="withEffect">
                                  <p:stCondLst>
                                    <p:cond delay="0"/>
                                  </p:stCondLst>
                                  <p:childTnLst>
                                    <p:set>
                                      <p:cBhvr>
                                        <p:cTn id="169" dur="1" fill="hold">
                                          <p:stCondLst>
                                            <p:cond delay="0"/>
                                          </p:stCondLst>
                                        </p:cTn>
                                        <p:tgtEl>
                                          <p:spTgt spid="57"/>
                                        </p:tgtEl>
                                        <p:attrNameLst>
                                          <p:attrName>style.visibility</p:attrName>
                                        </p:attrNameLst>
                                      </p:cBhvr>
                                      <p:to>
                                        <p:strVal val="visible"/>
                                      </p:to>
                                    </p:set>
                                    <p:animEffect transition="in" filter="fade">
                                      <p:cBhvr>
                                        <p:cTn id="170" dur="500"/>
                                        <p:tgtEl>
                                          <p:spTgt spid="57"/>
                                        </p:tgtEl>
                                      </p:cBhvr>
                                    </p:animEffect>
                                  </p:childTnLst>
                                </p:cTn>
                              </p:par>
                              <p:par>
                                <p:cTn id="171" presetID="10" presetClass="entr" presetSubtype="0" fill="hold" grpId="0" nodeType="withEffect">
                                  <p:stCondLst>
                                    <p:cond delay="0"/>
                                  </p:stCondLst>
                                  <p:childTnLst>
                                    <p:set>
                                      <p:cBhvr>
                                        <p:cTn id="172" dur="1" fill="hold">
                                          <p:stCondLst>
                                            <p:cond delay="0"/>
                                          </p:stCondLst>
                                        </p:cTn>
                                        <p:tgtEl>
                                          <p:spTgt spid="58"/>
                                        </p:tgtEl>
                                        <p:attrNameLst>
                                          <p:attrName>style.visibility</p:attrName>
                                        </p:attrNameLst>
                                      </p:cBhvr>
                                      <p:to>
                                        <p:strVal val="visible"/>
                                      </p:to>
                                    </p:set>
                                    <p:animEffect transition="in" filter="fade">
                                      <p:cBhvr>
                                        <p:cTn id="173" dur="500"/>
                                        <p:tgtEl>
                                          <p:spTgt spid="58"/>
                                        </p:tgtEl>
                                      </p:cBhvr>
                                    </p:animEffect>
                                  </p:childTnLst>
                                </p:cTn>
                              </p:par>
                            </p:childTnLst>
                          </p:cTn>
                        </p:par>
                        <p:par>
                          <p:cTn id="174" fill="hold">
                            <p:stCondLst>
                              <p:cond delay="1750"/>
                            </p:stCondLst>
                            <p:childTnLst>
                              <p:par>
                                <p:cTn id="175" presetID="10" presetClass="entr" presetSubtype="0" fill="hold" grpId="0" nodeType="afterEffect">
                                  <p:stCondLst>
                                    <p:cond delay="0"/>
                                  </p:stCondLst>
                                  <p:childTnLst>
                                    <p:set>
                                      <p:cBhvr>
                                        <p:cTn id="176" dur="1" fill="hold">
                                          <p:stCondLst>
                                            <p:cond delay="0"/>
                                          </p:stCondLst>
                                        </p:cTn>
                                        <p:tgtEl>
                                          <p:spTgt spid="59"/>
                                        </p:tgtEl>
                                        <p:attrNameLst>
                                          <p:attrName>style.visibility</p:attrName>
                                        </p:attrNameLst>
                                      </p:cBhvr>
                                      <p:to>
                                        <p:strVal val="visible"/>
                                      </p:to>
                                    </p:set>
                                    <p:animEffect transition="in" filter="fade">
                                      <p:cBhvr>
                                        <p:cTn id="177" dur="500"/>
                                        <p:tgtEl>
                                          <p:spTgt spid="59"/>
                                        </p:tgtEl>
                                      </p:cBhvr>
                                    </p:animEffect>
                                  </p:childTnLst>
                                </p:cTn>
                              </p:par>
                              <p:par>
                                <p:cTn id="178" presetID="10" presetClass="entr" presetSubtype="0" fill="hold" grpId="0" nodeType="withEffect">
                                  <p:stCondLst>
                                    <p:cond delay="0"/>
                                  </p:stCondLst>
                                  <p:childTnLst>
                                    <p:set>
                                      <p:cBhvr>
                                        <p:cTn id="179" dur="1" fill="hold">
                                          <p:stCondLst>
                                            <p:cond delay="0"/>
                                          </p:stCondLst>
                                        </p:cTn>
                                        <p:tgtEl>
                                          <p:spTgt spid="60"/>
                                        </p:tgtEl>
                                        <p:attrNameLst>
                                          <p:attrName>style.visibility</p:attrName>
                                        </p:attrNameLst>
                                      </p:cBhvr>
                                      <p:to>
                                        <p:strVal val="visible"/>
                                      </p:to>
                                    </p:set>
                                    <p:animEffect transition="in" filter="fade">
                                      <p:cBhvr>
                                        <p:cTn id="180" dur="500"/>
                                        <p:tgtEl>
                                          <p:spTgt spid="60"/>
                                        </p:tgtEl>
                                      </p:cBhvr>
                                    </p:animEffect>
                                  </p:childTnLst>
                                </p:cTn>
                              </p:par>
                              <p:par>
                                <p:cTn id="181" presetID="10" presetClass="entr" presetSubtype="0" fill="hold" grpId="0" nodeType="withEffect">
                                  <p:stCondLst>
                                    <p:cond delay="0"/>
                                  </p:stCondLst>
                                  <p:childTnLst>
                                    <p:set>
                                      <p:cBhvr>
                                        <p:cTn id="182" dur="1" fill="hold">
                                          <p:stCondLst>
                                            <p:cond delay="0"/>
                                          </p:stCondLst>
                                        </p:cTn>
                                        <p:tgtEl>
                                          <p:spTgt spid="61"/>
                                        </p:tgtEl>
                                        <p:attrNameLst>
                                          <p:attrName>style.visibility</p:attrName>
                                        </p:attrNameLst>
                                      </p:cBhvr>
                                      <p:to>
                                        <p:strVal val="visible"/>
                                      </p:to>
                                    </p:set>
                                    <p:animEffect transition="in" filter="fade">
                                      <p:cBhvr>
                                        <p:cTn id="183" dur="500"/>
                                        <p:tgtEl>
                                          <p:spTgt spid="61"/>
                                        </p:tgtEl>
                                      </p:cBhvr>
                                    </p:animEffect>
                                  </p:childTnLst>
                                </p:cTn>
                              </p:par>
                              <p:par>
                                <p:cTn id="184" presetID="10" presetClass="entr" presetSubtype="0" fill="hold" grpId="0" nodeType="withEffect">
                                  <p:stCondLst>
                                    <p:cond delay="0"/>
                                  </p:stCondLst>
                                  <p:childTnLst>
                                    <p:set>
                                      <p:cBhvr>
                                        <p:cTn id="185" dur="1" fill="hold">
                                          <p:stCondLst>
                                            <p:cond delay="0"/>
                                          </p:stCondLst>
                                        </p:cTn>
                                        <p:tgtEl>
                                          <p:spTgt spid="62"/>
                                        </p:tgtEl>
                                        <p:attrNameLst>
                                          <p:attrName>style.visibility</p:attrName>
                                        </p:attrNameLst>
                                      </p:cBhvr>
                                      <p:to>
                                        <p:strVal val="visible"/>
                                      </p:to>
                                    </p:set>
                                    <p:animEffect transition="in" filter="fade">
                                      <p:cBhvr>
                                        <p:cTn id="186" dur="500"/>
                                        <p:tgtEl>
                                          <p:spTgt spid="62"/>
                                        </p:tgtEl>
                                      </p:cBhvr>
                                    </p:animEffect>
                                  </p:childTnLst>
                                </p:cTn>
                              </p:par>
                              <p:par>
                                <p:cTn id="187" presetID="10" presetClass="entr" presetSubtype="0" fill="hold" grpId="0" nodeType="withEffect">
                                  <p:stCondLst>
                                    <p:cond delay="0"/>
                                  </p:stCondLst>
                                  <p:childTnLst>
                                    <p:set>
                                      <p:cBhvr>
                                        <p:cTn id="188" dur="1" fill="hold">
                                          <p:stCondLst>
                                            <p:cond delay="0"/>
                                          </p:stCondLst>
                                        </p:cTn>
                                        <p:tgtEl>
                                          <p:spTgt spid="63"/>
                                        </p:tgtEl>
                                        <p:attrNameLst>
                                          <p:attrName>style.visibility</p:attrName>
                                        </p:attrNameLst>
                                      </p:cBhvr>
                                      <p:to>
                                        <p:strVal val="visible"/>
                                      </p:to>
                                    </p:set>
                                    <p:animEffect transition="in" filter="fade">
                                      <p:cBhvr>
                                        <p:cTn id="189" dur="500"/>
                                        <p:tgtEl>
                                          <p:spTgt spid="63"/>
                                        </p:tgtEl>
                                      </p:cBhvr>
                                    </p:animEffect>
                                  </p:childTnLst>
                                </p:cTn>
                              </p:par>
                              <p:par>
                                <p:cTn id="190" presetID="10" presetClass="entr" presetSubtype="0" fill="hold" grpId="0" nodeType="withEffect">
                                  <p:stCondLst>
                                    <p:cond delay="0"/>
                                  </p:stCondLst>
                                  <p:childTnLst>
                                    <p:set>
                                      <p:cBhvr>
                                        <p:cTn id="191" dur="1" fill="hold">
                                          <p:stCondLst>
                                            <p:cond delay="0"/>
                                          </p:stCondLst>
                                        </p:cTn>
                                        <p:tgtEl>
                                          <p:spTgt spid="64"/>
                                        </p:tgtEl>
                                        <p:attrNameLst>
                                          <p:attrName>style.visibility</p:attrName>
                                        </p:attrNameLst>
                                      </p:cBhvr>
                                      <p:to>
                                        <p:strVal val="visible"/>
                                      </p:to>
                                    </p:set>
                                    <p:animEffect transition="in" filter="fade">
                                      <p:cBhvr>
                                        <p:cTn id="192" dur="500"/>
                                        <p:tgtEl>
                                          <p:spTgt spid="64"/>
                                        </p:tgtEl>
                                      </p:cBhvr>
                                    </p:animEffect>
                                  </p:childTnLst>
                                </p:cTn>
                              </p:par>
                              <p:par>
                                <p:cTn id="193" presetID="10" presetClass="entr" presetSubtype="0" fill="hold" grpId="0" nodeType="withEffect">
                                  <p:stCondLst>
                                    <p:cond delay="0"/>
                                  </p:stCondLst>
                                  <p:childTnLst>
                                    <p:set>
                                      <p:cBhvr>
                                        <p:cTn id="194" dur="1" fill="hold">
                                          <p:stCondLst>
                                            <p:cond delay="0"/>
                                          </p:stCondLst>
                                        </p:cTn>
                                        <p:tgtEl>
                                          <p:spTgt spid="65"/>
                                        </p:tgtEl>
                                        <p:attrNameLst>
                                          <p:attrName>style.visibility</p:attrName>
                                        </p:attrNameLst>
                                      </p:cBhvr>
                                      <p:to>
                                        <p:strVal val="visible"/>
                                      </p:to>
                                    </p:set>
                                    <p:animEffect transition="in" filter="fade">
                                      <p:cBhvr>
                                        <p:cTn id="195" dur="500"/>
                                        <p:tgtEl>
                                          <p:spTgt spid="65"/>
                                        </p:tgtEl>
                                      </p:cBhvr>
                                    </p:animEffect>
                                  </p:childTnLst>
                                </p:cTn>
                              </p:par>
                              <p:par>
                                <p:cTn id="196" presetID="10" presetClass="entr" presetSubtype="0" fill="hold" grpId="0" nodeType="withEffect">
                                  <p:stCondLst>
                                    <p:cond delay="0"/>
                                  </p:stCondLst>
                                  <p:childTnLst>
                                    <p:set>
                                      <p:cBhvr>
                                        <p:cTn id="197" dur="1" fill="hold">
                                          <p:stCondLst>
                                            <p:cond delay="0"/>
                                          </p:stCondLst>
                                        </p:cTn>
                                        <p:tgtEl>
                                          <p:spTgt spid="66"/>
                                        </p:tgtEl>
                                        <p:attrNameLst>
                                          <p:attrName>style.visibility</p:attrName>
                                        </p:attrNameLst>
                                      </p:cBhvr>
                                      <p:to>
                                        <p:strVal val="visible"/>
                                      </p:to>
                                    </p:set>
                                    <p:animEffect transition="in" filter="fade">
                                      <p:cBhvr>
                                        <p:cTn id="198" dur="500"/>
                                        <p:tgtEl>
                                          <p:spTgt spid="66"/>
                                        </p:tgtEl>
                                      </p:cBhvr>
                                    </p:animEffect>
                                  </p:childTnLst>
                                </p:cTn>
                              </p:par>
                            </p:childTnLst>
                          </p:cTn>
                        </p:par>
                        <p:par>
                          <p:cTn id="199" fill="hold">
                            <p:stCondLst>
                              <p:cond delay="2100"/>
                            </p:stCondLst>
                            <p:childTnLst>
                              <p:par>
                                <p:cTn id="200" presetID="10" presetClass="entr" presetSubtype="0" fill="hold" grpId="0" nodeType="afterEffect">
                                  <p:stCondLst>
                                    <p:cond delay="0"/>
                                  </p:stCondLst>
                                  <p:childTnLst>
                                    <p:set>
                                      <p:cBhvr>
                                        <p:cTn id="201" dur="1" fill="hold">
                                          <p:stCondLst>
                                            <p:cond delay="0"/>
                                          </p:stCondLst>
                                        </p:cTn>
                                        <p:tgtEl>
                                          <p:spTgt spid="67"/>
                                        </p:tgtEl>
                                        <p:attrNameLst>
                                          <p:attrName>style.visibility</p:attrName>
                                        </p:attrNameLst>
                                      </p:cBhvr>
                                      <p:to>
                                        <p:strVal val="visible"/>
                                      </p:to>
                                    </p:set>
                                    <p:animEffect transition="in" filter="fade">
                                      <p:cBhvr>
                                        <p:cTn id="202" dur="500"/>
                                        <p:tgtEl>
                                          <p:spTgt spid="67"/>
                                        </p:tgtEl>
                                      </p:cBhvr>
                                    </p:animEffect>
                                  </p:childTnLst>
                                </p:cTn>
                              </p:par>
                              <p:par>
                                <p:cTn id="203" presetID="10" presetClass="entr" presetSubtype="0" fill="hold" grpId="0" nodeType="withEffect">
                                  <p:stCondLst>
                                    <p:cond delay="0"/>
                                  </p:stCondLst>
                                  <p:childTnLst>
                                    <p:set>
                                      <p:cBhvr>
                                        <p:cTn id="204" dur="1" fill="hold">
                                          <p:stCondLst>
                                            <p:cond delay="0"/>
                                          </p:stCondLst>
                                        </p:cTn>
                                        <p:tgtEl>
                                          <p:spTgt spid="68"/>
                                        </p:tgtEl>
                                        <p:attrNameLst>
                                          <p:attrName>style.visibility</p:attrName>
                                        </p:attrNameLst>
                                      </p:cBhvr>
                                      <p:to>
                                        <p:strVal val="visible"/>
                                      </p:to>
                                    </p:set>
                                    <p:animEffect transition="in" filter="fade">
                                      <p:cBhvr>
                                        <p:cTn id="205" dur="500"/>
                                        <p:tgtEl>
                                          <p:spTgt spid="68"/>
                                        </p:tgtEl>
                                      </p:cBhvr>
                                    </p:animEffect>
                                  </p:childTnLst>
                                </p:cTn>
                              </p:par>
                              <p:par>
                                <p:cTn id="206" presetID="10" presetClass="entr" presetSubtype="0" fill="hold" grpId="0" nodeType="withEffect">
                                  <p:stCondLst>
                                    <p:cond delay="0"/>
                                  </p:stCondLst>
                                  <p:childTnLst>
                                    <p:set>
                                      <p:cBhvr>
                                        <p:cTn id="207" dur="1" fill="hold">
                                          <p:stCondLst>
                                            <p:cond delay="0"/>
                                          </p:stCondLst>
                                        </p:cTn>
                                        <p:tgtEl>
                                          <p:spTgt spid="69"/>
                                        </p:tgtEl>
                                        <p:attrNameLst>
                                          <p:attrName>style.visibility</p:attrName>
                                        </p:attrNameLst>
                                      </p:cBhvr>
                                      <p:to>
                                        <p:strVal val="visible"/>
                                      </p:to>
                                    </p:set>
                                    <p:animEffect transition="in" filter="fade">
                                      <p:cBhvr>
                                        <p:cTn id="208" dur="500"/>
                                        <p:tgtEl>
                                          <p:spTgt spid="69"/>
                                        </p:tgtEl>
                                      </p:cBhvr>
                                    </p:animEffect>
                                  </p:childTnLst>
                                </p:cTn>
                              </p:par>
                              <p:par>
                                <p:cTn id="209" presetID="10" presetClass="entr" presetSubtype="0" fill="hold" grpId="0" nodeType="withEffect">
                                  <p:stCondLst>
                                    <p:cond delay="0"/>
                                  </p:stCondLst>
                                  <p:childTnLst>
                                    <p:set>
                                      <p:cBhvr>
                                        <p:cTn id="210" dur="1" fill="hold">
                                          <p:stCondLst>
                                            <p:cond delay="0"/>
                                          </p:stCondLst>
                                        </p:cTn>
                                        <p:tgtEl>
                                          <p:spTgt spid="70"/>
                                        </p:tgtEl>
                                        <p:attrNameLst>
                                          <p:attrName>style.visibility</p:attrName>
                                        </p:attrNameLst>
                                      </p:cBhvr>
                                      <p:to>
                                        <p:strVal val="visible"/>
                                      </p:to>
                                    </p:set>
                                    <p:animEffect transition="in" filter="fade">
                                      <p:cBhvr>
                                        <p:cTn id="211" dur="500"/>
                                        <p:tgtEl>
                                          <p:spTgt spid="70"/>
                                        </p:tgtEl>
                                      </p:cBhvr>
                                    </p:animEffect>
                                  </p:childTnLst>
                                </p:cTn>
                              </p:par>
                              <p:par>
                                <p:cTn id="212" presetID="10" presetClass="entr" presetSubtype="0" fill="hold" grpId="0" nodeType="withEffect">
                                  <p:stCondLst>
                                    <p:cond delay="0"/>
                                  </p:stCondLst>
                                  <p:childTnLst>
                                    <p:set>
                                      <p:cBhvr>
                                        <p:cTn id="213" dur="1" fill="hold">
                                          <p:stCondLst>
                                            <p:cond delay="0"/>
                                          </p:stCondLst>
                                        </p:cTn>
                                        <p:tgtEl>
                                          <p:spTgt spid="71"/>
                                        </p:tgtEl>
                                        <p:attrNameLst>
                                          <p:attrName>style.visibility</p:attrName>
                                        </p:attrNameLst>
                                      </p:cBhvr>
                                      <p:to>
                                        <p:strVal val="visible"/>
                                      </p:to>
                                    </p:set>
                                    <p:animEffect transition="in" filter="fade">
                                      <p:cBhvr>
                                        <p:cTn id="214" dur="500"/>
                                        <p:tgtEl>
                                          <p:spTgt spid="71"/>
                                        </p:tgtEl>
                                      </p:cBhvr>
                                    </p:animEffect>
                                  </p:childTnLst>
                                </p:cTn>
                              </p:par>
                              <p:par>
                                <p:cTn id="215" presetID="10" presetClass="entr" presetSubtype="0" fill="hold" grpId="0" nodeType="withEffect">
                                  <p:stCondLst>
                                    <p:cond delay="0"/>
                                  </p:stCondLst>
                                  <p:childTnLst>
                                    <p:set>
                                      <p:cBhvr>
                                        <p:cTn id="216" dur="1" fill="hold">
                                          <p:stCondLst>
                                            <p:cond delay="0"/>
                                          </p:stCondLst>
                                        </p:cTn>
                                        <p:tgtEl>
                                          <p:spTgt spid="72"/>
                                        </p:tgtEl>
                                        <p:attrNameLst>
                                          <p:attrName>style.visibility</p:attrName>
                                        </p:attrNameLst>
                                      </p:cBhvr>
                                      <p:to>
                                        <p:strVal val="visible"/>
                                      </p:to>
                                    </p:set>
                                    <p:animEffect transition="in" filter="fade">
                                      <p:cBhvr>
                                        <p:cTn id="217" dur="500"/>
                                        <p:tgtEl>
                                          <p:spTgt spid="72"/>
                                        </p:tgtEl>
                                      </p:cBhvr>
                                    </p:animEffect>
                                  </p:childTnLst>
                                </p:cTn>
                              </p:par>
                              <p:par>
                                <p:cTn id="218" presetID="10" presetClass="entr" presetSubtype="0" fill="hold" grpId="0" nodeType="withEffect">
                                  <p:stCondLst>
                                    <p:cond delay="0"/>
                                  </p:stCondLst>
                                  <p:childTnLst>
                                    <p:set>
                                      <p:cBhvr>
                                        <p:cTn id="219" dur="1" fill="hold">
                                          <p:stCondLst>
                                            <p:cond delay="0"/>
                                          </p:stCondLst>
                                        </p:cTn>
                                        <p:tgtEl>
                                          <p:spTgt spid="73"/>
                                        </p:tgtEl>
                                        <p:attrNameLst>
                                          <p:attrName>style.visibility</p:attrName>
                                        </p:attrNameLst>
                                      </p:cBhvr>
                                      <p:to>
                                        <p:strVal val="visible"/>
                                      </p:to>
                                    </p:set>
                                    <p:animEffect transition="in" filter="fade">
                                      <p:cBhvr>
                                        <p:cTn id="220" dur="500"/>
                                        <p:tgtEl>
                                          <p:spTgt spid="73"/>
                                        </p:tgtEl>
                                      </p:cBhvr>
                                    </p:animEffect>
                                  </p:childTnLst>
                                </p:cTn>
                              </p:par>
                              <p:par>
                                <p:cTn id="221" presetID="10" presetClass="entr" presetSubtype="0" fill="hold" grpId="0" nodeType="withEffect">
                                  <p:stCondLst>
                                    <p:cond delay="0"/>
                                  </p:stCondLst>
                                  <p:childTnLst>
                                    <p:set>
                                      <p:cBhvr>
                                        <p:cTn id="222" dur="1" fill="hold">
                                          <p:stCondLst>
                                            <p:cond delay="0"/>
                                          </p:stCondLst>
                                        </p:cTn>
                                        <p:tgtEl>
                                          <p:spTgt spid="74"/>
                                        </p:tgtEl>
                                        <p:attrNameLst>
                                          <p:attrName>style.visibility</p:attrName>
                                        </p:attrNameLst>
                                      </p:cBhvr>
                                      <p:to>
                                        <p:strVal val="visible"/>
                                      </p:to>
                                    </p:set>
                                    <p:animEffect transition="in" filter="fade">
                                      <p:cBhvr>
                                        <p:cTn id="223" dur="500"/>
                                        <p:tgtEl>
                                          <p:spTgt spid="74"/>
                                        </p:tgtEl>
                                      </p:cBhvr>
                                    </p:animEffect>
                                  </p:childTnLst>
                                </p:cTn>
                              </p:par>
                              <p:par>
                                <p:cTn id="224" presetID="10" presetClass="entr" presetSubtype="0" fill="hold" grpId="0" nodeType="withEffect">
                                  <p:stCondLst>
                                    <p:cond delay="0"/>
                                  </p:stCondLst>
                                  <p:childTnLst>
                                    <p:set>
                                      <p:cBhvr>
                                        <p:cTn id="225" dur="1" fill="hold">
                                          <p:stCondLst>
                                            <p:cond delay="0"/>
                                          </p:stCondLst>
                                        </p:cTn>
                                        <p:tgtEl>
                                          <p:spTgt spid="75"/>
                                        </p:tgtEl>
                                        <p:attrNameLst>
                                          <p:attrName>style.visibility</p:attrName>
                                        </p:attrNameLst>
                                      </p:cBhvr>
                                      <p:to>
                                        <p:strVal val="visible"/>
                                      </p:to>
                                    </p:set>
                                    <p:animEffect transition="in" filter="fade">
                                      <p:cBhvr>
                                        <p:cTn id="226" dur="500"/>
                                        <p:tgtEl>
                                          <p:spTgt spid="75"/>
                                        </p:tgtEl>
                                      </p:cBhvr>
                                    </p:animEffect>
                                  </p:childTnLst>
                                </p:cTn>
                              </p:par>
                              <p:par>
                                <p:cTn id="227" presetID="10" presetClass="entr" presetSubtype="0" fill="hold" grpId="0" nodeType="withEffect">
                                  <p:stCondLst>
                                    <p:cond delay="0"/>
                                  </p:stCondLst>
                                  <p:childTnLst>
                                    <p:set>
                                      <p:cBhvr>
                                        <p:cTn id="228" dur="1" fill="hold">
                                          <p:stCondLst>
                                            <p:cond delay="0"/>
                                          </p:stCondLst>
                                        </p:cTn>
                                        <p:tgtEl>
                                          <p:spTgt spid="76"/>
                                        </p:tgtEl>
                                        <p:attrNameLst>
                                          <p:attrName>style.visibility</p:attrName>
                                        </p:attrNameLst>
                                      </p:cBhvr>
                                      <p:to>
                                        <p:strVal val="visible"/>
                                      </p:to>
                                    </p:set>
                                    <p:animEffect transition="in" filter="fade">
                                      <p:cBhvr>
                                        <p:cTn id="229" dur="500"/>
                                        <p:tgtEl>
                                          <p:spTgt spid="76"/>
                                        </p:tgtEl>
                                      </p:cBhvr>
                                    </p:animEffect>
                                  </p:childTnLst>
                                </p:cTn>
                              </p:par>
                              <p:par>
                                <p:cTn id="230" presetID="10" presetClass="entr" presetSubtype="0" fill="hold" grpId="0" nodeType="withEffect">
                                  <p:stCondLst>
                                    <p:cond delay="0"/>
                                  </p:stCondLst>
                                  <p:childTnLst>
                                    <p:set>
                                      <p:cBhvr>
                                        <p:cTn id="231" dur="1" fill="hold">
                                          <p:stCondLst>
                                            <p:cond delay="0"/>
                                          </p:stCondLst>
                                        </p:cTn>
                                        <p:tgtEl>
                                          <p:spTgt spid="77"/>
                                        </p:tgtEl>
                                        <p:attrNameLst>
                                          <p:attrName>style.visibility</p:attrName>
                                        </p:attrNameLst>
                                      </p:cBhvr>
                                      <p:to>
                                        <p:strVal val="visible"/>
                                      </p:to>
                                    </p:set>
                                    <p:animEffect transition="in" filter="fade">
                                      <p:cBhvr>
                                        <p:cTn id="232" dur="500"/>
                                        <p:tgtEl>
                                          <p:spTgt spid="77"/>
                                        </p:tgtEl>
                                      </p:cBhvr>
                                    </p:animEffect>
                                  </p:childTnLst>
                                </p:cTn>
                              </p:par>
                              <p:par>
                                <p:cTn id="233" presetID="10" presetClass="entr" presetSubtype="0" fill="hold" grpId="0" nodeType="withEffect">
                                  <p:stCondLst>
                                    <p:cond delay="0"/>
                                  </p:stCondLst>
                                  <p:childTnLst>
                                    <p:set>
                                      <p:cBhvr>
                                        <p:cTn id="234" dur="1" fill="hold">
                                          <p:stCondLst>
                                            <p:cond delay="0"/>
                                          </p:stCondLst>
                                        </p:cTn>
                                        <p:tgtEl>
                                          <p:spTgt spid="78"/>
                                        </p:tgtEl>
                                        <p:attrNameLst>
                                          <p:attrName>style.visibility</p:attrName>
                                        </p:attrNameLst>
                                      </p:cBhvr>
                                      <p:to>
                                        <p:strVal val="visible"/>
                                      </p:to>
                                    </p:set>
                                    <p:animEffect transition="in" filter="fade">
                                      <p:cBhvr>
                                        <p:cTn id="235" dur="500"/>
                                        <p:tgtEl>
                                          <p:spTgt spid="78"/>
                                        </p:tgtEl>
                                      </p:cBhvr>
                                    </p:animEffect>
                                  </p:childTnLst>
                                </p:cTn>
                              </p:par>
                              <p:par>
                                <p:cTn id="236" presetID="10" presetClass="entr" presetSubtype="0" fill="hold" grpId="0" nodeType="withEffect">
                                  <p:stCondLst>
                                    <p:cond delay="0"/>
                                  </p:stCondLst>
                                  <p:childTnLst>
                                    <p:set>
                                      <p:cBhvr>
                                        <p:cTn id="237" dur="1" fill="hold">
                                          <p:stCondLst>
                                            <p:cond delay="0"/>
                                          </p:stCondLst>
                                        </p:cTn>
                                        <p:tgtEl>
                                          <p:spTgt spid="79"/>
                                        </p:tgtEl>
                                        <p:attrNameLst>
                                          <p:attrName>style.visibility</p:attrName>
                                        </p:attrNameLst>
                                      </p:cBhvr>
                                      <p:to>
                                        <p:strVal val="visible"/>
                                      </p:to>
                                    </p:set>
                                    <p:animEffect transition="in" filter="fade">
                                      <p:cBhvr>
                                        <p:cTn id="238" dur="500"/>
                                        <p:tgtEl>
                                          <p:spTgt spid="79"/>
                                        </p:tgtEl>
                                      </p:cBhvr>
                                    </p:animEffect>
                                  </p:childTnLst>
                                </p:cTn>
                              </p:par>
                              <p:par>
                                <p:cTn id="239" presetID="10" presetClass="entr" presetSubtype="0" fill="hold" grpId="0" nodeType="withEffect">
                                  <p:stCondLst>
                                    <p:cond delay="0"/>
                                  </p:stCondLst>
                                  <p:childTnLst>
                                    <p:set>
                                      <p:cBhvr>
                                        <p:cTn id="240" dur="1" fill="hold">
                                          <p:stCondLst>
                                            <p:cond delay="0"/>
                                          </p:stCondLst>
                                        </p:cTn>
                                        <p:tgtEl>
                                          <p:spTgt spid="80"/>
                                        </p:tgtEl>
                                        <p:attrNameLst>
                                          <p:attrName>style.visibility</p:attrName>
                                        </p:attrNameLst>
                                      </p:cBhvr>
                                      <p:to>
                                        <p:strVal val="visible"/>
                                      </p:to>
                                    </p:set>
                                    <p:animEffect transition="in" filter="fade">
                                      <p:cBhvr>
                                        <p:cTn id="241" dur="500"/>
                                        <p:tgtEl>
                                          <p:spTgt spid="8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P spid="53" grpId="0" animBg="1"/>
      <p:bldP spid="54" grpId="0" animBg="1"/>
      <p:bldP spid="55" grpId="0" animBg="1"/>
      <p:bldP spid="56" grpId="0" animBg="1"/>
      <p:bldP spid="57" grpId="0" animBg="1"/>
      <p:bldP spid="58" grpId="0" animBg="1"/>
      <p:bldP spid="59" grpId="0" animBg="1"/>
      <p:bldP spid="60" grpId="0" animBg="1"/>
      <p:bldP spid="61" grpId="0" animBg="1"/>
      <p:bldP spid="62" grpId="0" animBg="1"/>
      <p:bldP spid="63" grpId="0" animBg="1"/>
      <p:bldP spid="64" grpId="0" animBg="1"/>
      <p:bldP spid="65" grpId="0" animBg="1"/>
      <p:bldP spid="66" grpId="0" animBg="1"/>
      <p:bldP spid="67" grpId="0" animBg="1"/>
      <p:bldP spid="68" grpId="0" animBg="1"/>
      <p:bldP spid="69" grpId="0" animBg="1"/>
      <p:bldP spid="70" grpId="0" animBg="1"/>
      <p:bldP spid="71" grpId="0" animBg="1"/>
      <p:bldP spid="72" grpId="0" animBg="1"/>
      <p:bldP spid="73" grpId="0" animBg="1"/>
      <p:bldP spid="74" grpId="0" animBg="1"/>
      <p:bldP spid="75" grpId="0" animBg="1"/>
      <p:bldP spid="76" grpId="0" animBg="1"/>
      <p:bldP spid="77" grpId="0" animBg="1"/>
      <p:bldP spid="78" grpId="0" animBg="1"/>
      <p:bldP spid="79" grpId="0" animBg="1"/>
      <p:bldP spid="8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rgbClr val="1B2333"/>
                </a:solidFill>
                <a:latin typeface="Cambria" pitchFamily="34" charset="0"/>
                <a:ea typeface="Cambria" pitchFamily="34" charset="-122"/>
                <a:cs typeface="Cambria" pitchFamily="34" charset="-120"/>
              </a:rPr>
              <a:t>Objectif J2 : des règles au-delà de 0,5</a:t>
            </a:r>
            <a:endParaRPr lang="en-US" sz="3400" dirty="0"/>
          </a:p>
        </p:txBody>
      </p:sp>
      <p:sp>
        <p:nvSpPr>
          <p:cNvPr id="3" name="page"/>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100" dirty="0">
                <a:solidFill>
                  <a:srgbClr val="5B6577"/>
                </a:solidFill>
                <a:latin typeface="Calibri" pitchFamily="34" charset="0"/>
                <a:ea typeface="Calibri" pitchFamily="34" charset="-122"/>
                <a:cs typeface="Calibri" pitchFamily="34" charset="-120"/>
              </a:rPr>
              <a:t>8</a:t>
            </a:r>
            <a:endParaRPr lang="en-US" sz="1100" dirty="0"/>
          </a:p>
        </p:txBody>
      </p:sp>
      <p:sp>
        <p:nvSpPr>
          <p:cNvPr id="4" name="a1_d"/>
          <p:cNvSpPr/>
          <p:nvPr/>
        </p:nvSpPr>
        <p:spPr>
          <a:xfrm>
            <a:off x="838733" y="2438933"/>
            <a:ext cx="1248613" cy="1248613"/>
          </a:xfrm>
          <a:prstGeom prst="ellipse">
            <a:avLst/>
          </a:prstGeom>
          <a:solidFill>
            <a:srgbClr val="9AA7BD"/>
          </a:solidFill>
          <a:ln w="25400">
            <a:solidFill>
              <a:srgbClr val="FFFFFF"/>
            </a:solidFill>
            <a:prstDash val="solid"/>
          </a:ln>
        </p:spPr>
      </p:sp>
      <p:sp>
        <p:nvSpPr>
          <p:cNvPr id="5" name="a1_v"/>
          <p:cNvSpPr txBox="1"/>
          <p:nvPr/>
        </p:nvSpPr>
        <p:spPr>
          <a:xfrm>
            <a:off x="365760" y="2697480"/>
            <a:ext cx="2194560" cy="73152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0,005</a:t>
            </a:r>
            <a:endParaRPr lang="en-US" sz="2600" dirty="0"/>
          </a:p>
        </p:txBody>
      </p:sp>
      <p:sp>
        <p:nvSpPr>
          <p:cNvPr id="6" name="a1_s"/>
          <p:cNvSpPr txBox="1"/>
          <p:nvPr/>
        </p:nvSpPr>
        <p:spPr>
          <a:xfrm>
            <a:off x="182880" y="4800600"/>
            <a:ext cx="2560320" cy="731520"/>
          </a:xfrm>
          <a:prstGeom prst="rect">
            <a:avLst/>
          </a:prstGeom>
          <a:noFill/>
          <a:ln/>
        </p:spPr>
        <p:txBody>
          <a:bodyPr wrap="square" lIns="0" tIns="0" rIns="0" bIns="0" rtlCol="0" anchor="ctr"/>
          <a:lstStyle/>
          <a:p>
            <a:pPr algn="ctr" indent="0" marL="0">
              <a:buNone/>
            </a:pPr>
            <a:r>
              <a:rPr lang="en-US" sz="1600" dirty="0">
                <a:solidFill>
                  <a:srgbClr val="1B2333"/>
                </a:solidFill>
                <a:latin typeface="Calibri" pitchFamily="34" charset="0"/>
                <a:ea typeface="Calibri" pitchFamily="34" charset="-122"/>
                <a:cs typeface="Calibri" pitchFamily="34" charset="-120"/>
              </a:rPr>
              <a:t>Détecteurs d'origine</a:t>
            </a:r>
            <a:endParaRPr lang="en-US" sz="1600" dirty="0"/>
          </a:p>
        </p:txBody>
      </p:sp>
      <p:sp>
        <p:nvSpPr>
          <p:cNvPr id="7" name="a1_arr"/>
          <p:cNvSpPr txBox="1"/>
          <p:nvPr/>
        </p:nvSpPr>
        <p:spPr>
          <a:xfrm>
            <a:off x="2377440" y="2788920"/>
            <a:ext cx="1097280" cy="548640"/>
          </a:xfrm>
          <a:prstGeom prst="rect">
            <a:avLst/>
          </a:prstGeom>
          <a:noFill/>
          <a:ln/>
        </p:spPr>
        <p:txBody>
          <a:bodyPr wrap="square" lIns="0" tIns="0" rIns="0" bIns="0" rtlCol="0" anchor="ctr"/>
          <a:lstStyle/>
          <a:p>
            <a:pPr algn="ctr" indent="0" marL="0">
              <a:buNone/>
            </a:pPr>
            <a:r>
              <a:rPr lang="en-US" sz="2800" dirty="0">
                <a:solidFill>
                  <a:srgbClr val="5B6577"/>
                </a:solidFill>
                <a:latin typeface="Calibri" pitchFamily="34" charset="0"/>
                <a:ea typeface="Calibri" pitchFamily="34" charset="-122"/>
                <a:cs typeface="Calibri" pitchFamily="34" charset="-120"/>
              </a:rPr>
              <a:t>➜</a:t>
            </a:r>
            <a:endParaRPr lang="en-US" sz="2800" dirty="0"/>
          </a:p>
        </p:txBody>
      </p:sp>
      <p:sp>
        <p:nvSpPr>
          <p:cNvPr id="8" name="a2_d"/>
          <p:cNvSpPr/>
          <p:nvPr/>
        </p:nvSpPr>
        <p:spPr>
          <a:xfrm>
            <a:off x="3244291" y="1964131"/>
            <a:ext cx="2198218" cy="2198218"/>
          </a:xfrm>
          <a:prstGeom prst="ellipse">
            <a:avLst/>
          </a:prstGeom>
          <a:solidFill>
            <a:srgbClr val="4C9BE8"/>
          </a:solidFill>
          <a:ln w="25400">
            <a:solidFill>
              <a:srgbClr val="FFFFFF"/>
            </a:solidFill>
            <a:prstDash val="solid"/>
          </a:ln>
        </p:spPr>
      </p:sp>
      <p:sp>
        <p:nvSpPr>
          <p:cNvPr id="9" name="a2_v"/>
          <p:cNvSpPr txBox="1"/>
          <p:nvPr/>
        </p:nvSpPr>
        <p:spPr>
          <a:xfrm>
            <a:off x="3246120" y="2697480"/>
            <a:ext cx="2194560" cy="73152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0,340</a:t>
            </a:r>
            <a:endParaRPr lang="en-US" sz="2600" dirty="0"/>
          </a:p>
        </p:txBody>
      </p:sp>
      <p:sp>
        <p:nvSpPr>
          <p:cNvPr id="10" name="a2_s"/>
          <p:cNvSpPr txBox="1"/>
          <p:nvPr/>
        </p:nvSpPr>
        <p:spPr>
          <a:xfrm>
            <a:off x="3063240" y="4800600"/>
            <a:ext cx="2560320" cy="731520"/>
          </a:xfrm>
          <a:prstGeom prst="rect">
            <a:avLst/>
          </a:prstGeom>
          <a:noFill/>
          <a:ln/>
        </p:spPr>
        <p:txBody>
          <a:bodyPr wrap="square" lIns="0" tIns="0" rIns="0" bIns="0" rtlCol="0" anchor="ctr"/>
          <a:lstStyle/>
          <a:p>
            <a:pPr algn="ctr" indent="0" marL="0">
              <a:buNone/>
            </a:pPr>
            <a:r>
              <a:rPr lang="en-US" sz="1600" dirty="0">
                <a:solidFill>
                  <a:srgbClr val="1B2333"/>
                </a:solidFill>
                <a:latin typeface="Calibri" pitchFamily="34" charset="0"/>
                <a:ea typeface="Calibri" pitchFamily="34" charset="-122"/>
                <a:cs typeface="Calibri" pitchFamily="34" charset="-120"/>
              </a:rPr>
              <a:t>Devises + contexte + ACH</a:t>
            </a:r>
            <a:endParaRPr lang="en-US" sz="1600" dirty="0"/>
          </a:p>
        </p:txBody>
      </p:sp>
      <p:sp>
        <p:nvSpPr>
          <p:cNvPr id="11" name="a2_arr"/>
          <p:cNvSpPr txBox="1"/>
          <p:nvPr/>
        </p:nvSpPr>
        <p:spPr>
          <a:xfrm>
            <a:off x="5257800" y="2788920"/>
            <a:ext cx="1097280" cy="548640"/>
          </a:xfrm>
          <a:prstGeom prst="rect">
            <a:avLst/>
          </a:prstGeom>
          <a:noFill/>
          <a:ln/>
        </p:spPr>
        <p:txBody>
          <a:bodyPr wrap="square" lIns="0" tIns="0" rIns="0" bIns="0" rtlCol="0" anchor="ctr"/>
          <a:lstStyle/>
          <a:p>
            <a:pPr algn="ctr" indent="0" marL="0">
              <a:buNone/>
            </a:pPr>
            <a:r>
              <a:rPr lang="en-US" sz="2800" dirty="0">
                <a:solidFill>
                  <a:srgbClr val="5B6577"/>
                </a:solidFill>
                <a:latin typeface="Calibri" pitchFamily="34" charset="0"/>
                <a:ea typeface="Calibri" pitchFamily="34" charset="-122"/>
                <a:cs typeface="Calibri" pitchFamily="34" charset="-120"/>
              </a:rPr>
              <a:t>➜</a:t>
            </a:r>
            <a:endParaRPr lang="en-US" sz="2800" dirty="0"/>
          </a:p>
        </p:txBody>
      </p:sp>
      <p:sp>
        <p:nvSpPr>
          <p:cNvPr id="12" name="a3_d"/>
          <p:cNvSpPr/>
          <p:nvPr/>
        </p:nvSpPr>
        <p:spPr>
          <a:xfrm>
            <a:off x="6041029" y="1880509"/>
            <a:ext cx="2365461" cy="2365461"/>
          </a:xfrm>
          <a:prstGeom prst="ellipse">
            <a:avLst/>
          </a:prstGeom>
          <a:solidFill>
            <a:srgbClr val="7B61FF"/>
          </a:solidFill>
          <a:ln w="25400">
            <a:solidFill>
              <a:srgbClr val="FFFFFF"/>
            </a:solidFill>
            <a:prstDash val="solid"/>
          </a:ln>
        </p:spPr>
      </p:sp>
      <p:sp>
        <p:nvSpPr>
          <p:cNvPr id="13" name="a3_v"/>
          <p:cNvSpPr txBox="1"/>
          <p:nvPr/>
        </p:nvSpPr>
        <p:spPr>
          <a:xfrm>
            <a:off x="6126480" y="2697480"/>
            <a:ext cx="2194560" cy="731520"/>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0,399</a:t>
            </a:r>
            <a:endParaRPr lang="en-US" sz="2600" dirty="0"/>
          </a:p>
        </p:txBody>
      </p:sp>
      <p:sp>
        <p:nvSpPr>
          <p:cNvPr id="14" name="a3_s"/>
          <p:cNvSpPr txBox="1"/>
          <p:nvPr/>
        </p:nvSpPr>
        <p:spPr>
          <a:xfrm>
            <a:off x="5943600" y="4800600"/>
            <a:ext cx="2560320" cy="731520"/>
          </a:xfrm>
          <a:prstGeom prst="rect">
            <a:avLst/>
          </a:prstGeom>
          <a:noFill/>
          <a:ln/>
        </p:spPr>
        <p:txBody>
          <a:bodyPr wrap="square" lIns="0" tIns="0" rIns="0" bIns="0" rtlCol="0" anchor="ctr"/>
          <a:lstStyle/>
          <a:p>
            <a:pPr algn="ctr" indent="0" marL="0">
              <a:buNone/>
            </a:pPr>
            <a:r>
              <a:rPr lang="en-US" sz="1600" dirty="0">
                <a:solidFill>
                  <a:srgbClr val="1B2333"/>
                </a:solidFill>
                <a:latin typeface="Calibri" pitchFamily="34" charset="0"/>
                <a:ea typeface="Calibri" pitchFamily="34" charset="-122"/>
                <a:cs typeface="Calibri" pitchFamily="34" charset="-120"/>
              </a:rPr>
              <a:t>Fans plus longs + exclusions</a:t>
            </a:r>
            <a:endParaRPr lang="en-US" sz="1600" dirty="0"/>
          </a:p>
        </p:txBody>
      </p:sp>
      <p:sp>
        <p:nvSpPr>
          <p:cNvPr id="15" name="a3_arr"/>
          <p:cNvSpPr txBox="1"/>
          <p:nvPr/>
        </p:nvSpPr>
        <p:spPr>
          <a:xfrm>
            <a:off x="8138160" y="2788920"/>
            <a:ext cx="1097280" cy="548640"/>
          </a:xfrm>
          <a:prstGeom prst="rect">
            <a:avLst/>
          </a:prstGeom>
          <a:noFill/>
          <a:ln/>
        </p:spPr>
        <p:txBody>
          <a:bodyPr wrap="square" lIns="0" tIns="0" rIns="0" bIns="0" rtlCol="0" anchor="ctr"/>
          <a:lstStyle/>
          <a:p>
            <a:pPr algn="ctr" indent="0" marL="0">
              <a:buNone/>
            </a:pPr>
            <a:r>
              <a:rPr lang="en-US" sz="2800" dirty="0">
                <a:solidFill>
                  <a:srgbClr val="5B6577"/>
                </a:solidFill>
                <a:latin typeface="Calibri" pitchFamily="34" charset="0"/>
                <a:ea typeface="Calibri" pitchFamily="34" charset="-122"/>
                <a:cs typeface="Calibri" pitchFamily="34" charset="-120"/>
              </a:rPr>
              <a:t>➜</a:t>
            </a:r>
            <a:endParaRPr lang="en-US" sz="2800" dirty="0"/>
          </a:p>
        </p:txBody>
      </p:sp>
      <p:sp>
        <p:nvSpPr>
          <p:cNvPr id="16" name="a4_d"/>
          <p:cNvSpPr/>
          <p:nvPr/>
        </p:nvSpPr>
        <p:spPr>
          <a:xfrm>
            <a:off x="8773988" y="1733108"/>
            <a:ext cx="2660264" cy="2660264"/>
          </a:xfrm>
          <a:prstGeom prst="ellipse">
            <a:avLst/>
          </a:prstGeom>
          <a:solidFill>
            <a:srgbClr val="00A99D"/>
          </a:solidFill>
          <a:ln w="25400">
            <a:solidFill>
              <a:srgbClr val="FFFFFF"/>
            </a:solidFill>
            <a:prstDash val="solid"/>
          </a:ln>
        </p:spPr>
      </p:sp>
      <p:sp>
        <p:nvSpPr>
          <p:cNvPr id="17" name="a4_v"/>
          <p:cNvSpPr txBox="1"/>
          <p:nvPr/>
        </p:nvSpPr>
        <p:spPr>
          <a:xfrm>
            <a:off x="9006840" y="2697480"/>
            <a:ext cx="2194560" cy="731520"/>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0,503</a:t>
            </a:r>
            <a:endParaRPr lang="en-US" sz="4000" dirty="0"/>
          </a:p>
        </p:txBody>
      </p:sp>
      <p:sp>
        <p:nvSpPr>
          <p:cNvPr id="18" name="a4_s"/>
          <p:cNvSpPr txBox="1"/>
          <p:nvPr/>
        </p:nvSpPr>
        <p:spPr>
          <a:xfrm>
            <a:off x="8823960" y="4800600"/>
            <a:ext cx="2560320" cy="731520"/>
          </a:xfrm>
          <a:prstGeom prst="rect">
            <a:avLst/>
          </a:prstGeom>
          <a:noFill/>
          <a:ln/>
        </p:spPr>
        <p:txBody>
          <a:bodyPr wrap="square" lIns="0" tIns="0" rIns="0" bIns="0" rtlCol="0" anchor="ctr"/>
          <a:lstStyle/>
          <a:p>
            <a:pPr algn="ctr" indent="0" marL="0">
              <a:buNone/>
            </a:pPr>
            <a:r>
              <a:rPr lang="en-US" sz="1600" b="1" dirty="0">
                <a:solidFill>
                  <a:srgbClr val="1B2333"/>
                </a:solidFill>
                <a:latin typeface="Calibri" pitchFamily="34" charset="0"/>
                <a:ea typeface="Calibri" pitchFamily="34" charset="-122"/>
                <a:cs typeface="Calibri" pitchFamily="34" charset="-120"/>
              </a:rPr>
              <a:t>Relais + calibration par tranche</a:t>
            </a:r>
            <a:endParaRPr lang="en-US" sz="1600" dirty="0"/>
          </a:p>
        </p:txBody>
      </p:sp>
      <p:sp>
        <p:nvSpPr>
          <p:cNvPr id="19" name="a5_ci"/>
          <p:cNvSpPr txBox="1"/>
          <p:nvPr/>
        </p:nvSpPr>
        <p:spPr>
          <a:xfrm>
            <a:off x="640080" y="5715000"/>
            <a:ext cx="10972800" cy="457200"/>
          </a:xfrm>
          <a:prstGeom prst="rect">
            <a:avLst/>
          </a:prstGeom>
          <a:noFill/>
          <a:ln/>
        </p:spPr>
        <p:txBody>
          <a:bodyPr wrap="square" lIns="0" tIns="0" rIns="0" bIns="0" rtlCol="0" anchor="ctr"/>
          <a:lstStyle/>
          <a:p>
            <a:pPr indent="0" marL="0">
              <a:buNone/>
            </a:pPr>
            <a:r>
              <a:rPr lang="en-US" sz="1600" i="1" dirty="0">
                <a:solidFill>
                  <a:srgbClr val="16305C"/>
                </a:solidFill>
                <a:latin typeface="Calibri" pitchFamily="34" charset="0"/>
                <a:ea typeface="Calibri" pitchFamily="34" charset="-122"/>
                <a:cs typeface="Calibri" pitchFamily="34" charset="-120"/>
              </a:rPr>
              <a:t>PR-AUC test HI-Small · intervalle à 95 % : 0,479 – 0,526</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childTnLst>
                          </p:cTn>
                        </p:par>
                        <p:par>
                          <p:cTn id="17" fill="hold">
                            <p:stCondLst>
                              <p:cond delay="350"/>
                            </p:stCondLst>
                            <p:childTnLst>
                              <p:par>
                                <p:cTn id="18" presetID="10" presetClass="entr" presetSubtype="0" fill="hold" grpId="0" nodeType="after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00"/>
                                        <p:tgtEl>
                                          <p:spTgt spid="11"/>
                                        </p:tgtEl>
                                      </p:cBhvr>
                                    </p:animEffect>
                                  </p:childTnLst>
                                </p:cTn>
                              </p:par>
                            </p:childTnLst>
                          </p:cTn>
                        </p:par>
                        <p:par>
                          <p:cTn id="30" fill="hold">
                            <p:stCondLst>
                              <p:cond delay="700"/>
                            </p:stCondLst>
                            <p:childTnLst>
                              <p:par>
                                <p:cTn id="31" presetID="10" presetClass="entr" presetSubtype="0" fill="hold" grpId="0" nodeType="after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500"/>
                                        <p:tgtEl>
                                          <p:spTgt spid="15"/>
                                        </p:tgtEl>
                                      </p:cBhvr>
                                    </p:animEffect>
                                  </p:childTnLst>
                                </p:cTn>
                              </p:par>
                            </p:childTnLst>
                          </p:cTn>
                        </p:par>
                        <p:par>
                          <p:cTn id="43" fill="hold">
                            <p:stCondLst>
                              <p:cond delay="1050"/>
                            </p:stCondLst>
                            <p:childTnLst>
                              <p:par>
                                <p:cTn id="44" presetID="10" presetClass="entr" presetSubtype="0" fill="hold" grpId="0" nodeType="after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5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500"/>
                                        <p:tgtEl>
                                          <p:spTgt spid="18"/>
                                        </p:tgtEl>
                                      </p:cBhvr>
                                    </p:animEffect>
                                  </p:childTnLst>
                                </p:cTn>
                              </p:par>
                            </p:childTnLst>
                          </p:cTn>
                        </p:par>
                        <p:par>
                          <p:cTn id="53" fill="hold">
                            <p:stCondLst>
                              <p:cond delay="1400"/>
                            </p:stCondLst>
                            <p:childTnLst>
                              <p:par>
                                <p:cTn id="54" presetID="10" presetClass="entr" presetSubtype="0" fill="hold" grpId="0" nodeType="after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rgbClr val="1B2333"/>
                </a:solidFill>
                <a:latin typeface="Cambria" pitchFamily="34" charset="0"/>
                <a:ea typeface="Cambria" pitchFamily="34" charset="-122"/>
                <a:cs typeface="Cambria" pitchFamily="34" charset="-120"/>
              </a:rPr>
              <a:t>Résultats IBM AML : PR-AUC sur le test</a:t>
            </a:r>
            <a:endParaRPr lang="en-US" sz="3400" dirty="0"/>
          </a:p>
        </p:txBody>
      </p:sp>
      <p:sp>
        <p:nvSpPr>
          <p:cNvPr id="3" name="page"/>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100" dirty="0">
                <a:solidFill>
                  <a:srgbClr val="5B6577"/>
                </a:solidFill>
                <a:latin typeface="Calibri" pitchFamily="34" charset="0"/>
                <a:ea typeface="Calibri" pitchFamily="34" charset="-122"/>
                <a:cs typeface="Calibri" pitchFamily="34" charset="-120"/>
              </a:rPr>
              <a:t>9</a:t>
            </a:r>
            <a:endParaRPr lang="en-US" sz="1100" dirty="0"/>
          </a:p>
        </p:txBody>
      </p:sp>
      <p:graphicFrame>
        <p:nvGraphicFramePr>
          <p:cNvPr id="4" name="a1w_chart" descr=""/>
          <p:cNvGraphicFramePr/>
          <p:nvPr/>
        </p:nvGraphicFramePr>
        <p:xfrm>
          <a:off x="457200" y="1234440"/>
          <a:ext cx="5669280" cy="457200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a2w_chart" descr=""/>
          <p:cNvGraphicFramePr/>
          <p:nvPr/>
        </p:nvGraphicFramePr>
        <p:xfrm>
          <a:off x="6217920" y="1234440"/>
          <a:ext cx="5669280" cy="4572000"/>
        </p:xfrm>
        <a:graphic xmlns:a="http://schemas.openxmlformats.org/drawingml/2006/main">
          <a:graphicData uri="http://schemas.openxmlformats.org/drawingml/2006/chart">
            <c:chart xmlns:c="http://schemas.openxmlformats.org/drawingml/2006/chart" r:id="rId2"/>
          </a:graphicData>
        </a:graphic>
      </p:graphicFrame>
      <p:sp>
        <p:nvSpPr>
          <p:cNvPr id="6" name="a3_obj"/>
          <p:cNvSpPr txBox="1"/>
          <p:nvPr/>
        </p:nvSpPr>
        <p:spPr>
          <a:xfrm>
            <a:off x="640080" y="5943600"/>
            <a:ext cx="10972800" cy="411480"/>
          </a:xfrm>
          <a:prstGeom prst="rect">
            <a:avLst/>
          </a:prstGeom>
          <a:noFill/>
          <a:ln/>
        </p:spPr>
        <p:txBody>
          <a:bodyPr wrap="square" lIns="0" tIns="0" rIns="0" bIns="0" rtlCol="0" anchor="ctr"/>
          <a:lstStyle/>
          <a:p>
            <a:pPr indent="0" marL="0">
              <a:buNone/>
            </a:pPr>
            <a:r>
              <a:rPr lang="en-US" sz="1500" i="1" dirty="0">
                <a:solidFill>
                  <a:srgbClr val="16305C"/>
                </a:solidFill>
                <a:latin typeface="Calibri" pitchFamily="34" charset="0"/>
                <a:ea typeface="Calibri" pitchFamily="34" charset="-122"/>
                <a:cs typeface="Calibri" pitchFamily="34" charset="-120"/>
              </a:rPr>
              <a:t>Objectif du cahier des charges : 0,5 — atteint par GraphSAGE et par les règles seules sur HI-Small</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500"/>
                                        <p:tgtEl>
                                          <p:spTgt spid="4"/>
                                        </p:tgtEl>
                                      </p:cBhvr>
                                    </p:animEffect>
                                  </p:childTnLst>
                                </p:cTn>
                              </p:par>
                            </p:childTnLst>
                          </p:cTn>
                        </p:par>
                        <p:par>
                          <p:cTn id="8" fill="hold">
                            <p:stCondLst>
                              <p:cond delay="350"/>
                            </p:stCondLst>
                            <p:childTnLst>
                              <p:par>
                                <p:cTn id="9" presetID="22" presetClass="entr" presetSubtype="8" fill="hold" grpId="0"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500"/>
                                        <p:tgtEl>
                                          <p:spTgt spid="5"/>
                                        </p:tgtEl>
                                      </p:cBhvr>
                                    </p:animEffect>
                                  </p:childTnLst>
                                </p:cTn>
                              </p:par>
                            </p:childTnLst>
                          </p:cTn>
                        </p:par>
                        <p:par>
                          <p:cTn id="12" fill="hold">
                            <p:stCondLst>
                              <p:cond delay="700"/>
                            </p:stCondLst>
                            <p:childTnLst>
                              <p:par>
                                <p:cTn id="13" presetID="10" presetClass="entr" presetSubtype="0" fill="hold" grpId="0" nodeType="afterEffect">
                                  <p:stCondLst>
                                    <p:cond delay="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Graphic spid="5" grpId="0">
        <p:bldAsOne/>
      </p:bldGraphic>
      <p:bldP spid="6"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rgbClr val="1B2333"/>
                </a:solidFill>
                <a:latin typeface="Cambria" pitchFamily="34" charset="0"/>
                <a:ea typeface="Cambria" pitchFamily="34" charset="-122"/>
                <a:cs typeface="Cambria" pitchFamily="34" charset="-120"/>
              </a:rPr>
              <a:t>Hybride : un modèle + les motifs</a:t>
            </a:r>
            <a:endParaRPr lang="en-US" sz="3400" dirty="0"/>
          </a:p>
        </p:txBody>
      </p:sp>
      <p:sp>
        <p:nvSpPr>
          <p:cNvPr id="3" name="page"/>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100" dirty="0">
                <a:solidFill>
                  <a:srgbClr val="5B6577"/>
                </a:solidFill>
                <a:latin typeface="Calibri" pitchFamily="34" charset="0"/>
                <a:ea typeface="Calibri" pitchFamily="34" charset="-122"/>
                <a:cs typeface="Calibri" pitchFamily="34" charset="-120"/>
              </a:rPr>
              <a:t>10</a:t>
            </a:r>
            <a:endParaRPr lang="en-US" sz="1100" dirty="0"/>
          </a:p>
        </p:txBody>
      </p:sp>
      <p:graphicFrame>
        <p:nvGraphicFramePr>
          <p:cNvPr id="4" name="a1w_chart" descr=""/>
          <p:cNvGraphicFramePr/>
          <p:nvPr/>
        </p:nvGraphicFramePr>
        <p:xfrm>
          <a:off x="457200" y="1234440"/>
          <a:ext cx="7315200" cy="4937760"/>
        </p:xfrm>
        <a:graphic xmlns:a="http://schemas.openxmlformats.org/drawingml/2006/main">
          <a:graphicData uri="http://schemas.openxmlformats.org/drawingml/2006/chart">
            <c:chart xmlns:c="http://schemas.openxmlformats.org/drawingml/2006/chart" r:id="rId1"/>
          </a:graphicData>
        </a:graphic>
      </p:graphicFrame>
      <p:sp>
        <p:nvSpPr>
          <p:cNvPr id="5" name="a2_c1"/>
          <p:cNvSpPr/>
          <p:nvPr/>
        </p:nvSpPr>
        <p:spPr>
          <a:xfrm>
            <a:off x="8138160" y="1463040"/>
            <a:ext cx="3474720" cy="2103120"/>
          </a:xfrm>
          <a:prstGeom prst="roundRect">
            <a:avLst>
              <a:gd name="adj" fmla="val 5217"/>
            </a:avLst>
          </a:prstGeom>
          <a:solidFill>
            <a:srgbClr val="0B1D3A"/>
          </a:solidFill>
          <a:ln w="12700">
            <a:solidFill>
              <a:srgbClr val="0B1D3A"/>
            </a:solidFill>
            <a:prstDash val="solid"/>
          </a:ln>
          <a:effectLst>
            <a:outerShdw sx="100000" sy="100000" kx="0" ky="0" algn="bl" rotWithShape="0" blurRad="76200" dist="25400" dir="5400000">
              <a:srgbClr val="9AA7BD">
                <a:alpha val="35000"/>
              </a:srgbClr>
            </a:outerShdw>
          </a:effectLst>
        </p:spPr>
      </p:sp>
      <p:sp>
        <p:nvSpPr>
          <p:cNvPr id="6" name="a2_v1"/>
          <p:cNvSpPr txBox="1"/>
          <p:nvPr/>
        </p:nvSpPr>
        <p:spPr>
          <a:xfrm>
            <a:off x="8229600" y="1600200"/>
            <a:ext cx="3291840" cy="1097280"/>
          </a:xfrm>
          <a:prstGeom prst="rect">
            <a:avLst/>
          </a:prstGeom>
          <a:noFill/>
          <a:ln/>
        </p:spPr>
        <p:txBody>
          <a:bodyPr wrap="square" lIns="0" tIns="0" rIns="0" bIns="0" rtlCol="0" anchor="ctr"/>
          <a:lstStyle/>
          <a:p>
            <a:pPr algn="ctr" indent="0" marL="0">
              <a:buNone/>
            </a:pPr>
            <a:r>
              <a:rPr lang="en-US" sz="6000" b="1" dirty="0">
                <a:solidFill>
                  <a:srgbClr val="7FE3D8"/>
                </a:solidFill>
                <a:latin typeface="Cambria" pitchFamily="34" charset="0"/>
                <a:ea typeface="Cambria" pitchFamily="34" charset="-122"/>
                <a:cs typeface="Cambria" pitchFamily="34" charset="-120"/>
              </a:rPr>
              <a:t>0,641</a:t>
            </a:r>
            <a:endParaRPr lang="en-US" sz="6000" dirty="0"/>
          </a:p>
        </p:txBody>
      </p:sp>
      <p:sp>
        <p:nvSpPr>
          <p:cNvPr id="7" name="a2_l1"/>
          <p:cNvSpPr txBox="1"/>
          <p:nvPr/>
        </p:nvSpPr>
        <p:spPr>
          <a:xfrm>
            <a:off x="8229600" y="2697480"/>
            <a:ext cx="3291840" cy="640080"/>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meilleure PR-AUC sur HI-Small</a:t>
            </a:r>
            <a:endParaRPr lang="en-US" sz="1600" dirty="0"/>
          </a:p>
        </p:txBody>
      </p:sp>
      <p:sp>
        <p:nvSpPr>
          <p:cNvPr id="8" name="a3_c2"/>
          <p:cNvSpPr/>
          <p:nvPr/>
        </p:nvSpPr>
        <p:spPr>
          <a:xfrm>
            <a:off x="8138160" y="3840480"/>
            <a:ext cx="3474720" cy="2103120"/>
          </a:xfrm>
          <a:prstGeom prst="roundRect">
            <a:avLst>
              <a:gd name="adj" fmla="val 5217"/>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9" name="a3_v2"/>
          <p:cNvSpPr txBox="1"/>
          <p:nvPr/>
        </p:nvSpPr>
        <p:spPr>
          <a:xfrm>
            <a:off x="8229600" y="4023360"/>
            <a:ext cx="3291840" cy="914400"/>
          </a:xfrm>
          <a:prstGeom prst="rect">
            <a:avLst/>
          </a:prstGeom>
          <a:noFill/>
          <a:ln/>
        </p:spPr>
        <p:txBody>
          <a:bodyPr wrap="square" lIns="0" tIns="0" rIns="0" bIns="0" rtlCol="0" anchor="ctr"/>
          <a:lstStyle/>
          <a:p>
            <a:pPr algn="ctr" indent="0" marL="0">
              <a:buNone/>
            </a:pPr>
            <a:r>
              <a:rPr lang="en-US" sz="3600" b="1" dirty="0">
                <a:solidFill>
                  <a:srgbClr val="00A99D"/>
                </a:solidFill>
                <a:latin typeface="Cambria" pitchFamily="34" charset="0"/>
                <a:ea typeface="Cambria" pitchFamily="34" charset="-122"/>
                <a:cs typeface="Cambria" pitchFamily="34" charset="-120"/>
              </a:rPr>
              <a:t>0,191 → 0,236</a:t>
            </a:r>
            <a:endParaRPr lang="en-US" sz="3600" dirty="0"/>
          </a:p>
        </p:txBody>
      </p:sp>
      <p:sp>
        <p:nvSpPr>
          <p:cNvPr id="10" name="a3_l2"/>
          <p:cNvSpPr txBox="1"/>
          <p:nvPr/>
        </p:nvSpPr>
        <p:spPr>
          <a:xfrm>
            <a:off x="8229600" y="4937760"/>
            <a:ext cx="3291840" cy="640080"/>
          </a:xfrm>
          <a:prstGeom prst="rect">
            <a:avLst/>
          </a:prstGeom>
          <a:noFill/>
          <a:ln/>
        </p:spPr>
        <p:txBody>
          <a:bodyPr wrap="square" lIns="0" tIns="0" rIns="0" bIns="0" rtlCol="0" anchor="ctr"/>
          <a:lstStyle/>
          <a:p>
            <a:pPr algn="ctr" indent="0" marL="0">
              <a:buNone/>
            </a:pPr>
            <a:r>
              <a:rPr lang="en-US" sz="1600" dirty="0">
                <a:solidFill>
                  <a:srgbClr val="1B2333"/>
                </a:solidFill>
                <a:latin typeface="Calibri" pitchFamily="34" charset="0"/>
                <a:ea typeface="Calibri" pitchFamily="34" charset="-122"/>
                <a:cs typeface="Calibri" pitchFamily="34" charset="-120"/>
              </a:rPr>
              <a:t>LI-Small : forêt aléatoire + motifs</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500"/>
                                        <p:tgtEl>
                                          <p:spTgt spid="4"/>
                                        </p:tgtEl>
                                      </p:cBhvr>
                                    </p:animEffect>
                                  </p:childTnLst>
                                </p:cTn>
                              </p:par>
                            </p:childTnLst>
                          </p:cTn>
                        </p:par>
                        <p:par>
                          <p:cTn id="8" fill="hold">
                            <p:stCondLst>
                              <p:cond delay="350"/>
                            </p:stCondLst>
                            <p:childTnLst>
                              <p:par>
                                <p:cTn id="9" presetID="10" presetClass="entr" presetSubtype="0" fill="hold" grpId="0"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childTnLst>
                          </p:cTn>
                        </p:par>
                        <p:par>
                          <p:cTn id="18" fill="hold">
                            <p:stCondLst>
                              <p:cond delay="700"/>
                            </p:stCondLst>
                            <p:childTnLst>
                              <p:par>
                                <p:cTn id="19" presetID="10" presetClass="entr" presetSubtype="0" fill="hold" grpId="0" nodeType="after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P spid="5" grpId="0" animBg="1"/>
      <p:bldP spid="6" grpId="0" animBg="1"/>
      <p:bldP spid="7" grpId="0" animBg="1"/>
      <p:bldP spid="8" grpId="0" animBg="1"/>
      <p:bldP spid="9" grpId="0" animBg="1"/>
      <p:bldP spid="1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rgbClr val="1B2333"/>
                </a:solidFill>
                <a:latin typeface="Cambria" pitchFamily="34" charset="0"/>
                <a:ea typeface="Cambria" pitchFamily="34" charset="-122"/>
                <a:cs typeface="Cambria" pitchFamily="34" charset="-120"/>
              </a:rPr>
              <a:t>Elliptic Bitcoin : les arbres dominent</a:t>
            </a:r>
            <a:endParaRPr lang="en-US" sz="3400" dirty="0"/>
          </a:p>
        </p:txBody>
      </p:sp>
      <p:sp>
        <p:nvSpPr>
          <p:cNvPr id="3" name="page"/>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100" dirty="0">
                <a:solidFill>
                  <a:srgbClr val="5B6577"/>
                </a:solidFill>
                <a:latin typeface="Calibri" pitchFamily="34" charset="0"/>
                <a:ea typeface="Calibri" pitchFamily="34" charset="-122"/>
                <a:cs typeface="Calibri" pitchFamily="34" charset="-120"/>
              </a:rPr>
              <a:t>11</a:t>
            </a:r>
            <a:endParaRPr lang="en-US" sz="1100" dirty="0"/>
          </a:p>
        </p:txBody>
      </p:sp>
      <p:graphicFrame>
        <p:nvGraphicFramePr>
          <p:cNvPr id="4" name="a1w_chart" descr=""/>
          <p:cNvGraphicFramePr/>
          <p:nvPr/>
        </p:nvGraphicFramePr>
        <p:xfrm>
          <a:off x="457200" y="1234440"/>
          <a:ext cx="7498080" cy="4937760"/>
        </p:xfrm>
        <a:graphic xmlns:a="http://schemas.openxmlformats.org/drawingml/2006/main">
          <a:graphicData uri="http://schemas.openxmlformats.org/drawingml/2006/chart">
            <c:chart xmlns:c="http://schemas.openxmlformats.org/drawingml/2006/chart" r:id="rId1"/>
          </a:graphicData>
        </a:graphic>
      </p:graphicFrame>
      <p:sp>
        <p:nvSpPr>
          <p:cNvPr id="5" name="a2_i1_disc"/>
          <p:cNvSpPr/>
          <p:nvPr/>
        </p:nvSpPr>
        <p:spPr>
          <a:xfrm>
            <a:off x="8503920" y="1737360"/>
            <a:ext cx="914400" cy="914400"/>
          </a:xfrm>
          <a:prstGeom prst="ellipse">
            <a:avLst/>
          </a:prstGeom>
          <a:solidFill>
            <a:srgbClr val="00A99D"/>
          </a:solidFill>
          <a:ln w="12700">
            <a:solidFill>
              <a:srgbClr val="00A99D"/>
            </a:solidFill>
            <a:prstDash val="solid"/>
          </a:ln>
        </p:spPr>
      </p:sp>
      <p:pic>
        <p:nvPicPr>
          <p:cNvPr id="6" name="a2_i1_icon" descr="preencoded.png">    </p:cNvPr>
          <p:cNvPicPr>
            <a:picLocks noChangeAspect="1"/>
          </p:cNvPicPr>
          <p:nvPr/>
        </p:nvPicPr>
        <p:blipFill>
          <a:blip r:embed="rId2"/>
          <a:stretch>
            <a:fillRect/>
          </a:stretch>
        </p:blipFill>
        <p:spPr>
          <a:xfrm>
            <a:off x="8723376" y="1956816"/>
            <a:ext cx="475488" cy="475488"/>
          </a:xfrm>
          <a:prstGeom prst="rect">
            <a:avLst/>
          </a:prstGeom>
        </p:spPr>
      </p:pic>
      <p:sp>
        <p:nvSpPr>
          <p:cNvPr id="7" name="a2_v1"/>
          <p:cNvSpPr txBox="1"/>
          <p:nvPr/>
        </p:nvSpPr>
        <p:spPr>
          <a:xfrm>
            <a:off x="9601200" y="1691640"/>
            <a:ext cx="2194560" cy="640080"/>
          </a:xfrm>
          <a:prstGeom prst="rect">
            <a:avLst/>
          </a:prstGeom>
          <a:noFill/>
          <a:ln/>
        </p:spPr>
        <p:txBody>
          <a:bodyPr wrap="square" lIns="0" tIns="0" rIns="0" bIns="0" rtlCol="0" anchor="ctr"/>
          <a:lstStyle/>
          <a:p>
            <a:pPr indent="0" marL="0">
              <a:buNone/>
            </a:pPr>
            <a:r>
              <a:rPr lang="en-US" sz="3600" b="1" dirty="0">
                <a:solidFill>
                  <a:srgbClr val="00A99D"/>
                </a:solidFill>
                <a:latin typeface="Cambria" pitchFamily="34" charset="0"/>
                <a:ea typeface="Cambria" pitchFamily="34" charset="-122"/>
                <a:cs typeface="Cambria" pitchFamily="34" charset="-120"/>
              </a:rPr>
              <a:t>≈ 0,79</a:t>
            </a:r>
            <a:endParaRPr lang="en-US" sz="3600" dirty="0"/>
          </a:p>
        </p:txBody>
      </p:sp>
      <p:sp>
        <p:nvSpPr>
          <p:cNvPr id="8" name="a2_l1"/>
          <p:cNvSpPr txBox="1"/>
          <p:nvPr/>
        </p:nvSpPr>
        <p:spPr>
          <a:xfrm>
            <a:off x="9601200" y="2331720"/>
            <a:ext cx="2286000" cy="457200"/>
          </a:xfrm>
          <a:prstGeom prst="rect">
            <a:avLst/>
          </a:prstGeom>
          <a:noFill/>
          <a:ln/>
        </p:spPr>
        <p:txBody>
          <a:bodyPr wrap="square" lIns="0" tIns="0" rIns="0" bIns="0" rtlCol="0" anchor="ctr"/>
          <a:lstStyle/>
          <a:p>
            <a:pPr indent="0" marL="0">
              <a:buNone/>
            </a:pPr>
            <a:r>
              <a:rPr lang="en-US" sz="1500" dirty="0">
                <a:solidFill>
                  <a:srgbClr val="5B6577"/>
                </a:solidFill>
                <a:latin typeface="Calibri" pitchFamily="34" charset="0"/>
                <a:ea typeface="Calibri" pitchFamily="34" charset="-122"/>
                <a:cs typeface="Calibri" pitchFamily="34" charset="-120"/>
              </a:rPr>
              <a:t>HistGB · XGBoost · forêt</a:t>
            </a:r>
            <a:endParaRPr lang="en-US" sz="1500" dirty="0"/>
          </a:p>
        </p:txBody>
      </p:sp>
      <p:sp>
        <p:nvSpPr>
          <p:cNvPr id="9" name="a3_i2_disc"/>
          <p:cNvSpPr/>
          <p:nvPr/>
        </p:nvSpPr>
        <p:spPr>
          <a:xfrm>
            <a:off x="8503920" y="3291840"/>
            <a:ext cx="914400" cy="914400"/>
          </a:xfrm>
          <a:prstGeom prst="ellipse">
            <a:avLst/>
          </a:prstGeom>
          <a:solidFill>
            <a:srgbClr val="7B61FF"/>
          </a:solidFill>
          <a:ln w="12700">
            <a:solidFill>
              <a:srgbClr val="7B61FF"/>
            </a:solidFill>
            <a:prstDash val="solid"/>
          </a:ln>
        </p:spPr>
      </p:sp>
      <p:pic>
        <p:nvPicPr>
          <p:cNvPr id="10" name="a3_i2_icon" descr="preencoded.png">    </p:cNvPr>
          <p:cNvPicPr>
            <a:picLocks noChangeAspect="1"/>
          </p:cNvPicPr>
          <p:nvPr/>
        </p:nvPicPr>
        <p:blipFill>
          <a:blip r:embed="rId3"/>
          <a:stretch>
            <a:fillRect/>
          </a:stretch>
        </p:blipFill>
        <p:spPr>
          <a:xfrm>
            <a:off x="8723376" y="3511296"/>
            <a:ext cx="475488" cy="475488"/>
          </a:xfrm>
          <a:prstGeom prst="rect">
            <a:avLst/>
          </a:prstGeom>
        </p:spPr>
      </p:pic>
      <p:sp>
        <p:nvSpPr>
          <p:cNvPr id="11" name="a3_v2"/>
          <p:cNvSpPr txBox="1"/>
          <p:nvPr/>
        </p:nvSpPr>
        <p:spPr>
          <a:xfrm>
            <a:off x="9601200" y="3246120"/>
            <a:ext cx="2194560" cy="640080"/>
          </a:xfrm>
          <a:prstGeom prst="rect">
            <a:avLst/>
          </a:prstGeom>
          <a:noFill/>
          <a:ln/>
        </p:spPr>
        <p:txBody>
          <a:bodyPr wrap="square" lIns="0" tIns="0" rIns="0" bIns="0" rtlCol="0" anchor="ctr"/>
          <a:lstStyle/>
          <a:p>
            <a:pPr indent="0" marL="0">
              <a:buNone/>
            </a:pPr>
            <a:r>
              <a:rPr lang="en-US" sz="3600" b="1" dirty="0">
                <a:solidFill>
                  <a:srgbClr val="7B61FF"/>
                </a:solidFill>
                <a:latin typeface="Cambria" pitchFamily="34" charset="0"/>
                <a:ea typeface="Cambria" pitchFamily="34" charset="-122"/>
                <a:cs typeface="Cambria" pitchFamily="34" charset="-120"/>
              </a:rPr>
              <a:t>0,497</a:t>
            </a:r>
            <a:endParaRPr lang="en-US" sz="3600" dirty="0"/>
          </a:p>
        </p:txBody>
      </p:sp>
      <p:sp>
        <p:nvSpPr>
          <p:cNvPr id="12" name="a3_l2"/>
          <p:cNvSpPr txBox="1"/>
          <p:nvPr/>
        </p:nvSpPr>
        <p:spPr>
          <a:xfrm>
            <a:off x="9601200" y="3886200"/>
            <a:ext cx="2286000" cy="457200"/>
          </a:xfrm>
          <a:prstGeom prst="rect">
            <a:avLst/>
          </a:prstGeom>
          <a:noFill/>
          <a:ln/>
        </p:spPr>
        <p:txBody>
          <a:bodyPr wrap="square" lIns="0" tIns="0" rIns="0" bIns="0" rtlCol="0" anchor="ctr"/>
          <a:lstStyle/>
          <a:p>
            <a:pPr indent="0" marL="0">
              <a:buNone/>
            </a:pPr>
            <a:r>
              <a:rPr lang="en-US" sz="1500" dirty="0">
                <a:solidFill>
                  <a:srgbClr val="5B6577"/>
                </a:solidFill>
                <a:latin typeface="Calibri" pitchFamily="34" charset="0"/>
                <a:ea typeface="Calibri" pitchFamily="34" charset="-122"/>
                <a:cs typeface="Calibri" pitchFamily="34" charset="-120"/>
              </a:rPr>
              <a:t>meilleur GNN (GraphSAGE)</a:t>
            </a:r>
            <a:endParaRPr lang="en-US" sz="1500" dirty="0"/>
          </a:p>
        </p:txBody>
      </p:sp>
      <p:sp>
        <p:nvSpPr>
          <p:cNvPr id="13" name="a4_t"/>
          <p:cNvSpPr txBox="1"/>
          <p:nvPr/>
        </p:nvSpPr>
        <p:spPr>
          <a:xfrm>
            <a:off x="8412480" y="4846320"/>
            <a:ext cx="3474720" cy="1005840"/>
          </a:xfrm>
          <a:prstGeom prst="rect">
            <a:avLst/>
          </a:prstGeom>
          <a:noFill/>
          <a:ln/>
        </p:spPr>
        <p:txBody>
          <a:bodyPr wrap="square" lIns="0" tIns="0" rIns="0" bIns="0" rtlCol="0" anchor="ctr"/>
          <a:lstStyle/>
          <a:p>
            <a:pPr indent="0" marL="0">
              <a:buNone/>
            </a:pPr>
            <a:r>
              <a:rPr lang="en-US" sz="1600" i="1" dirty="0">
                <a:solidFill>
                  <a:srgbClr val="16305C"/>
                </a:solidFill>
                <a:latin typeface="Calibri" pitchFamily="34" charset="0"/>
                <a:ea typeface="Calibri" pitchFamily="34" charset="-122"/>
                <a:cs typeface="Calibri" pitchFamily="34" charset="-120"/>
              </a:rPr>
              <a:t>Pas de modèle universel : l'outil compare toujours les deux familles.</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left)">
                                      <p:cBhvr>
                                        <p:cTn id="7" dur="500"/>
                                        <p:tgtEl>
                                          <p:spTgt spid="4"/>
                                        </p:tgtEl>
                                      </p:cBhvr>
                                    </p:animEffect>
                                  </p:childTnLst>
                                </p:cTn>
                              </p:par>
                            </p:childTnLst>
                          </p:cTn>
                        </p:par>
                        <p:par>
                          <p:cTn id="8" fill="hold">
                            <p:stCondLst>
                              <p:cond delay="350"/>
                            </p:stCondLst>
                            <p:childTnLst>
                              <p:par>
                                <p:cTn id="9" presetID="10" presetClass="entr" presetSubtype="0" fill="hold" grpId="0"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childTnLst>
                          </p:cTn>
                        </p:par>
                        <p:par>
                          <p:cTn id="21" fill="hold">
                            <p:stCondLst>
                              <p:cond delay="700"/>
                            </p:stCondLst>
                            <p:childTnLst>
                              <p:par>
                                <p:cTn id="22" presetID="10" presetClass="entr" presetSubtype="0" fill="hold" grpId="0" nodeType="after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childTnLst>
                          </p:cTn>
                        </p:par>
                        <p:par>
                          <p:cTn id="34" fill="hold">
                            <p:stCondLst>
                              <p:cond delay="1050"/>
                            </p:stCondLst>
                            <p:childTnLst>
                              <p:par>
                                <p:cTn id="35" presetID="10" presetClass="entr" presetSubtype="0" fill="hold" grpId="0" nodeType="after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4" grpId="0">
        <p:bldAsOne/>
      </p:bldGraphic>
      <p:bldP spid="5" grpId="0" animBg="1"/>
      <p:bldP spid="7" grpId="0" animBg="1"/>
      <p:bldP spid="8" grpId="0" animBg="1"/>
      <p:bldP spid="9" grpId="0" animBg="1"/>
      <p:bldP spid="11" grpId="0" animBg="1"/>
      <p:bldP spid="12" grpId="0" animBg="1"/>
      <p:bldP spid="1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rgbClr val="1B2333"/>
                </a:solidFill>
                <a:latin typeface="Cambria" pitchFamily="34" charset="0"/>
                <a:ea typeface="Cambria" pitchFamily="34" charset="-122"/>
                <a:cs typeface="Cambria" pitchFamily="34" charset="-120"/>
              </a:rPr>
              <a:t>Expliquer chaque alerte</a:t>
            </a:r>
            <a:endParaRPr lang="en-US" sz="3400" dirty="0"/>
          </a:p>
        </p:txBody>
      </p:sp>
      <p:sp>
        <p:nvSpPr>
          <p:cNvPr id="3" name="page"/>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100" dirty="0">
                <a:solidFill>
                  <a:srgbClr val="5B6577"/>
                </a:solidFill>
                <a:latin typeface="Calibri" pitchFamily="34" charset="0"/>
                <a:ea typeface="Calibri" pitchFamily="34" charset="-122"/>
                <a:cs typeface="Calibri" pitchFamily="34" charset="-120"/>
              </a:rPr>
              <a:t>12</a:t>
            </a:r>
            <a:endParaRPr lang="en-US" sz="1100" dirty="0"/>
          </a:p>
        </p:txBody>
      </p:sp>
      <p:sp>
        <p:nvSpPr>
          <p:cNvPr id="4" name="a1_c"/>
          <p:cNvSpPr/>
          <p:nvPr/>
        </p:nvSpPr>
        <p:spPr>
          <a:xfrm>
            <a:off x="548640" y="1280160"/>
            <a:ext cx="576072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76200" dist="25400" dir="5400000">
              <a:srgbClr val="9AA7BD">
                <a:alpha val="35000"/>
              </a:srgbClr>
            </a:outerShdw>
          </a:effectLst>
        </p:spPr>
      </p:sp>
      <p:pic>
        <p:nvPicPr>
          <p:cNvPr id="5" name="a1_img" descr="C:\Users\dell\Desktop\MASTER PFE\PFE_FORMATION\PFE\aml-graphminer\aml-graphminer\paper\figures\example_explanation.png">    </p:cNvPr>
          <p:cNvPicPr>
            <a:picLocks noChangeAspect="1"/>
          </p:cNvPicPr>
          <p:nvPr/>
        </p:nvPicPr>
        <p:blipFill>
          <a:blip r:embed="rId1"/>
          <a:stretch>
            <a:fillRect/>
          </a:stretch>
        </p:blipFill>
        <p:spPr>
          <a:xfrm>
            <a:off x="777240" y="1463040"/>
            <a:ext cx="5303520" cy="3538728"/>
          </a:xfrm>
          <a:prstGeom prst="rect">
            <a:avLst/>
          </a:prstGeom>
        </p:spPr>
      </p:pic>
      <p:sp>
        <p:nvSpPr>
          <p:cNvPr id="6" name="a1_cap"/>
          <p:cNvSpPr txBox="1"/>
          <p:nvPr/>
        </p:nvSpPr>
        <p:spPr>
          <a:xfrm>
            <a:off x="777240" y="5074920"/>
            <a:ext cx="5303520" cy="548640"/>
          </a:xfrm>
          <a:prstGeom prst="rect">
            <a:avLst/>
          </a:prstGeom>
          <a:noFill/>
          <a:ln/>
        </p:spPr>
        <p:txBody>
          <a:bodyPr wrap="square" lIns="0" tIns="0" rIns="0" bIns="0" rtlCol="0" anchor="ctr"/>
          <a:lstStyle/>
          <a:p>
            <a:pPr indent="0" marL="0">
              <a:buNone/>
            </a:pPr>
            <a:r>
              <a:rPr lang="en-US" sz="1300" i="1" dirty="0">
                <a:solidFill>
                  <a:srgbClr val="5B6577"/>
                </a:solidFill>
                <a:latin typeface="Calibri" pitchFamily="34" charset="0"/>
                <a:ea typeface="Calibri" pitchFamily="34" charset="-122"/>
                <a:cs typeface="Calibri" pitchFamily="34" charset="-120"/>
              </a:rPr>
              <a:t>Preuve exacte d'un cycle : la transaction en rouge boucle l'argent</a:t>
            </a:r>
            <a:endParaRPr lang="en-US" sz="1300" dirty="0"/>
          </a:p>
        </p:txBody>
      </p:sp>
      <p:sp>
        <p:nvSpPr>
          <p:cNvPr id="7" name="a2_i_disc"/>
          <p:cNvSpPr/>
          <p:nvPr/>
        </p:nvSpPr>
        <p:spPr>
          <a:xfrm>
            <a:off x="6675120" y="1417320"/>
            <a:ext cx="868680" cy="868680"/>
          </a:xfrm>
          <a:prstGeom prst="ellipse">
            <a:avLst/>
          </a:prstGeom>
          <a:solidFill>
            <a:srgbClr val="7B61FF"/>
          </a:solidFill>
          <a:ln w="12700">
            <a:solidFill>
              <a:srgbClr val="7B61FF"/>
            </a:solidFill>
            <a:prstDash val="solid"/>
          </a:ln>
        </p:spPr>
      </p:sp>
      <p:pic>
        <p:nvPicPr>
          <p:cNvPr id="8" name="a2_i_icon" descr="preencoded.png">    </p:cNvPr>
          <p:cNvPicPr>
            <a:picLocks noChangeAspect="1"/>
          </p:cNvPicPr>
          <p:nvPr/>
        </p:nvPicPr>
        <p:blipFill>
          <a:blip r:embed="rId2"/>
          <a:stretch>
            <a:fillRect/>
          </a:stretch>
        </p:blipFill>
        <p:spPr>
          <a:xfrm>
            <a:off x="6883603" y="1625803"/>
            <a:ext cx="451714" cy="451714"/>
          </a:xfrm>
          <a:prstGeom prst="rect">
            <a:avLst/>
          </a:prstGeom>
        </p:spPr>
      </p:pic>
      <p:sp>
        <p:nvSpPr>
          <p:cNvPr id="9" name="a2_t"/>
          <p:cNvSpPr txBox="1"/>
          <p:nvPr/>
        </p:nvSpPr>
        <p:spPr>
          <a:xfrm>
            <a:off x="7726680" y="1417320"/>
            <a:ext cx="4023360" cy="457200"/>
          </a:xfrm>
          <a:prstGeom prst="rect">
            <a:avLst/>
          </a:prstGeom>
          <a:noFill/>
          <a:ln/>
        </p:spPr>
        <p:txBody>
          <a:bodyPr wrap="square" lIns="0" tIns="0" rIns="0" bIns="0" rtlCol="0" anchor="ctr"/>
          <a:lstStyle/>
          <a:p>
            <a:pPr indent="0" marL="0">
              <a:buNone/>
            </a:pPr>
            <a:r>
              <a:rPr lang="en-US" sz="1900" b="1" dirty="0">
                <a:solidFill>
                  <a:srgbClr val="1B2333"/>
                </a:solidFill>
                <a:latin typeface="Calibri" pitchFamily="34" charset="0"/>
                <a:ea typeface="Calibri" pitchFamily="34" charset="-122"/>
                <a:cs typeface="Calibri" pitchFamily="34" charset="-120"/>
              </a:rPr>
              <a:t>6 méthodes</a:t>
            </a:r>
            <a:endParaRPr lang="en-US" sz="1900" dirty="0"/>
          </a:p>
        </p:txBody>
      </p:sp>
      <p:sp>
        <p:nvSpPr>
          <p:cNvPr id="10" name="a2_d"/>
          <p:cNvSpPr txBox="1"/>
          <p:nvPr/>
        </p:nvSpPr>
        <p:spPr>
          <a:xfrm>
            <a:off x="7726680" y="1874520"/>
            <a:ext cx="4023360" cy="731520"/>
          </a:xfrm>
          <a:prstGeom prst="rect">
            <a:avLst/>
          </a:prstGeom>
          <a:noFill/>
          <a:ln/>
        </p:spPr>
        <p:txBody>
          <a:bodyPr wrap="square" lIns="0" tIns="0" rIns="0" bIns="0" rtlCol="0" anchor="ctr"/>
          <a:lstStyle/>
          <a:p>
            <a:pPr indent="0" marL="0">
              <a:buNone/>
            </a:pPr>
            <a:r>
              <a:rPr lang="en-US" sz="1500" dirty="0">
                <a:solidFill>
                  <a:srgbClr val="5B6577"/>
                </a:solidFill>
                <a:latin typeface="Calibri" pitchFamily="34" charset="0"/>
                <a:ea typeface="Calibri" pitchFamily="34" charset="-122"/>
                <a:cs typeface="Calibri" pitchFamily="34" charset="-120"/>
              </a:rPr>
              <a:t>motifs · occlusion · GNNExplainer · PGExplainer · Captum · attention</a:t>
            </a:r>
            <a:endParaRPr lang="en-US" sz="1500" dirty="0"/>
          </a:p>
        </p:txBody>
      </p:sp>
      <p:sp>
        <p:nvSpPr>
          <p:cNvPr id="11" name="a3_i_disc"/>
          <p:cNvSpPr/>
          <p:nvPr/>
        </p:nvSpPr>
        <p:spPr>
          <a:xfrm>
            <a:off x="6675120" y="2880360"/>
            <a:ext cx="868680" cy="868680"/>
          </a:xfrm>
          <a:prstGeom prst="ellipse">
            <a:avLst/>
          </a:prstGeom>
          <a:solidFill>
            <a:srgbClr val="F5B700"/>
          </a:solidFill>
          <a:ln w="12700">
            <a:solidFill>
              <a:srgbClr val="F5B700"/>
            </a:solidFill>
            <a:prstDash val="solid"/>
          </a:ln>
        </p:spPr>
      </p:sp>
      <p:pic>
        <p:nvPicPr>
          <p:cNvPr id="12" name="a3_i_icon" descr="preencoded.png">    </p:cNvPr>
          <p:cNvPicPr>
            <a:picLocks noChangeAspect="1"/>
          </p:cNvPicPr>
          <p:nvPr/>
        </p:nvPicPr>
        <p:blipFill>
          <a:blip r:embed="rId3"/>
          <a:stretch>
            <a:fillRect/>
          </a:stretch>
        </p:blipFill>
        <p:spPr>
          <a:xfrm>
            <a:off x="6883603" y="3088843"/>
            <a:ext cx="451714" cy="451714"/>
          </a:xfrm>
          <a:prstGeom prst="rect">
            <a:avLst/>
          </a:prstGeom>
        </p:spPr>
      </p:pic>
      <p:sp>
        <p:nvSpPr>
          <p:cNvPr id="13" name="a3_t"/>
          <p:cNvSpPr txBox="1"/>
          <p:nvPr/>
        </p:nvSpPr>
        <p:spPr>
          <a:xfrm>
            <a:off x="7726680" y="2880360"/>
            <a:ext cx="4023360" cy="457200"/>
          </a:xfrm>
          <a:prstGeom prst="rect">
            <a:avLst/>
          </a:prstGeom>
          <a:noFill/>
          <a:ln/>
        </p:spPr>
        <p:txBody>
          <a:bodyPr wrap="square" lIns="0" tIns="0" rIns="0" bIns="0" rtlCol="0" anchor="ctr"/>
          <a:lstStyle/>
          <a:p>
            <a:pPr indent="0" marL="0">
              <a:buNone/>
            </a:pPr>
            <a:r>
              <a:rPr lang="en-US" sz="1900" b="1" dirty="0">
                <a:solidFill>
                  <a:srgbClr val="1B2333"/>
                </a:solidFill>
                <a:latin typeface="Calibri" pitchFamily="34" charset="0"/>
                <a:ea typeface="Calibri" pitchFamily="34" charset="-122"/>
                <a:cs typeface="Calibri" pitchFamily="34" charset="-120"/>
              </a:rPr>
              <a:t>Effet du voisinage mesuré</a:t>
            </a:r>
            <a:endParaRPr lang="en-US" sz="1900" dirty="0"/>
          </a:p>
        </p:txBody>
      </p:sp>
      <p:sp>
        <p:nvSpPr>
          <p:cNvPr id="14" name="a3_d"/>
          <p:cNvSpPr txBox="1"/>
          <p:nvPr/>
        </p:nvSpPr>
        <p:spPr>
          <a:xfrm>
            <a:off x="7726680" y="3337560"/>
            <a:ext cx="4023360" cy="731520"/>
          </a:xfrm>
          <a:prstGeom prst="rect">
            <a:avLst/>
          </a:prstGeom>
          <a:noFill/>
          <a:ln/>
        </p:spPr>
        <p:txBody>
          <a:bodyPr wrap="square" lIns="0" tIns="0" rIns="0" bIns="0" rtlCol="0" anchor="ctr"/>
          <a:lstStyle/>
          <a:p>
            <a:pPr indent="0" marL="0">
              <a:buNone/>
            </a:pPr>
            <a:r>
              <a:rPr lang="en-US" sz="1500" dirty="0">
                <a:solidFill>
                  <a:srgbClr val="5B6577"/>
                </a:solidFill>
                <a:latin typeface="Calibri" pitchFamily="34" charset="0"/>
                <a:ea typeface="Calibri" pitchFamily="34" charset="-122"/>
                <a:cs typeface="Calibri" pitchFamily="34" charset="-120"/>
              </a:rPr>
              <a:t>score 0,988–1,000 avec, 0,960–1,000 sans</a:t>
            </a:r>
            <a:endParaRPr lang="en-US" sz="1500" dirty="0"/>
          </a:p>
        </p:txBody>
      </p:sp>
      <p:sp>
        <p:nvSpPr>
          <p:cNvPr id="15" name="a4_i_disc"/>
          <p:cNvSpPr/>
          <p:nvPr/>
        </p:nvSpPr>
        <p:spPr>
          <a:xfrm>
            <a:off x="6675120" y="4343400"/>
            <a:ext cx="868680" cy="868680"/>
          </a:xfrm>
          <a:prstGeom prst="ellipse">
            <a:avLst/>
          </a:prstGeom>
          <a:solidFill>
            <a:srgbClr val="00A99D"/>
          </a:solidFill>
          <a:ln w="12700">
            <a:solidFill>
              <a:srgbClr val="00A99D"/>
            </a:solidFill>
            <a:prstDash val="solid"/>
          </a:ln>
        </p:spPr>
      </p:sp>
      <p:pic>
        <p:nvPicPr>
          <p:cNvPr id="16" name="a4_i_icon" descr="preencoded.png">    </p:cNvPr>
          <p:cNvPicPr>
            <a:picLocks noChangeAspect="1"/>
          </p:cNvPicPr>
          <p:nvPr/>
        </p:nvPicPr>
        <p:blipFill>
          <a:blip r:embed="rId4"/>
          <a:stretch>
            <a:fillRect/>
          </a:stretch>
        </p:blipFill>
        <p:spPr>
          <a:xfrm>
            <a:off x="6883603" y="4551883"/>
            <a:ext cx="451714" cy="451714"/>
          </a:xfrm>
          <a:prstGeom prst="rect">
            <a:avLst/>
          </a:prstGeom>
        </p:spPr>
      </p:pic>
      <p:sp>
        <p:nvSpPr>
          <p:cNvPr id="17" name="a4_t"/>
          <p:cNvSpPr txBox="1"/>
          <p:nvPr/>
        </p:nvSpPr>
        <p:spPr>
          <a:xfrm>
            <a:off x="7726680" y="4343400"/>
            <a:ext cx="4023360" cy="457200"/>
          </a:xfrm>
          <a:prstGeom prst="rect">
            <a:avLst/>
          </a:prstGeom>
          <a:noFill/>
          <a:ln/>
        </p:spPr>
        <p:txBody>
          <a:bodyPr wrap="square" lIns="0" tIns="0" rIns="0" bIns="0" rtlCol="0" anchor="ctr"/>
          <a:lstStyle/>
          <a:p>
            <a:pPr indent="0" marL="0">
              <a:buNone/>
            </a:pPr>
            <a:r>
              <a:rPr lang="en-US" sz="1900" b="1" dirty="0">
                <a:solidFill>
                  <a:srgbClr val="1B2333"/>
                </a:solidFill>
                <a:latin typeface="Calibri" pitchFamily="34" charset="0"/>
                <a:ea typeface="Calibri" pitchFamily="34" charset="-122"/>
                <a:cs typeface="Calibri" pitchFamily="34" charset="-120"/>
              </a:rPr>
              <a:t>Dossier d'alertes</a:t>
            </a:r>
            <a:endParaRPr lang="en-US" sz="1900" dirty="0"/>
          </a:p>
        </p:txBody>
      </p:sp>
      <p:sp>
        <p:nvSpPr>
          <p:cNvPr id="18" name="a4_d"/>
          <p:cNvSpPr txBox="1"/>
          <p:nvPr/>
        </p:nvSpPr>
        <p:spPr>
          <a:xfrm>
            <a:off x="7726680" y="4800600"/>
            <a:ext cx="4023360" cy="731520"/>
          </a:xfrm>
          <a:prstGeom prst="rect">
            <a:avLst/>
          </a:prstGeom>
          <a:noFill/>
          <a:ln/>
        </p:spPr>
        <p:txBody>
          <a:bodyPr wrap="square" lIns="0" tIns="0" rIns="0" bIns="0" rtlCol="0" anchor="ctr"/>
          <a:lstStyle/>
          <a:p>
            <a:pPr indent="0" marL="0">
              <a:buNone/>
            </a:pPr>
            <a:r>
              <a:rPr lang="en-US" sz="1500" dirty="0">
                <a:solidFill>
                  <a:srgbClr val="5B6577"/>
                </a:solidFill>
                <a:latin typeface="Calibri" pitchFamily="34" charset="0"/>
                <a:ea typeface="Calibri" pitchFamily="34" charset="-122"/>
                <a:cs typeface="Calibri" pitchFamily="34" charset="-120"/>
              </a:rPr>
              <a:t>les K alertes les plus fortes expliquées en une commande</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childTnLst>
                          </p:cTn>
                        </p:par>
                        <p:par>
                          <p:cTn id="14" fill="hold">
                            <p:stCondLst>
                              <p:cond delay="350"/>
                            </p:stCondLst>
                            <p:childTnLst>
                              <p:par>
                                <p:cTn id="15" presetID="10" presetClass="entr" presetSubtype="0" fill="hold" grpId="0" nodeType="after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par>
                                <p:cTn id="21" presetID="10" presetClass="entr" presetSubtype="0"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childTnLst>
                          </p:cTn>
                        </p:par>
                        <p:par>
                          <p:cTn id="27" fill="hold">
                            <p:stCondLst>
                              <p:cond delay="700"/>
                            </p:stCondLst>
                            <p:childTnLst>
                              <p:par>
                                <p:cTn id="28" presetID="10" presetClass="entr" presetSubtype="0" fill="hold" grpId="0" nodeType="after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childTnLst>
                                </p:cTn>
                              </p:par>
                            </p:childTnLst>
                          </p:cTn>
                        </p:par>
                        <p:par>
                          <p:cTn id="40" fill="hold">
                            <p:stCondLst>
                              <p:cond delay="1050"/>
                            </p:stCondLst>
                            <p:childTnLst>
                              <p:par>
                                <p:cTn id="41" presetID="10" presetClass="entr" presetSubtype="0" fill="hold" grpId="0" nodeType="after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500"/>
                                        <p:tgtEl>
                                          <p:spTgt spid="1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00"/>
                                        <p:tgtEl>
                                          <p:spTgt spid="16"/>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500"/>
                                        <p:tgtEl>
                                          <p:spTgt spid="17"/>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P spid="7" grpId="0" animBg="1"/>
      <p:bldP spid="9" grpId="0" animBg="1"/>
      <p:bldP spid="10" grpId="0" animBg="1"/>
      <p:bldP spid="11" grpId="0" animBg="1"/>
      <p:bldP spid="13" grpId="0" animBg="1"/>
      <p:bldP spid="14" grpId="0" animBg="1"/>
      <p:bldP spid="15" grpId="0" animBg="1"/>
      <p:bldP spid="17" grpId="0" animBg="1"/>
      <p:bldP spid="18"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rgbClr val="1B2333"/>
                </a:solidFill>
                <a:latin typeface="Cambria" pitchFamily="34" charset="0"/>
                <a:ea typeface="Cambria" pitchFamily="34" charset="-122"/>
                <a:cs typeface="Cambria" pitchFamily="34" charset="-120"/>
              </a:rPr>
              <a:t>Des interfaces prêtes à l'emploi, un code testé</a:t>
            </a:r>
            <a:endParaRPr lang="en-US" sz="3400" dirty="0"/>
          </a:p>
        </p:txBody>
      </p:sp>
      <p:sp>
        <p:nvSpPr>
          <p:cNvPr id="3" name="page"/>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100" dirty="0">
                <a:solidFill>
                  <a:srgbClr val="5B6577"/>
                </a:solidFill>
                <a:latin typeface="Calibri" pitchFamily="34" charset="0"/>
                <a:ea typeface="Calibri" pitchFamily="34" charset="-122"/>
                <a:cs typeface="Calibri" pitchFamily="34" charset="-120"/>
              </a:rPr>
              <a:t>13</a:t>
            </a:r>
            <a:endParaRPr lang="en-US" sz="1100" dirty="0"/>
          </a:p>
        </p:txBody>
      </p:sp>
      <p:sp>
        <p:nvSpPr>
          <p:cNvPr id="4" name="a1_c"/>
          <p:cNvSpPr/>
          <p:nvPr/>
        </p:nvSpPr>
        <p:spPr>
          <a:xfrm>
            <a:off x="640080" y="1325880"/>
            <a:ext cx="2560320" cy="2286000"/>
          </a:xfrm>
          <a:prstGeom prst="roundRect">
            <a:avLst>
              <a:gd name="adj" fmla="val 4800"/>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5" name="a1_i_disc"/>
          <p:cNvSpPr/>
          <p:nvPr/>
        </p:nvSpPr>
        <p:spPr>
          <a:xfrm>
            <a:off x="1508760" y="1508760"/>
            <a:ext cx="822960" cy="822960"/>
          </a:xfrm>
          <a:prstGeom prst="ellipse">
            <a:avLst/>
          </a:prstGeom>
          <a:solidFill>
            <a:srgbClr val="7B61FF"/>
          </a:solidFill>
          <a:ln w="12700">
            <a:solidFill>
              <a:srgbClr val="7B61FF"/>
            </a:solidFill>
            <a:prstDash val="solid"/>
          </a:ln>
        </p:spPr>
      </p:sp>
      <p:pic>
        <p:nvPicPr>
          <p:cNvPr id="6" name="a1_i_icon" descr="preencoded.png">    </p:cNvPr>
          <p:cNvPicPr>
            <a:picLocks noChangeAspect="1"/>
          </p:cNvPicPr>
          <p:nvPr/>
        </p:nvPicPr>
        <p:blipFill>
          <a:blip r:embed="rId1"/>
          <a:stretch>
            <a:fillRect/>
          </a:stretch>
        </p:blipFill>
        <p:spPr>
          <a:xfrm>
            <a:off x="1706270" y="1706270"/>
            <a:ext cx="427939" cy="427939"/>
          </a:xfrm>
          <a:prstGeom prst="rect">
            <a:avLst/>
          </a:prstGeom>
        </p:spPr>
      </p:pic>
      <p:sp>
        <p:nvSpPr>
          <p:cNvPr id="7" name="a1_t"/>
          <p:cNvSpPr txBox="1"/>
          <p:nvPr/>
        </p:nvSpPr>
        <p:spPr>
          <a:xfrm>
            <a:off x="731520" y="2468880"/>
            <a:ext cx="2377440" cy="411480"/>
          </a:xfrm>
          <a:prstGeom prst="rect">
            <a:avLst/>
          </a:prstGeom>
          <a:noFill/>
          <a:ln/>
        </p:spPr>
        <p:txBody>
          <a:bodyPr wrap="square" lIns="0" tIns="0" rIns="0" bIns="0" rtlCol="0" anchor="ctr"/>
          <a:lstStyle/>
          <a:p>
            <a:pPr algn="ctr" indent="0" marL="0">
              <a:buNone/>
            </a:pPr>
            <a:r>
              <a:rPr lang="en-US" sz="1800" b="1" dirty="0">
                <a:solidFill>
                  <a:srgbClr val="1B2333"/>
                </a:solidFill>
                <a:latin typeface="Calibri" pitchFamily="34" charset="0"/>
                <a:ea typeface="Calibri" pitchFamily="34" charset="-122"/>
                <a:cs typeface="Calibri" pitchFamily="34" charset="-120"/>
              </a:rPr>
              <a:t>Interface web</a:t>
            </a:r>
            <a:endParaRPr lang="en-US" sz="1800" dirty="0"/>
          </a:p>
        </p:txBody>
      </p:sp>
      <p:sp>
        <p:nvSpPr>
          <p:cNvPr id="8" name="a1_d"/>
          <p:cNvSpPr txBox="1"/>
          <p:nvPr/>
        </p:nvSpPr>
        <p:spPr>
          <a:xfrm>
            <a:off x="731520" y="2880360"/>
            <a:ext cx="2377440" cy="548640"/>
          </a:xfrm>
          <a:prstGeom prst="rect">
            <a:avLst/>
          </a:prstGeom>
          <a:noFill/>
          <a:ln/>
        </p:spPr>
        <p:txBody>
          <a:bodyPr wrap="square" lIns="0" tIns="0" rIns="0" bIns="0" rtlCol="0" anchor="ctr"/>
          <a:lstStyle/>
          <a:p>
            <a:pPr algn="ctr" indent="0" marL="0">
              <a:buNone/>
            </a:pPr>
            <a:r>
              <a:rPr lang="en-US" sz="1400" dirty="0">
                <a:solidFill>
                  <a:srgbClr val="5B6577"/>
                </a:solidFill>
                <a:latin typeface="Calibri" pitchFamily="34" charset="0"/>
                <a:ea typeface="Calibri" pitchFamily="34" charset="-122"/>
                <a:cs typeface="Calibri" pitchFamily="34" charset="-120"/>
              </a:rPr>
              <a:t>tableau de bord · alertes · comptes</a:t>
            </a:r>
            <a:endParaRPr lang="en-US" sz="1400" dirty="0"/>
          </a:p>
        </p:txBody>
      </p:sp>
      <p:sp>
        <p:nvSpPr>
          <p:cNvPr id="9" name="a2_c"/>
          <p:cNvSpPr/>
          <p:nvPr/>
        </p:nvSpPr>
        <p:spPr>
          <a:xfrm>
            <a:off x="3474720" y="1325880"/>
            <a:ext cx="2560320" cy="2286000"/>
          </a:xfrm>
          <a:prstGeom prst="roundRect">
            <a:avLst>
              <a:gd name="adj" fmla="val 4800"/>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10" name="a2_i_disc"/>
          <p:cNvSpPr/>
          <p:nvPr/>
        </p:nvSpPr>
        <p:spPr>
          <a:xfrm>
            <a:off x="4343400" y="1508760"/>
            <a:ext cx="822960" cy="822960"/>
          </a:xfrm>
          <a:prstGeom prst="ellipse">
            <a:avLst/>
          </a:prstGeom>
          <a:solidFill>
            <a:srgbClr val="16305C"/>
          </a:solidFill>
          <a:ln w="12700">
            <a:solidFill>
              <a:srgbClr val="16305C"/>
            </a:solidFill>
            <a:prstDash val="solid"/>
          </a:ln>
        </p:spPr>
      </p:sp>
      <p:pic>
        <p:nvPicPr>
          <p:cNvPr id="11" name="a2_i_icon" descr="preencoded.png">    </p:cNvPr>
          <p:cNvPicPr>
            <a:picLocks noChangeAspect="1"/>
          </p:cNvPicPr>
          <p:nvPr/>
        </p:nvPicPr>
        <p:blipFill>
          <a:blip r:embed="rId2"/>
          <a:stretch>
            <a:fillRect/>
          </a:stretch>
        </p:blipFill>
        <p:spPr>
          <a:xfrm>
            <a:off x="4540910" y="1706270"/>
            <a:ext cx="427939" cy="427939"/>
          </a:xfrm>
          <a:prstGeom prst="rect">
            <a:avLst/>
          </a:prstGeom>
        </p:spPr>
      </p:pic>
      <p:sp>
        <p:nvSpPr>
          <p:cNvPr id="12" name="a2_t"/>
          <p:cNvSpPr txBox="1"/>
          <p:nvPr/>
        </p:nvSpPr>
        <p:spPr>
          <a:xfrm>
            <a:off x="3566160" y="2468880"/>
            <a:ext cx="2377440" cy="411480"/>
          </a:xfrm>
          <a:prstGeom prst="rect">
            <a:avLst/>
          </a:prstGeom>
          <a:noFill/>
          <a:ln/>
        </p:spPr>
        <p:txBody>
          <a:bodyPr wrap="square" lIns="0" tIns="0" rIns="0" bIns="0" rtlCol="0" anchor="ctr"/>
          <a:lstStyle/>
          <a:p>
            <a:pPr algn="ctr" indent="0" marL="0">
              <a:buNone/>
            </a:pPr>
            <a:r>
              <a:rPr lang="en-US" sz="1800" b="1" dirty="0">
                <a:solidFill>
                  <a:srgbClr val="1B2333"/>
                </a:solidFill>
                <a:latin typeface="Calibri" pitchFamily="34" charset="0"/>
                <a:ea typeface="Calibri" pitchFamily="34" charset="-122"/>
                <a:cs typeface="Calibri" pitchFamily="34" charset="-120"/>
              </a:rPr>
              <a:t>CLI amlgm</a:t>
            </a:r>
            <a:endParaRPr lang="en-US" sz="1800" dirty="0"/>
          </a:p>
        </p:txBody>
      </p:sp>
      <p:sp>
        <p:nvSpPr>
          <p:cNvPr id="13" name="a2_d"/>
          <p:cNvSpPr txBox="1"/>
          <p:nvPr/>
        </p:nvSpPr>
        <p:spPr>
          <a:xfrm>
            <a:off x="3566160" y="2880360"/>
            <a:ext cx="2377440" cy="548640"/>
          </a:xfrm>
          <a:prstGeom prst="rect">
            <a:avLst/>
          </a:prstGeom>
          <a:noFill/>
          <a:ln/>
        </p:spPr>
        <p:txBody>
          <a:bodyPr wrap="square" lIns="0" tIns="0" rIns="0" bIns="0" rtlCol="0" anchor="ctr"/>
          <a:lstStyle/>
          <a:p>
            <a:pPr algn="ctr" indent="0" marL="0">
              <a:buNone/>
            </a:pPr>
            <a:r>
              <a:rPr lang="en-US" sz="1400" dirty="0">
                <a:solidFill>
                  <a:srgbClr val="5B6577"/>
                </a:solidFill>
                <a:latin typeface="Calibri" pitchFamily="34" charset="0"/>
                <a:ea typeface="Calibri" pitchFamily="34" charset="-122"/>
                <a:cs typeface="Calibri" pitchFamily="34" charset="-120"/>
              </a:rPr>
              <a:t>scan · train · explain · serve</a:t>
            </a:r>
            <a:endParaRPr lang="en-US" sz="1400" dirty="0"/>
          </a:p>
        </p:txBody>
      </p:sp>
      <p:sp>
        <p:nvSpPr>
          <p:cNvPr id="14" name="a3_c"/>
          <p:cNvSpPr/>
          <p:nvPr/>
        </p:nvSpPr>
        <p:spPr>
          <a:xfrm>
            <a:off x="6309360" y="1325880"/>
            <a:ext cx="2560320" cy="2286000"/>
          </a:xfrm>
          <a:prstGeom prst="roundRect">
            <a:avLst>
              <a:gd name="adj" fmla="val 4800"/>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15" name="a3_i_disc"/>
          <p:cNvSpPr/>
          <p:nvPr/>
        </p:nvSpPr>
        <p:spPr>
          <a:xfrm>
            <a:off x="7178040" y="1508760"/>
            <a:ext cx="822960" cy="822960"/>
          </a:xfrm>
          <a:prstGeom prst="ellipse">
            <a:avLst/>
          </a:prstGeom>
          <a:solidFill>
            <a:srgbClr val="4C9BE8"/>
          </a:solidFill>
          <a:ln w="12700">
            <a:solidFill>
              <a:srgbClr val="4C9BE8"/>
            </a:solidFill>
            <a:prstDash val="solid"/>
          </a:ln>
        </p:spPr>
      </p:sp>
      <p:pic>
        <p:nvPicPr>
          <p:cNvPr id="16" name="a3_i_icon" descr="preencoded.png">    </p:cNvPr>
          <p:cNvPicPr>
            <a:picLocks noChangeAspect="1"/>
          </p:cNvPicPr>
          <p:nvPr/>
        </p:nvPicPr>
        <p:blipFill>
          <a:blip r:embed="rId3"/>
          <a:stretch>
            <a:fillRect/>
          </a:stretch>
        </p:blipFill>
        <p:spPr>
          <a:xfrm>
            <a:off x="7375550" y="1706270"/>
            <a:ext cx="427939" cy="427939"/>
          </a:xfrm>
          <a:prstGeom prst="rect">
            <a:avLst/>
          </a:prstGeom>
        </p:spPr>
      </p:pic>
      <p:sp>
        <p:nvSpPr>
          <p:cNvPr id="17" name="a3_t"/>
          <p:cNvSpPr txBox="1"/>
          <p:nvPr/>
        </p:nvSpPr>
        <p:spPr>
          <a:xfrm>
            <a:off x="6400800" y="2468880"/>
            <a:ext cx="2377440" cy="411480"/>
          </a:xfrm>
          <a:prstGeom prst="rect">
            <a:avLst/>
          </a:prstGeom>
          <a:noFill/>
          <a:ln/>
        </p:spPr>
        <p:txBody>
          <a:bodyPr wrap="square" lIns="0" tIns="0" rIns="0" bIns="0" rtlCol="0" anchor="ctr"/>
          <a:lstStyle/>
          <a:p>
            <a:pPr algn="ctr" indent="0" marL="0">
              <a:buNone/>
            </a:pPr>
            <a:r>
              <a:rPr lang="en-US" sz="1800" b="1" dirty="0">
                <a:solidFill>
                  <a:srgbClr val="1B2333"/>
                </a:solidFill>
                <a:latin typeface="Calibri" pitchFamily="34" charset="0"/>
                <a:ea typeface="Calibri" pitchFamily="34" charset="-122"/>
                <a:cs typeface="Calibri" pitchFamily="34" charset="-120"/>
              </a:rPr>
              <a:t>API REST</a:t>
            </a:r>
            <a:endParaRPr lang="en-US" sz="1800" dirty="0"/>
          </a:p>
        </p:txBody>
      </p:sp>
      <p:sp>
        <p:nvSpPr>
          <p:cNvPr id="18" name="a3_d"/>
          <p:cNvSpPr txBox="1"/>
          <p:nvPr/>
        </p:nvSpPr>
        <p:spPr>
          <a:xfrm>
            <a:off x="6400800" y="2880360"/>
            <a:ext cx="2377440" cy="548640"/>
          </a:xfrm>
          <a:prstGeom prst="rect">
            <a:avLst/>
          </a:prstGeom>
          <a:noFill/>
          <a:ln/>
        </p:spPr>
        <p:txBody>
          <a:bodyPr wrap="square" lIns="0" tIns="0" rIns="0" bIns="0" rtlCol="0" anchor="ctr"/>
          <a:lstStyle/>
          <a:p>
            <a:pPr algn="ctr" indent="0" marL="0">
              <a:buNone/>
            </a:pPr>
            <a:r>
              <a:rPr lang="en-US" sz="1400" dirty="0">
                <a:solidFill>
                  <a:srgbClr val="5B6577"/>
                </a:solidFill>
                <a:latin typeface="Calibri" pitchFamily="34" charset="0"/>
                <a:ea typeface="Calibri" pitchFamily="34" charset="-122"/>
                <a:cs typeface="Calibri" pitchFamily="34" charset="-120"/>
              </a:rPr>
              <a:t>FastAPI · OpenAPI 3.1</a:t>
            </a:r>
            <a:endParaRPr lang="en-US" sz="1400" dirty="0"/>
          </a:p>
        </p:txBody>
      </p:sp>
      <p:sp>
        <p:nvSpPr>
          <p:cNvPr id="19" name="a4_c"/>
          <p:cNvSpPr/>
          <p:nvPr/>
        </p:nvSpPr>
        <p:spPr>
          <a:xfrm>
            <a:off x="9144000" y="1325880"/>
            <a:ext cx="2560320" cy="2286000"/>
          </a:xfrm>
          <a:prstGeom prst="roundRect">
            <a:avLst>
              <a:gd name="adj" fmla="val 4800"/>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20" name="a4_i_disc"/>
          <p:cNvSpPr/>
          <p:nvPr/>
        </p:nvSpPr>
        <p:spPr>
          <a:xfrm>
            <a:off x="10012680" y="1508760"/>
            <a:ext cx="822960" cy="822960"/>
          </a:xfrm>
          <a:prstGeom prst="ellipse">
            <a:avLst/>
          </a:prstGeom>
          <a:solidFill>
            <a:srgbClr val="2496ED"/>
          </a:solidFill>
          <a:ln w="12700">
            <a:solidFill>
              <a:srgbClr val="2496ED"/>
            </a:solidFill>
            <a:prstDash val="solid"/>
          </a:ln>
        </p:spPr>
      </p:sp>
      <p:pic>
        <p:nvPicPr>
          <p:cNvPr id="21" name="a4_i_icon" descr="preencoded.png">    </p:cNvPr>
          <p:cNvPicPr>
            <a:picLocks noChangeAspect="1"/>
          </p:cNvPicPr>
          <p:nvPr/>
        </p:nvPicPr>
        <p:blipFill>
          <a:blip r:embed="rId4"/>
          <a:stretch>
            <a:fillRect/>
          </a:stretch>
        </p:blipFill>
        <p:spPr>
          <a:xfrm>
            <a:off x="10210190" y="1706270"/>
            <a:ext cx="427939" cy="427939"/>
          </a:xfrm>
          <a:prstGeom prst="rect">
            <a:avLst/>
          </a:prstGeom>
        </p:spPr>
      </p:pic>
      <p:sp>
        <p:nvSpPr>
          <p:cNvPr id="22" name="a4_t"/>
          <p:cNvSpPr txBox="1"/>
          <p:nvPr/>
        </p:nvSpPr>
        <p:spPr>
          <a:xfrm>
            <a:off x="9235440" y="2468880"/>
            <a:ext cx="2377440" cy="411480"/>
          </a:xfrm>
          <a:prstGeom prst="rect">
            <a:avLst/>
          </a:prstGeom>
          <a:noFill/>
          <a:ln/>
        </p:spPr>
        <p:txBody>
          <a:bodyPr wrap="square" lIns="0" tIns="0" rIns="0" bIns="0" rtlCol="0" anchor="ctr"/>
          <a:lstStyle/>
          <a:p>
            <a:pPr algn="ctr" indent="0" marL="0">
              <a:buNone/>
            </a:pPr>
            <a:r>
              <a:rPr lang="en-US" sz="1800" b="1" dirty="0">
                <a:solidFill>
                  <a:srgbClr val="1B2333"/>
                </a:solidFill>
                <a:latin typeface="Calibri" pitchFamily="34" charset="0"/>
                <a:ea typeface="Calibri" pitchFamily="34" charset="-122"/>
                <a:cs typeface="Calibri" pitchFamily="34" charset="-120"/>
              </a:rPr>
              <a:t>Docker</a:t>
            </a:r>
            <a:endParaRPr lang="en-US" sz="1800" dirty="0"/>
          </a:p>
        </p:txBody>
      </p:sp>
      <p:sp>
        <p:nvSpPr>
          <p:cNvPr id="23" name="a4_d"/>
          <p:cNvSpPr txBox="1"/>
          <p:nvPr/>
        </p:nvSpPr>
        <p:spPr>
          <a:xfrm>
            <a:off x="9235440" y="2880360"/>
            <a:ext cx="2377440" cy="548640"/>
          </a:xfrm>
          <a:prstGeom prst="rect">
            <a:avLst/>
          </a:prstGeom>
          <a:noFill/>
          <a:ln/>
        </p:spPr>
        <p:txBody>
          <a:bodyPr wrap="square" lIns="0" tIns="0" rIns="0" bIns="0" rtlCol="0" anchor="ctr"/>
          <a:lstStyle/>
          <a:p>
            <a:pPr algn="ctr" indent="0" marL="0">
              <a:buNone/>
            </a:pPr>
            <a:r>
              <a:rPr lang="en-US" sz="1400" dirty="0">
                <a:solidFill>
                  <a:srgbClr val="5B6577"/>
                </a:solidFill>
                <a:latin typeface="Calibri" pitchFamily="34" charset="0"/>
                <a:ea typeface="Calibri" pitchFamily="34" charset="-122"/>
                <a:cs typeface="Calibri" pitchFamily="34" charset="-120"/>
              </a:rPr>
              <a:t>démo en une commande</a:t>
            </a:r>
            <a:endParaRPr lang="en-US" sz="1400" dirty="0"/>
          </a:p>
        </p:txBody>
      </p:sp>
      <p:sp>
        <p:nvSpPr>
          <p:cNvPr id="24" name="a5_q0"/>
          <p:cNvSpPr txBox="1"/>
          <p:nvPr/>
        </p:nvSpPr>
        <p:spPr>
          <a:xfrm>
            <a:off x="640080" y="4114800"/>
            <a:ext cx="3383280" cy="1005840"/>
          </a:xfrm>
          <a:prstGeom prst="rect">
            <a:avLst/>
          </a:prstGeom>
          <a:noFill/>
          <a:ln/>
        </p:spPr>
        <p:txBody>
          <a:bodyPr wrap="square" lIns="0" tIns="0" rIns="0" bIns="0" rtlCol="0" anchor="ctr"/>
          <a:lstStyle/>
          <a:p>
            <a:pPr algn="ctr" indent="0" marL="0">
              <a:buNone/>
            </a:pPr>
            <a:r>
              <a:rPr lang="en-US" sz="5400" b="1" dirty="0">
                <a:solidFill>
                  <a:srgbClr val="00A99D"/>
                </a:solidFill>
                <a:latin typeface="Cambria" pitchFamily="34" charset="0"/>
                <a:ea typeface="Cambria" pitchFamily="34" charset="-122"/>
                <a:cs typeface="Cambria" pitchFamily="34" charset="-120"/>
              </a:rPr>
              <a:t>475</a:t>
            </a:r>
            <a:endParaRPr lang="en-US" sz="5400" dirty="0"/>
          </a:p>
        </p:txBody>
      </p:sp>
      <p:sp>
        <p:nvSpPr>
          <p:cNvPr id="25" name="a5_l0"/>
          <p:cNvSpPr txBox="1"/>
          <p:nvPr/>
        </p:nvSpPr>
        <p:spPr>
          <a:xfrm>
            <a:off x="640080" y="5120640"/>
            <a:ext cx="3383280" cy="457200"/>
          </a:xfrm>
          <a:prstGeom prst="rect">
            <a:avLst/>
          </a:prstGeom>
          <a:noFill/>
          <a:ln/>
        </p:spPr>
        <p:txBody>
          <a:bodyPr wrap="square" lIns="0" tIns="0" rIns="0" bIns="0" rtlCol="0" anchor="ctr"/>
          <a:lstStyle/>
          <a:p>
            <a:pPr algn="ctr" indent="0" marL="0">
              <a:buNone/>
            </a:pPr>
            <a:r>
              <a:rPr lang="en-US" sz="1600" dirty="0">
                <a:solidFill>
                  <a:srgbClr val="5B6577"/>
                </a:solidFill>
                <a:latin typeface="Calibri" pitchFamily="34" charset="0"/>
                <a:ea typeface="Calibri" pitchFamily="34" charset="-122"/>
                <a:cs typeface="Calibri" pitchFamily="34" charset="-120"/>
              </a:rPr>
              <a:t>tests automatiques</a:t>
            </a:r>
            <a:endParaRPr lang="en-US" sz="1600" dirty="0"/>
          </a:p>
        </p:txBody>
      </p:sp>
      <p:sp>
        <p:nvSpPr>
          <p:cNvPr id="26" name="a5_q1"/>
          <p:cNvSpPr txBox="1"/>
          <p:nvPr/>
        </p:nvSpPr>
        <p:spPr>
          <a:xfrm>
            <a:off x="4389120" y="4114800"/>
            <a:ext cx="3383280" cy="1005840"/>
          </a:xfrm>
          <a:prstGeom prst="rect">
            <a:avLst/>
          </a:prstGeom>
          <a:noFill/>
          <a:ln/>
        </p:spPr>
        <p:txBody>
          <a:bodyPr wrap="square" lIns="0" tIns="0" rIns="0" bIns="0" rtlCol="0" anchor="ctr"/>
          <a:lstStyle/>
          <a:p>
            <a:pPr algn="ctr" indent="0" marL="0">
              <a:buNone/>
            </a:pPr>
            <a:r>
              <a:rPr lang="en-US" sz="5400" b="1" dirty="0">
                <a:solidFill>
                  <a:srgbClr val="F5B700"/>
                </a:solidFill>
                <a:latin typeface="Cambria" pitchFamily="34" charset="0"/>
                <a:ea typeface="Cambria" pitchFamily="34" charset="-122"/>
                <a:cs typeface="Cambria" pitchFamily="34" charset="-120"/>
              </a:rPr>
              <a:t>98 %</a:t>
            </a:r>
            <a:endParaRPr lang="en-US" sz="5400" dirty="0"/>
          </a:p>
        </p:txBody>
      </p:sp>
      <p:sp>
        <p:nvSpPr>
          <p:cNvPr id="27" name="a5_l1"/>
          <p:cNvSpPr txBox="1"/>
          <p:nvPr/>
        </p:nvSpPr>
        <p:spPr>
          <a:xfrm>
            <a:off x="4389120" y="5120640"/>
            <a:ext cx="3383280" cy="457200"/>
          </a:xfrm>
          <a:prstGeom prst="rect">
            <a:avLst/>
          </a:prstGeom>
          <a:noFill/>
          <a:ln/>
        </p:spPr>
        <p:txBody>
          <a:bodyPr wrap="square" lIns="0" tIns="0" rIns="0" bIns="0" rtlCol="0" anchor="ctr"/>
          <a:lstStyle/>
          <a:p>
            <a:pPr algn="ctr" indent="0" marL="0">
              <a:buNone/>
            </a:pPr>
            <a:r>
              <a:rPr lang="en-US" sz="1600" dirty="0">
                <a:solidFill>
                  <a:srgbClr val="5B6577"/>
                </a:solidFill>
                <a:latin typeface="Calibri" pitchFamily="34" charset="0"/>
                <a:ea typeface="Calibri" pitchFamily="34" charset="-122"/>
                <a:cs typeface="Calibri" pitchFamily="34" charset="-120"/>
              </a:rPr>
              <a:t>du code couvert</a:t>
            </a:r>
            <a:endParaRPr lang="en-US" sz="1600" dirty="0"/>
          </a:p>
        </p:txBody>
      </p:sp>
      <p:sp>
        <p:nvSpPr>
          <p:cNvPr id="28" name="a5_q2"/>
          <p:cNvSpPr txBox="1"/>
          <p:nvPr/>
        </p:nvSpPr>
        <p:spPr>
          <a:xfrm>
            <a:off x="8138160" y="4114800"/>
            <a:ext cx="3383280" cy="1005840"/>
          </a:xfrm>
          <a:prstGeom prst="rect">
            <a:avLst/>
          </a:prstGeom>
          <a:noFill/>
          <a:ln/>
        </p:spPr>
        <p:txBody>
          <a:bodyPr wrap="square" lIns="0" tIns="0" rIns="0" bIns="0" rtlCol="0" anchor="ctr"/>
          <a:lstStyle/>
          <a:p>
            <a:pPr algn="ctr" indent="0" marL="0">
              <a:buNone/>
            </a:pPr>
            <a:r>
              <a:rPr lang="en-US" sz="5400" b="1" dirty="0">
                <a:solidFill>
                  <a:srgbClr val="F2545B"/>
                </a:solidFill>
                <a:latin typeface="Cambria" pitchFamily="34" charset="0"/>
                <a:ea typeface="Cambria" pitchFamily="34" charset="-122"/>
                <a:cs typeface="Cambria" pitchFamily="34" charset="-120"/>
              </a:rPr>
              <a:t>CI</a:t>
            </a:r>
            <a:endParaRPr lang="en-US" sz="5400" dirty="0"/>
          </a:p>
        </p:txBody>
      </p:sp>
      <p:sp>
        <p:nvSpPr>
          <p:cNvPr id="29" name="a5_l2"/>
          <p:cNvSpPr txBox="1"/>
          <p:nvPr/>
        </p:nvSpPr>
        <p:spPr>
          <a:xfrm>
            <a:off x="8138160" y="5120640"/>
            <a:ext cx="3383280" cy="457200"/>
          </a:xfrm>
          <a:prstGeom prst="rect">
            <a:avLst/>
          </a:prstGeom>
          <a:noFill/>
          <a:ln/>
        </p:spPr>
        <p:txBody>
          <a:bodyPr wrap="square" lIns="0" tIns="0" rIns="0" bIns="0" rtlCol="0" anchor="ctr"/>
          <a:lstStyle/>
          <a:p>
            <a:pPr algn="ctr" indent="0" marL="0">
              <a:buNone/>
            </a:pPr>
            <a:r>
              <a:rPr lang="en-US" sz="1600" dirty="0">
                <a:solidFill>
                  <a:srgbClr val="5B6577"/>
                </a:solidFill>
                <a:latin typeface="Calibri" pitchFamily="34" charset="0"/>
                <a:ea typeface="Calibri" pitchFamily="34" charset="-122"/>
                <a:cs typeface="Calibri" pitchFamily="34" charset="-120"/>
              </a:rPr>
              <a:t>Linux · Windows · macOS</a:t>
            </a:r>
            <a:endParaRPr lang="en-US" sz="16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childTnLst>
                          </p:cTn>
                        </p:par>
                        <p:par>
                          <p:cTn id="20" fill="hold">
                            <p:stCondLst>
                              <p:cond delay="350"/>
                            </p:stCondLst>
                            <p:childTnLst>
                              <p:par>
                                <p:cTn id="21" presetID="10" presetClass="entr" presetSubtype="0" fill="hold" grpId="0" nodeType="after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childTnLst>
                                </p:cTn>
                              </p:par>
                              <p:par>
                                <p:cTn id="24" presetID="10" presetClass="entr" presetSubtype="0" fill="hold" grpId="0" nodeType="with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childTnLst>
                                </p:cTn>
                              </p:par>
                              <p:par>
                                <p:cTn id="27" presetID="10" presetClass="entr" presetSubtype="0" fill="hold" grpId="0"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500"/>
                                        <p:tgtEl>
                                          <p:spTgt spid="11"/>
                                        </p:tgtEl>
                                      </p:cBhvr>
                                    </p:animEffect>
                                  </p:childTnLst>
                                </p:cTn>
                              </p:par>
                              <p:par>
                                <p:cTn id="30" presetID="10" presetClass="entr" presetSubtype="0" fill="hold" grpId="0"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500"/>
                                        <p:tgtEl>
                                          <p:spTgt spid="13"/>
                                        </p:tgtEl>
                                      </p:cBhvr>
                                    </p:animEffect>
                                  </p:childTnLst>
                                </p:cTn>
                              </p:par>
                            </p:childTnLst>
                          </p:cTn>
                        </p:par>
                        <p:par>
                          <p:cTn id="36" fill="hold">
                            <p:stCondLst>
                              <p:cond delay="700"/>
                            </p:stCondLst>
                            <p:childTnLst>
                              <p:par>
                                <p:cTn id="37" presetID="10" presetClass="entr" presetSubtype="0" fill="hold" grpId="0" nodeType="after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500"/>
                                        <p:tgtEl>
                                          <p:spTgt spid="1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500"/>
                                        <p:tgtEl>
                                          <p:spTgt spid="1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500"/>
                                        <p:tgtEl>
                                          <p:spTgt spid="1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500"/>
                                        <p:tgtEl>
                                          <p:spTgt spid="18"/>
                                        </p:tgtEl>
                                      </p:cBhvr>
                                    </p:animEffect>
                                  </p:childTnLst>
                                </p:cTn>
                              </p:par>
                            </p:childTnLst>
                          </p:cTn>
                        </p:par>
                        <p:par>
                          <p:cTn id="52" fill="hold">
                            <p:stCondLst>
                              <p:cond delay="1050"/>
                            </p:stCondLst>
                            <p:childTnLst>
                              <p:par>
                                <p:cTn id="53" presetID="10" presetClass="entr" presetSubtype="0" fill="hold" grpId="0" nodeType="after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500"/>
                                        <p:tgtEl>
                                          <p:spTgt spid="19"/>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500"/>
                                        <p:tgtEl>
                                          <p:spTgt spid="20"/>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500"/>
                                        <p:tgtEl>
                                          <p:spTgt spid="21"/>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2"/>
                                        </p:tgtEl>
                                        <p:attrNameLst>
                                          <p:attrName>style.visibility</p:attrName>
                                        </p:attrNameLst>
                                      </p:cBhvr>
                                      <p:to>
                                        <p:strVal val="visible"/>
                                      </p:to>
                                    </p:set>
                                    <p:animEffect transition="in" filter="fade">
                                      <p:cBhvr>
                                        <p:cTn id="64" dur="500"/>
                                        <p:tgtEl>
                                          <p:spTgt spid="22"/>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3"/>
                                        </p:tgtEl>
                                        <p:attrNameLst>
                                          <p:attrName>style.visibility</p:attrName>
                                        </p:attrNameLst>
                                      </p:cBhvr>
                                      <p:to>
                                        <p:strVal val="visible"/>
                                      </p:to>
                                    </p:set>
                                    <p:animEffect transition="in" filter="fade">
                                      <p:cBhvr>
                                        <p:cTn id="67" dur="500"/>
                                        <p:tgtEl>
                                          <p:spTgt spid="23"/>
                                        </p:tgtEl>
                                      </p:cBhvr>
                                    </p:animEffect>
                                  </p:childTnLst>
                                </p:cTn>
                              </p:par>
                            </p:childTnLst>
                          </p:cTn>
                        </p:par>
                        <p:par>
                          <p:cTn id="68" fill="hold">
                            <p:stCondLst>
                              <p:cond delay="1400"/>
                            </p:stCondLst>
                            <p:childTnLst>
                              <p:par>
                                <p:cTn id="69" presetID="10" presetClass="entr" presetSubtype="0" fill="hold" grpId="0" nodeType="afterEffect">
                                  <p:stCondLst>
                                    <p:cond delay="0"/>
                                  </p:stCondLst>
                                  <p:childTnLst>
                                    <p:set>
                                      <p:cBhvr>
                                        <p:cTn id="70" dur="1" fill="hold">
                                          <p:stCondLst>
                                            <p:cond delay="0"/>
                                          </p:stCondLst>
                                        </p:cTn>
                                        <p:tgtEl>
                                          <p:spTgt spid="24"/>
                                        </p:tgtEl>
                                        <p:attrNameLst>
                                          <p:attrName>style.visibility</p:attrName>
                                        </p:attrNameLst>
                                      </p:cBhvr>
                                      <p:to>
                                        <p:strVal val="visible"/>
                                      </p:to>
                                    </p:set>
                                    <p:animEffect transition="in" filter="fade">
                                      <p:cBhvr>
                                        <p:cTn id="71" dur="500"/>
                                        <p:tgtEl>
                                          <p:spTgt spid="24"/>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500"/>
                                        <p:tgtEl>
                                          <p:spTgt spid="25"/>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6"/>
                                        </p:tgtEl>
                                        <p:attrNameLst>
                                          <p:attrName>style.visibility</p:attrName>
                                        </p:attrNameLst>
                                      </p:cBhvr>
                                      <p:to>
                                        <p:strVal val="visible"/>
                                      </p:to>
                                    </p:set>
                                    <p:animEffect transition="in" filter="fade">
                                      <p:cBhvr>
                                        <p:cTn id="77" dur="500"/>
                                        <p:tgtEl>
                                          <p:spTgt spid="26"/>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7"/>
                                        </p:tgtEl>
                                        <p:attrNameLst>
                                          <p:attrName>style.visibility</p:attrName>
                                        </p:attrNameLst>
                                      </p:cBhvr>
                                      <p:to>
                                        <p:strVal val="visible"/>
                                      </p:to>
                                    </p:set>
                                    <p:animEffect transition="in" filter="fade">
                                      <p:cBhvr>
                                        <p:cTn id="80" dur="500"/>
                                        <p:tgtEl>
                                          <p:spTgt spid="27"/>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8"/>
                                        </p:tgtEl>
                                        <p:attrNameLst>
                                          <p:attrName>style.visibility</p:attrName>
                                        </p:attrNameLst>
                                      </p:cBhvr>
                                      <p:to>
                                        <p:strVal val="visible"/>
                                      </p:to>
                                    </p:set>
                                    <p:animEffect transition="in" filter="fade">
                                      <p:cBhvr>
                                        <p:cTn id="83" dur="500"/>
                                        <p:tgtEl>
                                          <p:spTgt spid="28"/>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9"/>
                                        </p:tgtEl>
                                        <p:attrNameLst>
                                          <p:attrName>style.visibility</p:attrName>
                                        </p:attrNameLst>
                                      </p:cBhvr>
                                      <p:to>
                                        <p:strVal val="visible"/>
                                      </p:to>
                                    </p:set>
                                    <p:animEffect transition="in" filter="fade">
                                      <p:cBhvr>
                                        <p:cTn id="86"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2" grpId="0" animBg="1"/>
      <p:bldP spid="13" grpId="0" animBg="1"/>
      <p:bldP spid="14" grpId="0" animBg="1"/>
      <p:bldP spid="15" grpId="0" animBg="1"/>
      <p:bldP spid="17" grpId="0" animBg="1"/>
      <p:bldP spid="18" grpId="0" animBg="1"/>
      <p:bldP spid="19" grpId="0" animBg="1"/>
      <p:bldP spid="20" grpId="0" animBg="1"/>
      <p:bldP spid="22" grpId="0" animBg="1"/>
      <p:bldP spid="23" grpId="0" animBg="1"/>
      <p:bldP spid="24" grpId="0" animBg="1"/>
      <p:bldP spid="25" grpId="0" animBg="1"/>
      <p:bldP spid="26" grpId="0" animBg="1"/>
      <p:bldP spid="27" grpId="0" animBg="1"/>
      <p:bldP spid="28" grpId="0" animBg="1"/>
      <p:bldP spid="29"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rgbClr val="1B2333"/>
                </a:solidFill>
                <a:latin typeface="Cambria" pitchFamily="34" charset="0"/>
                <a:ea typeface="Cambria" pitchFamily="34" charset="-122"/>
                <a:cs typeface="Cambria" pitchFamily="34" charset="-120"/>
              </a:rPr>
              <a:t>Bilan par rapport au cahier des charges</a:t>
            </a:r>
            <a:endParaRPr lang="en-US" sz="3400" dirty="0"/>
          </a:p>
        </p:txBody>
      </p:sp>
      <p:sp>
        <p:nvSpPr>
          <p:cNvPr id="3" name="page"/>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100" dirty="0">
                <a:solidFill>
                  <a:srgbClr val="5B6577"/>
                </a:solidFill>
                <a:latin typeface="Calibri" pitchFamily="34" charset="0"/>
                <a:ea typeface="Calibri" pitchFamily="34" charset="-122"/>
                <a:cs typeface="Calibri" pitchFamily="34" charset="-120"/>
              </a:rPr>
              <a:t>14</a:t>
            </a:r>
            <a:endParaRPr lang="en-US" sz="1100" dirty="0"/>
          </a:p>
        </p:txBody>
      </p:sp>
      <p:sp>
        <p:nvSpPr>
          <p:cNvPr id="4" name="a1_c0"/>
          <p:cNvSpPr/>
          <p:nvPr/>
        </p:nvSpPr>
        <p:spPr>
          <a:xfrm>
            <a:off x="640080" y="1371600"/>
            <a:ext cx="2606040" cy="1188720"/>
          </a:xfrm>
          <a:prstGeom prst="roundRect">
            <a:avLst>
              <a:gd name="adj" fmla="val 9231"/>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5" name="a1_s0_disc"/>
          <p:cNvSpPr/>
          <p:nvPr/>
        </p:nvSpPr>
        <p:spPr>
          <a:xfrm>
            <a:off x="822960" y="1645920"/>
            <a:ext cx="640080" cy="640080"/>
          </a:xfrm>
          <a:prstGeom prst="ellipse">
            <a:avLst/>
          </a:prstGeom>
          <a:solidFill>
            <a:srgbClr val="00A99D"/>
          </a:solidFill>
          <a:ln w="12700">
            <a:solidFill>
              <a:srgbClr val="00A99D"/>
            </a:solidFill>
            <a:prstDash val="solid"/>
          </a:ln>
        </p:spPr>
      </p:sp>
      <p:pic>
        <p:nvPicPr>
          <p:cNvPr id="6" name="a1_s0_icon" descr="preencoded.png">    </p:cNvPr>
          <p:cNvPicPr>
            <a:picLocks noChangeAspect="1"/>
          </p:cNvPicPr>
          <p:nvPr/>
        </p:nvPicPr>
        <p:blipFill>
          <a:blip r:embed="rId1"/>
          <a:stretch>
            <a:fillRect/>
          </a:stretch>
        </p:blipFill>
        <p:spPr>
          <a:xfrm>
            <a:off x="976579" y="1799539"/>
            <a:ext cx="332842" cy="332842"/>
          </a:xfrm>
          <a:prstGeom prst="rect">
            <a:avLst/>
          </a:prstGeom>
        </p:spPr>
      </p:pic>
      <p:sp>
        <p:nvSpPr>
          <p:cNvPr id="7" name="a1_k0"/>
          <p:cNvSpPr txBox="1"/>
          <p:nvPr/>
        </p:nvSpPr>
        <p:spPr>
          <a:xfrm>
            <a:off x="1600200" y="1536192"/>
            <a:ext cx="1554480" cy="411480"/>
          </a:xfrm>
          <a:prstGeom prst="rect">
            <a:avLst/>
          </a:prstGeom>
          <a:noFill/>
          <a:ln/>
        </p:spPr>
        <p:txBody>
          <a:bodyPr wrap="square" lIns="0" tIns="0" rIns="0" bIns="0" rtlCol="0" anchor="ctr"/>
          <a:lstStyle/>
          <a:p>
            <a:pPr indent="0" marL="0">
              <a:buNone/>
            </a:pPr>
            <a:r>
              <a:rPr lang="en-US" sz="2000" b="1" dirty="0">
                <a:solidFill>
                  <a:srgbClr val="1B2333"/>
                </a:solidFill>
                <a:latin typeface="Cambria" pitchFamily="34" charset="0"/>
                <a:ea typeface="Cambria" pitchFamily="34" charset="-122"/>
                <a:cs typeface="Cambria" pitchFamily="34" charset="-120"/>
              </a:rPr>
              <a:t>J1</a:t>
            </a:r>
            <a:endParaRPr lang="en-US" sz="2000" dirty="0"/>
          </a:p>
        </p:txBody>
      </p:sp>
      <p:sp>
        <p:nvSpPr>
          <p:cNvPr id="8" name="a1_l0"/>
          <p:cNvSpPr txBox="1"/>
          <p:nvPr/>
        </p:nvSpPr>
        <p:spPr>
          <a:xfrm>
            <a:off x="1600200" y="1947672"/>
            <a:ext cx="1600200" cy="457200"/>
          </a:xfrm>
          <a:prstGeom prst="rect">
            <a:avLst/>
          </a:prstGeom>
          <a:noFill/>
          <a:ln/>
        </p:spPr>
        <p:txBody>
          <a:bodyPr wrap="square" lIns="0" tIns="0" rIns="0" bIns="0" rtlCol="0" anchor="ctr"/>
          <a:lstStyle/>
          <a:p>
            <a:pPr indent="0" marL="0">
              <a:buNone/>
            </a:pPr>
            <a:r>
              <a:rPr lang="en-US" sz="1400" dirty="0">
                <a:solidFill>
                  <a:srgbClr val="5B6577"/>
                </a:solidFill>
                <a:latin typeface="Calibri" pitchFamily="34" charset="0"/>
                <a:ea typeface="Calibri" pitchFamily="34" charset="-122"/>
                <a:cs typeface="Calibri" pitchFamily="34" charset="-120"/>
              </a:rPr>
              <a:t>Pipeline + EDA</a:t>
            </a:r>
            <a:endParaRPr lang="en-US" sz="1400" dirty="0"/>
          </a:p>
        </p:txBody>
      </p:sp>
      <p:sp>
        <p:nvSpPr>
          <p:cNvPr id="9" name="a1_c1"/>
          <p:cNvSpPr/>
          <p:nvPr/>
        </p:nvSpPr>
        <p:spPr>
          <a:xfrm>
            <a:off x="3474720" y="1371600"/>
            <a:ext cx="2606040" cy="1188720"/>
          </a:xfrm>
          <a:prstGeom prst="roundRect">
            <a:avLst>
              <a:gd name="adj" fmla="val 9231"/>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10" name="a1_s1_disc"/>
          <p:cNvSpPr/>
          <p:nvPr/>
        </p:nvSpPr>
        <p:spPr>
          <a:xfrm>
            <a:off x="3657600" y="1645920"/>
            <a:ext cx="640080" cy="640080"/>
          </a:xfrm>
          <a:prstGeom prst="ellipse">
            <a:avLst/>
          </a:prstGeom>
          <a:solidFill>
            <a:srgbClr val="00A99D"/>
          </a:solidFill>
          <a:ln w="12700">
            <a:solidFill>
              <a:srgbClr val="00A99D"/>
            </a:solidFill>
            <a:prstDash val="solid"/>
          </a:ln>
        </p:spPr>
      </p:sp>
      <p:pic>
        <p:nvPicPr>
          <p:cNvPr id="11" name="a1_s1_icon" descr="preencoded.png">    </p:cNvPr>
          <p:cNvPicPr>
            <a:picLocks noChangeAspect="1"/>
          </p:cNvPicPr>
          <p:nvPr/>
        </p:nvPicPr>
        <p:blipFill>
          <a:blip r:embed="rId2"/>
          <a:stretch>
            <a:fillRect/>
          </a:stretch>
        </p:blipFill>
        <p:spPr>
          <a:xfrm>
            <a:off x="3811219" y="1799539"/>
            <a:ext cx="332842" cy="332842"/>
          </a:xfrm>
          <a:prstGeom prst="rect">
            <a:avLst/>
          </a:prstGeom>
        </p:spPr>
      </p:pic>
      <p:sp>
        <p:nvSpPr>
          <p:cNvPr id="12" name="a1_k1"/>
          <p:cNvSpPr txBox="1"/>
          <p:nvPr/>
        </p:nvSpPr>
        <p:spPr>
          <a:xfrm>
            <a:off x="4434840" y="1536192"/>
            <a:ext cx="1554480" cy="411480"/>
          </a:xfrm>
          <a:prstGeom prst="rect">
            <a:avLst/>
          </a:prstGeom>
          <a:noFill/>
          <a:ln/>
        </p:spPr>
        <p:txBody>
          <a:bodyPr wrap="square" lIns="0" tIns="0" rIns="0" bIns="0" rtlCol="0" anchor="ctr"/>
          <a:lstStyle/>
          <a:p>
            <a:pPr indent="0" marL="0">
              <a:buNone/>
            </a:pPr>
            <a:r>
              <a:rPr lang="en-US" sz="2000" b="1" dirty="0">
                <a:solidFill>
                  <a:srgbClr val="1B2333"/>
                </a:solidFill>
                <a:latin typeface="Cambria" pitchFamily="34" charset="0"/>
                <a:ea typeface="Cambria" pitchFamily="34" charset="-122"/>
                <a:cs typeface="Cambria" pitchFamily="34" charset="-120"/>
              </a:rPr>
              <a:t>J2</a:t>
            </a:r>
            <a:endParaRPr lang="en-US" sz="2000" dirty="0"/>
          </a:p>
        </p:txBody>
      </p:sp>
      <p:sp>
        <p:nvSpPr>
          <p:cNvPr id="13" name="a1_l1"/>
          <p:cNvSpPr txBox="1"/>
          <p:nvPr/>
        </p:nvSpPr>
        <p:spPr>
          <a:xfrm>
            <a:off x="4434840" y="1947672"/>
            <a:ext cx="1600200" cy="457200"/>
          </a:xfrm>
          <a:prstGeom prst="rect">
            <a:avLst/>
          </a:prstGeom>
          <a:noFill/>
          <a:ln/>
        </p:spPr>
        <p:txBody>
          <a:bodyPr wrap="square" lIns="0" tIns="0" rIns="0" bIns="0" rtlCol="0" anchor="ctr"/>
          <a:lstStyle/>
          <a:p>
            <a:pPr indent="0" marL="0">
              <a:buNone/>
            </a:pPr>
            <a:r>
              <a:rPr lang="en-US" sz="1400" dirty="0">
                <a:solidFill>
                  <a:srgbClr val="5B6577"/>
                </a:solidFill>
                <a:latin typeface="Calibri" pitchFamily="34" charset="0"/>
                <a:ea typeface="Calibri" pitchFamily="34" charset="-122"/>
                <a:cs typeface="Calibri" pitchFamily="34" charset="-120"/>
              </a:rPr>
              <a:t>Motifs &gt; 0,5</a:t>
            </a:r>
            <a:endParaRPr lang="en-US" sz="1400" dirty="0"/>
          </a:p>
        </p:txBody>
      </p:sp>
      <p:sp>
        <p:nvSpPr>
          <p:cNvPr id="14" name="a1_c2"/>
          <p:cNvSpPr/>
          <p:nvPr/>
        </p:nvSpPr>
        <p:spPr>
          <a:xfrm>
            <a:off x="6309360" y="1371600"/>
            <a:ext cx="2606040" cy="1188720"/>
          </a:xfrm>
          <a:prstGeom prst="roundRect">
            <a:avLst>
              <a:gd name="adj" fmla="val 9231"/>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15" name="a1_s2_disc"/>
          <p:cNvSpPr/>
          <p:nvPr/>
        </p:nvSpPr>
        <p:spPr>
          <a:xfrm>
            <a:off x="6492240" y="1645920"/>
            <a:ext cx="640080" cy="640080"/>
          </a:xfrm>
          <a:prstGeom prst="ellipse">
            <a:avLst/>
          </a:prstGeom>
          <a:solidFill>
            <a:srgbClr val="00A99D"/>
          </a:solidFill>
          <a:ln w="12700">
            <a:solidFill>
              <a:srgbClr val="00A99D"/>
            </a:solidFill>
            <a:prstDash val="solid"/>
          </a:ln>
        </p:spPr>
      </p:sp>
      <p:pic>
        <p:nvPicPr>
          <p:cNvPr id="16" name="a1_s2_icon" descr="preencoded.png">    </p:cNvPr>
          <p:cNvPicPr>
            <a:picLocks noChangeAspect="1"/>
          </p:cNvPicPr>
          <p:nvPr/>
        </p:nvPicPr>
        <p:blipFill>
          <a:blip r:embed="rId3"/>
          <a:stretch>
            <a:fillRect/>
          </a:stretch>
        </p:blipFill>
        <p:spPr>
          <a:xfrm>
            <a:off x="6645859" y="1799539"/>
            <a:ext cx="332842" cy="332842"/>
          </a:xfrm>
          <a:prstGeom prst="rect">
            <a:avLst/>
          </a:prstGeom>
        </p:spPr>
      </p:pic>
      <p:sp>
        <p:nvSpPr>
          <p:cNvPr id="17" name="a1_k2"/>
          <p:cNvSpPr txBox="1"/>
          <p:nvPr/>
        </p:nvSpPr>
        <p:spPr>
          <a:xfrm>
            <a:off x="7269480" y="1536192"/>
            <a:ext cx="1554480" cy="411480"/>
          </a:xfrm>
          <a:prstGeom prst="rect">
            <a:avLst/>
          </a:prstGeom>
          <a:noFill/>
          <a:ln/>
        </p:spPr>
        <p:txBody>
          <a:bodyPr wrap="square" lIns="0" tIns="0" rIns="0" bIns="0" rtlCol="0" anchor="ctr"/>
          <a:lstStyle/>
          <a:p>
            <a:pPr indent="0" marL="0">
              <a:buNone/>
            </a:pPr>
            <a:r>
              <a:rPr lang="en-US" sz="2000" b="1" dirty="0">
                <a:solidFill>
                  <a:srgbClr val="1B2333"/>
                </a:solidFill>
                <a:latin typeface="Cambria" pitchFamily="34" charset="0"/>
                <a:ea typeface="Cambria" pitchFamily="34" charset="-122"/>
                <a:cs typeface="Cambria" pitchFamily="34" charset="-120"/>
              </a:rPr>
              <a:t>J3</a:t>
            </a:r>
            <a:endParaRPr lang="en-US" sz="2000" dirty="0"/>
          </a:p>
        </p:txBody>
      </p:sp>
      <p:sp>
        <p:nvSpPr>
          <p:cNvPr id="18" name="a1_l2"/>
          <p:cNvSpPr txBox="1"/>
          <p:nvPr/>
        </p:nvSpPr>
        <p:spPr>
          <a:xfrm>
            <a:off x="7269480" y="1947672"/>
            <a:ext cx="1600200" cy="457200"/>
          </a:xfrm>
          <a:prstGeom prst="rect">
            <a:avLst/>
          </a:prstGeom>
          <a:noFill/>
          <a:ln/>
        </p:spPr>
        <p:txBody>
          <a:bodyPr wrap="square" lIns="0" tIns="0" rIns="0" bIns="0" rtlCol="0" anchor="ctr"/>
          <a:lstStyle/>
          <a:p>
            <a:pPr indent="0" marL="0">
              <a:buNone/>
            </a:pPr>
            <a:r>
              <a:rPr lang="en-US" sz="1400" dirty="0">
                <a:solidFill>
                  <a:srgbClr val="5B6577"/>
                </a:solidFill>
                <a:latin typeface="Calibri" pitchFamily="34" charset="0"/>
                <a:ea typeface="Calibri" pitchFamily="34" charset="-122"/>
                <a:cs typeface="Calibri" pitchFamily="34" charset="-120"/>
              </a:rPr>
              <a:t>3 GNN + benchmark</a:t>
            </a:r>
            <a:endParaRPr lang="en-US" sz="1400" dirty="0"/>
          </a:p>
        </p:txBody>
      </p:sp>
      <p:sp>
        <p:nvSpPr>
          <p:cNvPr id="19" name="a1_c3"/>
          <p:cNvSpPr/>
          <p:nvPr/>
        </p:nvSpPr>
        <p:spPr>
          <a:xfrm>
            <a:off x="9144000" y="1371600"/>
            <a:ext cx="2606040" cy="1188720"/>
          </a:xfrm>
          <a:prstGeom prst="roundRect">
            <a:avLst>
              <a:gd name="adj" fmla="val 9231"/>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20" name="a1_s3_disc"/>
          <p:cNvSpPr/>
          <p:nvPr/>
        </p:nvSpPr>
        <p:spPr>
          <a:xfrm>
            <a:off x="9326880" y="1645920"/>
            <a:ext cx="640080" cy="640080"/>
          </a:xfrm>
          <a:prstGeom prst="ellipse">
            <a:avLst/>
          </a:prstGeom>
          <a:solidFill>
            <a:srgbClr val="9AA7BD"/>
          </a:solidFill>
          <a:ln w="12700">
            <a:solidFill>
              <a:srgbClr val="9AA7BD"/>
            </a:solidFill>
            <a:prstDash val="solid"/>
          </a:ln>
        </p:spPr>
      </p:sp>
      <p:pic>
        <p:nvPicPr>
          <p:cNvPr id="21" name="a1_s3_icon" descr="preencoded.png">    </p:cNvPr>
          <p:cNvPicPr>
            <a:picLocks noChangeAspect="1"/>
          </p:cNvPicPr>
          <p:nvPr/>
        </p:nvPicPr>
        <p:blipFill>
          <a:blip r:embed="rId4"/>
          <a:stretch>
            <a:fillRect/>
          </a:stretch>
        </p:blipFill>
        <p:spPr>
          <a:xfrm>
            <a:off x="9480499" y="1799539"/>
            <a:ext cx="332842" cy="332842"/>
          </a:xfrm>
          <a:prstGeom prst="rect">
            <a:avLst/>
          </a:prstGeom>
        </p:spPr>
      </p:pic>
      <p:sp>
        <p:nvSpPr>
          <p:cNvPr id="22" name="a1_k3"/>
          <p:cNvSpPr txBox="1"/>
          <p:nvPr/>
        </p:nvSpPr>
        <p:spPr>
          <a:xfrm>
            <a:off x="10104120" y="1536192"/>
            <a:ext cx="1554480" cy="411480"/>
          </a:xfrm>
          <a:prstGeom prst="rect">
            <a:avLst/>
          </a:prstGeom>
          <a:noFill/>
          <a:ln/>
        </p:spPr>
        <p:txBody>
          <a:bodyPr wrap="square" lIns="0" tIns="0" rIns="0" bIns="0" rtlCol="0" anchor="ctr"/>
          <a:lstStyle/>
          <a:p>
            <a:pPr indent="0" marL="0">
              <a:buNone/>
            </a:pPr>
            <a:r>
              <a:rPr lang="en-US" sz="2000" b="1" dirty="0">
                <a:solidFill>
                  <a:srgbClr val="1B2333"/>
                </a:solidFill>
                <a:latin typeface="Cambria" pitchFamily="34" charset="0"/>
                <a:ea typeface="Cambria" pitchFamily="34" charset="-122"/>
                <a:cs typeface="Cambria" pitchFamily="34" charset="-120"/>
              </a:rPr>
              <a:t>J4</a:t>
            </a:r>
            <a:endParaRPr lang="en-US" sz="2000" dirty="0"/>
          </a:p>
        </p:txBody>
      </p:sp>
      <p:sp>
        <p:nvSpPr>
          <p:cNvPr id="23" name="a1_l3"/>
          <p:cNvSpPr txBox="1"/>
          <p:nvPr/>
        </p:nvSpPr>
        <p:spPr>
          <a:xfrm>
            <a:off x="10104120" y="1947672"/>
            <a:ext cx="1600200" cy="457200"/>
          </a:xfrm>
          <a:prstGeom prst="rect">
            <a:avLst/>
          </a:prstGeom>
          <a:noFill/>
          <a:ln/>
        </p:spPr>
        <p:txBody>
          <a:bodyPr wrap="square" lIns="0" tIns="0" rIns="0" bIns="0" rtlCol="0" anchor="ctr"/>
          <a:lstStyle/>
          <a:p>
            <a:pPr indent="0" marL="0">
              <a:buNone/>
            </a:pPr>
            <a:r>
              <a:rPr lang="en-US" sz="1400" dirty="0">
                <a:solidFill>
                  <a:srgbClr val="5B6577"/>
                </a:solidFill>
                <a:latin typeface="Calibri" pitchFamily="34" charset="0"/>
                <a:ea typeface="Calibri" pitchFamily="34" charset="-122"/>
                <a:cs typeface="Calibri" pitchFamily="34" charset="-120"/>
              </a:rPr>
              <a:t>Article soumis</a:t>
            </a:r>
            <a:endParaRPr lang="en-US" sz="1400" dirty="0"/>
          </a:p>
        </p:txBody>
      </p:sp>
      <p:sp>
        <p:nvSpPr>
          <p:cNvPr id="24" name="a2_c4"/>
          <p:cNvSpPr/>
          <p:nvPr/>
        </p:nvSpPr>
        <p:spPr>
          <a:xfrm>
            <a:off x="640080" y="2834640"/>
            <a:ext cx="2606040" cy="1188720"/>
          </a:xfrm>
          <a:prstGeom prst="roundRect">
            <a:avLst>
              <a:gd name="adj" fmla="val 9231"/>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25" name="a2_s4_disc"/>
          <p:cNvSpPr/>
          <p:nvPr/>
        </p:nvSpPr>
        <p:spPr>
          <a:xfrm>
            <a:off x="822960" y="3108960"/>
            <a:ext cx="640080" cy="640080"/>
          </a:xfrm>
          <a:prstGeom prst="ellipse">
            <a:avLst/>
          </a:prstGeom>
          <a:solidFill>
            <a:srgbClr val="F5B700"/>
          </a:solidFill>
          <a:ln w="12700">
            <a:solidFill>
              <a:srgbClr val="F5B700"/>
            </a:solidFill>
            <a:prstDash val="solid"/>
          </a:ln>
        </p:spPr>
      </p:sp>
      <p:pic>
        <p:nvPicPr>
          <p:cNvPr id="26" name="a2_s4_icon" descr="preencoded.png">    </p:cNvPr>
          <p:cNvPicPr>
            <a:picLocks noChangeAspect="1"/>
          </p:cNvPicPr>
          <p:nvPr/>
        </p:nvPicPr>
        <p:blipFill>
          <a:blip r:embed="rId5"/>
          <a:stretch>
            <a:fillRect/>
          </a:stretch>
        </p:blipFill>
        <p:spPr>
          <a:xfrm>
            <a:off x="976579" y="3262579"/>
            <a:ext cx="332842" cy="332842"/>
          </a:xfrm>
          <a:prstGeom prst="rect">
            <a:avLst/>
          </a:prstGeom>
        </p:spPr>
      </p:pic>
      <p:sp>
        <p:nvSpPr>
          <p:cNvPr id="27" name="a2_k4"/>
          <p:cNvSpPr txBox="1"/>
          <p:nvPr/>
        </p:nvSpPr>
        <p:spPr>
          <a:xfrm>
            <a:off x="1600200" y="2999232"/>
            <a:ext cx="1554480" cy="411480"/>
          </a:xfrm>
          <a:prstGeom prst="rect">
            <a:avLst/>
          </a:prstGeom>
          <a:noFill/>
          <a:ln/>
        </p:spPr>
        <p:txBody>
          <a:bodyPr wrap="square" lIns="0" tIns="0" rIns="0" bIns="0" rtlCol="0" anchor="ctr"/>
          <a:lstStyle/>
          <a:p>
            <a:pPr indent="0" marL="0">
              <a:buNone/>
            </a:pPr>
            <a:r>
              <a:rPr lang="en-US" sz="2000" b="1" dirty="0">
                <a:solidFill>
                  <a:srgbClr val="1B2333"/>
                </a:solidFill>
                <a:latin typeface="Cambria" pitchFamily="34" charset="0"/>
                <a:ea typeface="Cambria" pitchFamily="34" charset="-122"/>
                <a:cs typeface="Cambria" pitchFamily="34" charset="-120"/>
              </a:rPr>
              <a:t>L1</a:t>
            </a:r>
            <a:endParaRPr lang="en-US" sz="2000" dirty="0"/>
          </a:p>
        </p:txBody>
      </p:sp>
      <p:sp>
        <p:nvSpPr>
          <p:cNvPr id="28" name="a2_l4"/>
          <p:cNvSpPr txBox="1"/>
          <p:nvPr/>
        </p:nvSpPr>
        <p:spPr>
          <a:xfrm>
            <a:off x="1600200" y="3410712"/>
            <a:ext cx="1600200" cy="457200"/>
          </a:xfrm>
          <a:prstGeom prst="rect">
            <a:avLst/>
          </a:prstGeom>
          <a:noFill/>
          <a:ln/>
        </p:spPr>
        <p:txBody>
          <a:bodyPr wrap="square" lIns="0" tIns="0" rIns="0" bIns="0" rtlCol="0" anchor="ctr"/>
          <a:lstStyle/>
          <a:p>
            <a:pPr indent="0" marL="0">
              <a:buNone/>
            </a:pPr>
            <a:r>
              <a:rPr lang="en-US" sz="1400" dirty="0">
                <a:solidFill>
                  <a:srgbClr val="5B6577"/>
                </a:solidFill>
                <a:latin typeface="Calibri" pitchFamily="34" charset="0"/>
                <a:ea typeface="Calibri" pitchFamily="34" charset="-122"/>
                <a:cs typeface="Calibri" pitchFamily="34" charset="-120"/>
              </a:rPr>
              <a:t>Dépôt GitHub</a:t>
            </a:r>
            <a:endParaRPr lang="en-US" sz="1400" dirty="0"/>
          </a:p>
        </p:txBody>
      </p:sp>
      <p:sp>
        <p:nvSpPr>
          <p:cNvPr id="29" name="a2_c5"/>
          <p:cNvSpPr/>
          <p:nvPr/>
        </p:nvSpPr>
        <p:spPr>
          <a:xfrm>
            <a:off x="3474720" y="2834640"/>
            <a:ext cx="2606040" cy="1188720"/>
          </a:xfrm>
          <a:prstGeom prst="roundRect">
            <a:avLst>
              <a:gd name="adj" fmla="val 9231"/>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30" name="a2_s5_disc"/>
          <p:cNvSpPr/>
          <p:nvPr/>
        </p:nvSpPr>
        <p:spPr>
          <a:xfrm>
            <a:off x="3657600" y="3108960"/>
            <a:ext cx="640080" cy="640080"/>
          </a:xfrm>
          <a:prstGeom prst="ellipse">
            <a:avLst/>
          </a:prstGeom>
          <a:solidFill>
            <a:srgbClr val="9AA7BD"/>
          </a:solidFill>
          <a:ln w="12700">
            <a:solidFill>
              <a:srgbClr val="9AA7BD"/>
            </a:solidFill>
            <a:prstDash val="solid"/>
          </a:ln>
        </p:spPr>
      </p:sp>
      <p:pic>
        <p:nvPicPr>
          <p:cNvPr id="31" name="a2_s5_icon" descr="preencoded.png">    </p:cNvPr>
          <p:cNvPicPr>
            <a:picLocks noChangeAspect="1"/>
          </p:cNvPicPr>
          <p:nvPr/>
        </p:nvPicPr>
        <p:blipFill>
          <a:blip r:embed="rId6"/>
          <a:stretch>
            <a:fillRect/>
          </a:stretch>
        </p:blipFill>
        <p:spPr>
          <a:xfrm>
            <a:off x="3811219" y="3262579"/>
            <a:ext cx="332842" cy="332842"/>
          </a:xfrm>
          <a:prstGeom prst="rect">
            <a:avLst/>
          </a:prstGeom>
        </p:spPr>
      </p:pic>
      <p:sp>
        <p:nvSpPr>
          <p:cNvPr id="32" name="a2_k5"/>
          <p:cNvSpPr txBox="1"/>
          <p:nvPr/>
        </p:nvSpPr>
        <p:spPr>
          <a:xfrm>
            <a:off x="4434840" y="2999232"/>
            <a:ext cx="1554480" cy="411480"/>
          </a:xfrm>
          <a:prstGeom prst="rect">
            <a:avLst/>
          </a:prstGeom>
          <a:noFill/>
          <a:ln/>
        </p:spPr>
        <p:txBody>
          <a:bodyPr wrap="square" lIns="0" tIns="0" rIns="0" bIns="0" rtlCol="0" anchor="ctr"/>
          <a:lstStyle/>
          <a:p>
            <a:pPr indent="0" marL="0">
              <a:buNone/>
            </a:pPr>
            <a:r>
              <a:rPr lang="en-US" sz="2000" b="1" dirty="0">
                <a:solidFill>
                  <a:srgbClr val="1B2333"/>
                </a:solidFill>
                <a:latin typeface="Cambria" pitchFamily="34" charset="0"/>
                <a:ea typeface="Cambria" pitchFamily="34" charset="-122"/>
                <a:cs typeface="Cambria" pitchFamily="34" charset="-120"/>
              </a:rPr>
              <a:t>L2</a:t>
            </a:r>
            <a:endParaRPr lang="en-US" sz="2000" dirty="0"/>
          </a:p>
        </p:txBody>
      </p:sp>
      <p:sp>
        <p:nvSpPr>
          <p:cNvPr id="33" name="a2_l5"/>
          <p:cNvSpPr txBox="1"/>
          <p:nvPr/>
        </p:nvSpPr>
        <p:spPr>
          <a:xfrm>
            <a:off x="4434840" y="3410712"/>
            <a:ext cx="1600200" cy="457200"/>
          </a:xfrm>
          <a:prstGeom prst="rect">
            <a:avLst/>
          </a:prstGeom>
          <a:noFill/>
          <a:ln/>
        </p:spPr>
        <p:txBody>
          <a:bodyPr wrap="square" lIns="0" tIns="0" rIns="0" bIns="0" rtlCol="0" anchor="ctr"/>
          <a:lstStyle/>
          <a:p>
            <a:pPr indent="0" marL="0">
              <a:buNone/>
            </a:pPr>
            <a:r>
              <a:rPr lang="en-US" sz="1400" dirty="0">
                <a:solidFill>
                  <a:srgbClr val="5B6577"/>
                </a:solidFill>
                <a:latin typeface="Calibri" pitchFamily="34" charset="0"/>
                <a:ea typeface="Calibri" pitchFamily="34" charset="-122"/>
                <a:cs typeface="Calibri" pitchFamily="34" charset="-120"/>
              </a:rPr>
              <a:t>Package PyPI</a:t>
            </a:r>
            <a:endParaRPr lang="en-US" sz="1400" dirty="0"/>
          </a:p>
        </p:txBody>
      </p:sp>
      <p:sp>
        <p:nvSpPr>
          <p:cNvPr id="34" name="a2_c6"/>
          <p:cNvSpPr/>
          <p:nvPr/>
        </p:nvSpPr>
        <p:spPr>
          <a:xfrm>
            <a:off x="6309360" y="2834640"/>
            <a:ext cx="2606040" cy="1188720"/>
          </a:xfrm>
          <a:prstGeom prst="roundRect">
            <a:avLst>
              <a:gd name="adj" fmla="val 9231"/>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35" name="a2_s6_disc"/>
          <p:cNvSpPr/>
          <p:nvPr/>
        </p:nvSpPr>
        <p:spPr>
          <a:xfrm>
            <a:off x="6492240" y="3108960"/>
            <a:ext cx="640080" cy="640080"/>
          </a:xfrm>
          <a:prstGeom prst="ellipse">
            <a:avLst/>
          </a:prstGeom>
          <a:solidFill>
            <a:srgbClr val="F5B700"/>
          </a:solidFill>
          <a:ln w="12700">
            <a:solidFill>
              <a:srgbClr val="F5B700"/>
            </a:solidFill>
            <a:prstDash val="solid"/>
          </a:ln>
        </p:spPr>
      </p:sp>
      <p:pic>
        <p:nvPicPr>
          <p:cNvPr id="36" name="a2_s6_icon" descr="preencoded.png">    </p:cNvPr>
          <p:cNvPicPr>
            <a:picLocks noChangeAspect="1"/>
          </p:cNvPicPr>
          <p:nvPr/>
        </p:nvPicPr>
        <p:blipFill>
          <a:blip r:embed="rId7"/>
          <a:stretch>
            <a:fillRect/>
          </a:stretch>
        </p:blipFill>
        <p:spPr>
          <a:xfrm>
            <a:off x="6645859" y="3262579"/>
            <a:ext cx="332842" cy="332842"/>
          </a:xfrm>
          <a:prstGeom prst="rect">
            <a:avLst/>
          </a:prstGeom>
        </p:spPr>
      </p:pic>
      <p:sp>
        <p:nvSpPr>
          <p:cNvPr id="37" name="a2_k6"/>
          <p:cNvSpPr txBox="1"/>
          <p:nvPr/>
        </p:nvSpPr>
        <p:spPr>
          <a:xfrm>
            <a:off x="7269480" y="2999232"/>
            <a:ext cx="1554480" cy="411480"/>
          </a:xfrm>
          <a:prstGeom prst="rect">
            <a:avLst/>
          </a:prstGeom>
          <a:noFill/>
          <a:ln/>
        </p:spPr>
        <p:txBody>
          <a:bodyPr wrap="square" lIns="0" tIns="0" rIns="0" bIns="0" rtlCol="0" anchor="ctr"/>
          <a:lstStyle/>
          <a:p>
            <a:pPr indent="0" marL="0">
              <a:buNone/>
            </a:pPr>
            <a:r>
              <a:rPr lang="en-US" sz="2000" b="1" dirty="0">
                <a:solidFill>
                  <a:srgbClr val="1B2333"/>
                </a:solidFill>
                <a:latin typeface="Cambria" pitchFamily="34" charset="0"/>
                <a:ea typeface="Cambria" pitchFamily="34" charset="-122"/>
                <a:cs typeface="Cambria" pitchFamily="34" charset="-120"/>
              </a:rPr>
              <a:t>L3</a:t>
            </a:r>
            <a:endParaRPr lang="en-US" sz="2000" dirty="0"/>
          </a:p>
        </p:txBody>
      </p:sp>
      <p:sp>
        <p:nvSpPr>
          <p:cNvPr id="38" name="a2_l6"/>
          <p:cNvSpPr txBox="1"/>
          <p:nvPr/>
        </p:nvSpPr>
        <p:spPr>
          <a:xfrm>
            <a:off x="7269480" y="3410712"/>
            <a:ext cx="1600200" cy="457200"/>
          </a:xfrm>
          <a:prstGeom prst="rect">
            <a:avLst/>
          </a:prstGeom>
          <a:noFill/>
          <a:ln/>
        </p:spPr>
        <p:txBody>
          <a:bodyPr wrap="square" lIns="0" tIns="0" rIns="0" bIns="0" rtlCol="0" anchor="ctr"/>
          <a:lstStyle/>
          <a:p>
            <a:pPr indent="0" marL="0">
              <a:buNone/>
            </a:pPr>
            <a:r>
              <a:rPr lang="en-US" sz="1400" dirty="0">
                <a:solidFill>
                  <a:srgbClr val="5B6577"/>
                </a:solidFill>
                <a:latin typeface="Calibri" pitchFamily="34" charset="0"/>
                <a:ea typeface="Calibri" pitchFamily="34" charset="-122"/>
                <a:cs typeface="Calibri" pitchFamily="34" charset="-120"/>
              </a:rPr>
              <a:t>API déployée</a:t>
            </a:r>
            <a:endParaRPr lang="en-US" sz="1400" dirty="0"/>
          </a:p>
        </p:txBody>
      </p:sp>
      <p:sp>
        <p:nvSpPr>
          <p:cNvPr id="39" name="a2_c7"/>
          <p:cNvSpPr/>
          <p:nvPr/>
        </p:nvSpPr>
        <p:spPr>
          <a:xfrm>
            <a:off x="9144000" y="2834640"/>
            <a:ext cx="2606040" cy="1188720"/>
          </a:xfrm>
          <a:prstGeom prst="roundRect">
            <a:avLst>
              <a:gd name="adj" fmla="val 9231"/>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40" name="a2_s7_disc"/>
          <p:cNvSpPr/>
          <p:nvPr/>
        </p:nvSpPr>
        <p:spPr>
          <a:xfrm>
            <a:off x="9326880" y="3108960"/>
            <a:ext cx="640080" cy="640080"/>
          </a:xfrm>
          <a:prstGeom prst="ellipse">
            <a:avLst/>
          </a:prstGeom>
          <a:solidFill>
            <a:srgbClr val="00A99D"/>
          </a:solidFill>
          <a:ln w="12700">
            <a:solidFill>
              <a:srgbClr val="00A99D"/>
            </a:solidFill>
            <a:prstDash val="solid"/>
          </a:ln>
        </p:spPr>
      </p:sp>
      <p:pic>
        <p:nvPicPr>
          <p:cNvPr id="41" name="a2_s7_icon" descr="preencoded.png">    </p:cNvPr>
          <p:cNvPicPr>
            <a:picLocks noChangeAspect="1"/>
          </p:cNvPicPr>
          <p:nvPr/>
        </p:nvPicPr>
        <p:blipFill>
          <a:blip r:embed="rId8"/>
          <a:stretch>
            <a:fillRect/>
          </a:stretch>
        </p:blipFill>
        <p:spPr>
          <a:xfrm>
            <a:off x="9480499" y="3262579"/>
            <a:ext cx="332842" cy="332842"/>
          </a:xfrm>
          <a:prstGeom prst="rect">
            <a:avLst/>
          </a:prstGeom>
        </p:spPr>
      </p:pic>
      <p:sp>
        <p:nvSpPr>
          <p:cNvPr id="42" name="a2_k7"/>
          <p:cNvSpPr txBox="1"/>
          <p:nvPr/>
        </p:nvSpPr>
        <p:spPr>
          <a:xfrm>
            <a:off x="10104120" y="2999232"/>
            <a:ext cx="1554480" cy="411480"/>
          </a:xfrm>
          <a:prstGeom prst="rect">
            <a:avLst/>
          </a:prstGeom>
          <a:noFill/>
          <a:ln/>
        </p:spPr>
        <p:txBody>
          <a:bodyPr wrap="square" lIns="0" tIns="0" rIns="0" bIns="0" rtlCol="0" anchor="ctr"/>
          <a:lstStyle/>
          <a:p>
            <a:pPr indent="0" marL="0">
              <a:buNone/>
            </a:pPr>
            <a:r>
              <a:rPr lang="en-US" sz="2000" b="1" dirty="0">
                <a:solidFill>
                  <a:srgbClr val="1B2333"/>
                </a:solidFill>
                <a:latin typeface="Cambria" pitchFamily="34" charset="0"/>
                <a:ea typeface="Cambria" pitchFamily="34" charset="-122"/>
                <a:cs typeface="Cambria" pitchFamily="34" charset="-120"/>
              </a:rPr>
              <a:t>L4</a:t>
            </a:r>
            <a:endParaRPr lang="en-US" sz="2000" dirty="0"/>
          </a:p>
        </p:txBody>
      </p:sp>
      <p:sp>
        <p:nvSpPr>
          <p:cNvPr id="43" name="a2_l7"/>
          <p:cNvSpPr txBox="1"/>
          <p:nvPr/>
        </p:nvSpPr>
        <p:spPr>
          <a:xfrm>
            <a:off x="10104120" y="3410712"/>
            <a:ext cx="1600200" cy="457200"/>
          </a:xfrm>
          <a:prstGeom prst="rect">
            <a:avLst/>
          </a:prstGeom>
          <a:noFill/>
          <a:ln/>
        </p:spPr>
        <p:txBody>
          <a:bodyPr wrap="square" lIns="0" tIns="0" rIns="0" bIns="0" rtlCol="0" anchor="ctr"/>
          <a:lstStyle/>
          <a:p>
            <a:pPr indent="0" marL="0">
              <a:buNone/>
            </a:pPr>
            <a:r>
              <a:rPr lang="en-US" sz="1400" dirty="0">
                <a:solidFill>
                  <a:srgbClr val="5B6577"/>
                </a:solidFill>
                <a:latin typeface="Calibri" pitchFamily="34" charset="0"/>
                <a:ea typeface="Calibri" pitchFamily="34" charset="-122"/>
                <a:cs typeface="Calibri" pitchFamily="34" charset="-120"/>
              </a:rPr>
              <a:t>CLI</a:t>
            </a:r>
            <a:endParaRPr lang="en-US" sz="1400" dirty="0"/>
          </a:p>
        </p:txBody>
      </p:sp>
      <p:sp>
        <p:nvSpPr>
          <p:cNvPr id="44" name="a3_c8"/>
          <p:cNvSpPr/>
          <p:nvPr/>
        </p:nvSpPr>
        <p:spPr>
          <a:xfrm>
            <a:off x="640080" y="4297680"/>
            <a:ext cx="2606040" cy="1188720"/>
          </a:xfrm>
          <a:prstGeom prst="roundRect">
            <a:avLst>
              <a:gd name="adj" fmla="val 9231"/>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45" name="a3_s8_disc"/>
          <p:cNvSpPr/>
          <p:nvPr/>
        </p:nvSpPr>
        <p:spPr>
          <a:xfrm>
            <a:off x="822960" y="4572000"/>
            <a:ext cx="640080" cy="640080"/>
          </a:xfrm>
          <a:prstGeom prst="ellipse">
            <a:avLst/>
          </a:prstGeom>
          <a:solidFill>
            <a:srgbClr val="F5B700"/>
          </a:solidFill>
          <a:ln w="12700">
            <a:solidFill>
              <a:srgbClr val="F5B700"/>
            </a:solidFill>
            <a:prstDash val="solid"/>
          </a:ln>
        </p:spPr>
      </p:sp>
      <p:pic>
        <p:nvPicPr>
          <p:cNvPr id="46" name="a3_s8_icon" descr="preencoded.png">    </p:cNvPr>
          <p:cNvPicPr>
            <a:picLocks noChangeAspect="1"/>
          </p:cNvPicPr>
          <p:nvPr/>
        </p:nvPicPr>
        <p:blipFill>
          <a:blip r:embed="rId9"/>
          <a:stretch>
            <a:fillRect/>
          </a:stretch>
        </p:blipFill>
        <p:spPr>
          <a:xfrm>
            <a:off x="976579" y="4725619"/>
            <a:ext cx="332842" cy="332842"/>
          </a:xfrm>
          <a:prstGeom prst="rect">
            <a:avLst/>
          </a:prstGeom>
        </p:spPr>
      </p:pic>
      <p:sp>
        <p:nvSpPr>
          <p:cNvPr id="47" name="a3_k8"/>
          <p:cNvSpPr txBox="1"/>
          <p:nvPr/>
        </p:nvSpPr>
        <p:spPr>
          <a:xfrm>
            <a:off x="1600200" y="4462272"/>
            <a:ext cx="1554480" cy="411480"/>
          </a:xfrm>
          <a:prstGeom prst="rect">
            <a:avLst/>
          </a:prstGeom>
          <a:noFill/>
          <a:ln/>
        </p:spPr>
        <p:txBody>
          <a:bodyPr wrap="square" lIns="0" tIns="0" rIns="0" bIns="0" rtlCol="0" anchor="ctr"/>
          <a:lstStyle/>
          <a:p>
            <a:pPr indent="0" marL="0">
              <a:buNone/>
            </a:pPr>
            <a:r>
              <a:rPr lang="en-US" sz="2000" b="1" dirty="0">
                <a:solidFill>
                  <a:srgbClr val="1B2333"/>
                </a:solidFill>
                <a:latin typeface="Cambria" pitchFamily="34" charset="0"/>
                <a:ea typeface="Cambria" pitchFamily="34" charset="-122"/>
                <a:cs typeface="Cambria" pitchFamily="34" charset="-120"/>
              </a:rPr>
              <a:t>L5</a:t>
            </a:r>
            <a:endParaRPr lang="en-US" sz="2000" dirty="0"/>
          </a:p>
        </p:txBody>
      </p:sp>
      <p:sp>
        <p:nvSpPr>
          <p:cNvPr id="48" name="a3_l8"/>
          <p:cNvSpPr txBox="1"/>
          <p:nvPr/>
        </p:nvSpPr>
        <p:spPr>
          <a:xfrm>
            <a:off x="1600200" y="4873752"/>
            <a:ext cx="1600200" cy="457200"/>
          </a:xfrm>
          <a:prstGeom prst="rect">
            <a:avLst/>
          </a:prstGeom>
          <a:noFill/>
          <a:ln/>
        </p:spPr>
        <p:txBody>
          <a:bodyPr wrap="square" lIns="0" tIns="0" rIns="0" bIns="0" rtlCol="0" anchor="ctr"/>
          <a:lstStyle/>
          <a:p>
            <a:pPr indent="0" marL="0">
              <a:buNone/>
            </a:pPr>
            <a:r>
              <a:rPr lang="en-US" sz="1400" dirty="0">
                <a:solidFill>
                  <a:srgbClr val="5B6577"/>
                </a:solidFill>
                <a:latin typeface="Calibri" pitchFamily="34" charset="0"/>
                <a:ea typeface="Calibri" pitchFamily="34" charset="-122"/>
                <a:cs typeface="Calibri" pitchFamily="34" charset="-120"/>
              </a:rPr>
              <a:t>Docs + notebooks</a:t>
            </a:r>
            <a:endParaRPr lang="en-US" sz="1400" dirty="0"/>
          </a:p>
        </p:txBody>
      </p:sp>
      <p:sp>
        <p:nvSpPr>
          <p:cNvPr id="49" name="a3_c9"/>
          <p:cNvSpPr/>
          <p:nvPr/>
        </p:nvSpPr>
        <p:spPr>
          <a:xfrm>
            <a:off x="3474720" y="4297680"/>
            <a:ext cx="2606040" cy="1188720"/>
          </a:xfrm>
          <a:prstGeom prst="roundRect">
            <a:avLst>
              <a:gd name="adj" fmla="val 9231"/>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50" name="a3_s9_disc"/>
          <p:cNvSpPr/>
          <p:nvPr/>
        </p:nvSpPr>
        <p:spPr>
          <a:xfrm>
            <a:off x="3657600" y="4572000"/>
            <a:ext cx="640080" cy="640080"/>
          </a:xfrm>
          <a:prstGeom prst="ellipse">
            <a:avLst/>
          </a:prstGeom>
          <a:solidFill>
            <a:srgbClr val="F5B700"/>
          </a:solidFill>
          <a:ln w="12700">
            <a:solidFill>
              <a:srgbClr val="F5B700"/>
            </a:solidFill>
            <a:prstDash val="solid"/>
          </a:ln>
        </p:spPr>
      </p:sp>
      <p:pic>
        <p:nvPicPr>
          <p:cNvPr id="51" name="a3_s9_icon" descr="preencoded.png">    </p:cNvPr>
          <p:cNvPicPr>
            <a:picLocks noChangeAspect="1"/>
          </p:cNvPicPr>
          <p:nvPr/>
        </p:nvPicPr>
        <p:blipFill>
          <a:blip r:embed="rId10"/>
          <a:stretch>
            <a:fillRect/>
          </a:stretch>
        </p:blipFill>
        <p:spPr>
          <a:xfrm>
            <a:off x="3811219" y="4725619"/>
            <a:ext cx="332842" cy="332842"/>
          </a:xfrm>
          <a:prstGeom prst="rect">
            <a:avLst/>
          </a:prstGeom>
        </p:spPr>
      </p:pic>
      <p:sp>
        <p:nvSpPr>
          <p:cNvPr id="52" name="a3_k9"/>
          <p:cNvSpPr txBox="1"/>
          <p:nvPr/>
        </p:nvSpPr>
        <p:spPr>
          <a:xfrm>
            <a:off x="4434840" y="4462272"/>
            <a:ext cx="1554480" cy="411480"/>
          </a:xfrm>
          <a:prstGeom prst="rect">
            <a:avLst/>
          </a:prstGeom>
          <a:noFill/>
          <a:ln/>
        </p:spPr>
        <p:txBody>
          <a:bodyPr wrap="square" lIns="0" tIns="0" rIns="0" bIns="0" rtlCol="0" anchor="ctr"/>
          <a:lstStyle/>
          <a:p>
            <a:pPr indent="0" marL="0">
              <a:buNone/>
            </a:pPr>
            <a:r>
              <a:rPr lang="en-US" sz="2000" b="1" dirty="0">
                <a:solidFill>
                  <a:srgbClr val="1B2333"/>
                </a:solidFill>
                <a:latin typeface="Cambria" pitchFamily="34" charset="0"/>
                <a:ea typeface="Cambria" pitchFamily="34" charset="-122"/>
                <a:cs typeface="Cambria" pitchFamily="34" charset="-120"/>
              </a:rPr>
              <a:t>L6</a:t>
            </a:r>
            <a:endParaRPr lang="en-US" sz="2000" dirty="0"/>
          </a:p>
        </p:txBody>
      </p:sp>
      <p:sp>
        <p:nvSpPr>
          <p:cNvPr id="53" name="a3_l9"/>
          <p:cNvSpPr txBox="1"/>
          <p:nvPr/>
        </p:nvSpPr>
        <p:spPr>
          <a:xfrm>
            <a:off x="4434840" y="4873752"/>
            <a:ext cx="1600200" cy="457200"/>
          </a:xfrm>
          <a:prstGeom prst="rect">
            <a:avLst/>
          </a:prstGeom>
          <a:noFill/>
          <a:ln/>
        </p:spPr>
        <p:txBody>
          <a:bodyPr wrap="square" lIns="0" tIns="0" rIns="0" bIns="0" rtlCol="0" anchor="ctr"/>
          <a:lstStyle/>
          <a:p>
            <a:pPr indent="0" marL="0">
              <a:buNone/>
            </a:pPr>
            <a:r>
              <a:rPr lang="en-US" sz="1400" dirty="0">
                <a:solidFill>
                  <a:srgbClr val="5B6577"/>
                </a:solidFill>
                <a:latin typeface="Calibri" pitchFamily="34" charset="0"/>
                <a:ea typeface="Calibri" pitchFamily="34" charset="-122"/>
                <a:cs typeface="Calibri" pitchFamily="34" charset="-120"/>
              </a:rPr>
              <a:t>Modèles sur le Hub</a:t>
            </a:r>
            <a:endParaRPr lang="en-US" sz="1400" dirty="0"/>
          </a:p>
        </p:txBody>
      </p:sp>
      <p:sp>
        <p:nvSpPr>
          <p:cNvPr id="54" name="a3_c10"/>
          <p:cNvSpPr/>
          <p:nvPr/>
        </p:nvSpPr>
        <p:spPr>
          <a:xfrm>
            <a:off x="6309360" y="4297680"/>
            <a:ext cx="2606040" cy="1188720"/>
          </a:xfrm>
          <a:prstGeom prst="roundRect">
            <a:avLst>
              <a:gd name="adj" fmla="val 9231"/>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55" name="a3_s10_disc"/>
          <p:cNvSpPr/>
          <p:nvPr/>
        </p:nvSpPr>
        <p:spPr>
          <a:xfrm>
            <a:off x="6492240" y="4572000"/>
            <a:ext cx="640080" cy="640080"/>
          </a:xfrm>
          <a:prstGeom prst="ellipse">
            <a:avLst/>
          </a:prstGeom>
          <a:solidFill>
            <a:srgbClr val="F5B700"/>
          </a:solidFill>
          <a:ln w="12700">
            <a:solidFill>
              <a:srgbClr val="F5B700"/>
            </a:solidFill>
            <a:prstDash val="solid"/>
          </a:ln>
        </p:spPr>
      </p:sp>
      <p:pic>
        <p:nvPicPr>
          <p:cNvPr id="56" name="a3_s10_icon" descr="preencoded.png">    </p:cNvPr>
          <p:cNvPicPr>
            <a:picLocks noChangeAspect="1"/>
          </p:cNvPicPr>
          <p:nvPr/>
        </p:nvPicPr>
        <p:blipFill>
          <a:blip r:embed="rId11"/>
          <a:stretch>
            <a:fillRect/>
          </a:stretch>
        </p:blipFill>
        <p:spPr>
          <a:xfrm>
            <a:off x="6645859" y="4725619"/>
            <a:ext cx="332842" cy="332842"/>
          </a:xfrm>
          <a:prstGeom prst="rect">
            <a:avLst/>
          </a:prstGeom>
        </p:spPr>
      </p:pic>
      <p:sp>
        <p:nvSpPr>
          <p:cNvPr id="57" name="a3_k10"/>
          <p:cNvSpPr txBox="1"/>
          <p:nvPr/>
        </p:nvSpPr>
        <p:spPr>
          <a:xfrm>
            <a:off x="7269480" y="4462272"/>
            <a:ext cx="1554480" cy="411480"/>
          </a:xfrm>
          <a:prstGeom prst="rect">
            <a:avLst/>
          </a:prstGeom>
          <a:noFill/>
          <a:ln/>
        </p:spPr>
        <p:txBody>
          <a:bodyPr wrap="square" lIns="0" tIns="0" rIns="0" bIns="0" rtlCol="0" anchor="ctr"/>
          <a:lstStyle/>
          <a:p>
            <a:pPr indent="0" marL="0">
              <a:buNone/>
            </a:pPr>
            <a:r>
              <a:rPr lang="en-US" sz="2000" b="1" dirty="0">
                <a:solidFill>
                  <a:srgbClr val="1B2333"/>
                </a:solidFill>
                <a:latin typeface="Cambria" pitchFamily="34" charset="0"/>
                <a:ea typeface="Cambria" pitchFamily="34" charset="-122"/>
                <a:cs typeface="Cambria" pitchFamily="34" charset="-120"/>
              </a:rPr>
              <a:t>L7</a:t>
            </a:r>
            <a:endParaRPr lang="en-US" sz="2000" dirty="0"/>
          </a:p>
        </p:txBody>
      </p:sp>
      <p:sp>
        <p:nvSpPr>
          <p:cNvPr id="58" name="a3_l10"/>
          <p:cNvSpPr txBox="1"/>
          <p:nvPr/>
        </p:nvSpPr>
        <p:spPr>
          <a:xfrm>
            <a:off x="7269480" y="4873752"/>
            <a:ext cx="1600200" cy="457200"/>
          </a:xfrm>
          <a:prstGeom prst="rect">
            <a:avLst/>
          </a:prstGeom>
          <a:noFill/>
          <a:ln/>
        </p:spPr>
        <p:txBody>
          <a:bodyPr wrap="square" lIns="0" tIns="0" rIns="0" bIns="0" rtlCol="0" anchor="ctr"/>
          <a:lstStyle/>
          <a:p>
            <a:pPr indent="0" marL="0">
              <a:buNone/>
            </a:pPr>
            <a:r>
              <a:rPr lang="en-US" sz="1400" dirty="0">
                <a:solidFill>
                  <a:srgbClr val="5B6577"/>
                </a:solidFill>
                <a:latin typeface="Calibri" pitchFamily="34" charset="0"/>
                <a:ea typeface="Calibri" pitchFamily="34" charset="-122"/>
                <a:cs typeface="Calibri" pitchFamily="34" charset="-120"/>
              </a:rPr>
              <a:t>Article</a:t>
            </a:r>
            <a:endParaRPr lang="en-US" sz="1400" dirty="0"/>
          </a:p>
        </p:txBody>
      </p:sp>
      <p:sp>
        <p:nvSpPr>
          <p:cNvPr id="59" name="a3_c11"/>
          <p:cNvSpPr/>
          <p:nvPr/>
        </p:nvSpPr>
        <p:spPr>
          <a:xfrm>
            <a:off x="9144000" y="4297680"/>
            <a:ext cx="2606040" cy="1188720"/>
          </a:xfrm>
          <a:prstGeom prst="roundRect">
            <a:avLst>
              <a:gd name="adj" fmla="val 9231"/>
            </a:avLst>
          </a:prstGeom>
          <a:solidFill>
            <a:srgbClr val="EEF3FA"/>
          </a:solidFill>
          <a:ln w="12700">
            <a:solidFill>
              <a:srgbClr val="EEF3FA"/>
            </a:solidFill>
            <a:prstDash val="solid"/>
          </a:ln>
          <a:effectLst>
            <a:outerShdw sx="100000" sy="100000" kx="0" ky="0" algn="bl" rotWithShape="0" blurRad="76200" dist="25400" dir="5400000">
              <a:srgbClr val="9AA7BD">
                <a:alpha val="35000"/>
              </a:srgbClr>
            </a:outerShdw>
          </a:effectLst>
        </p:spPr>
      </p:sp>
      <p:sp>
        <p:nvSpPr>
          <p:cNvPr id="60" name="a3_s11_disc"/>
          <p:cNvSpPr/>
          <p:nvPr/>
        </p:nvSpPr>
        <p:spPr>
          <a:xfrm>
            <a:off x="9326880" y="4572000"/>
            <a:ext cx="640080" cy="640080"/>
          </a:xfrm>
          <a:prstGeom prst="ellipse">
            <a:avLst/>
          </a:prstGeom>
          <a:solidFill>
            <a:srgbClr val="F5B700"/>
          </a:solidFill>
          <a:ln w="12700">
            <a:solidFill>
              <a:srgbClr val="F5B700"/>
            </a:solidFill>
            <a:prstDash val="solid"/>
          </a:ln>
        </p:spPr>
      </p:sp>
      <p:pic>
        <p:nvPicPr>
          <p:cNvPr id="61" name="a3_s11_icon" descr="preencoded.png">    </p:cNvPr>
          <p:cNvPicPr>
            <a:picLocks noChangeAspect="1"/>
          </p:cNvPicPr>
          <p:nvPr/>
        </p:nvPicPr>
        <p:blipFill>
          <a:blip r:embed="rId12"/>
          <a:stretch>
            <a:fillRect/>
          </a:stretch>
        </p:blipFill>
        <p:spPr>
          <a:xfrm>
            <a:off x="9480499" y="4725619"/>
            <a:ext cx="332842" cy="332842"/>
          </a:xfrm>
          <a:prstGeom prst="rect">
            <a:avLst/>
          </a:prstGeom>
        </p:spPr>
      </p:pic>
      <p:sp>
        <p:nvSpPr>
          <p:cNvPr id="62" name="a3_k11"/>
          <p:cNvSpPr txBox="1"/>
          <p:nvPr/>
        </p:nvSpPr>
        <p:spPr>
          <a:xfrm>
            <a:off x="10104120" y="4462272"/>
            <a:ext cx="1554480" cy="411480"/>
          </a:xfrm>
          <a:prstGeom prst="rect">
            <a:avLst/>
          </a:prstGeom>
          <a:noFill/>
          <a:ln/>
        </p:spPr>
        <p:txBody>
          <a:bodyPr wrap="square" lIns="0" tIns="0" rIns="0" bIns="0" rtlCol="0" anchor="ctr"/>
          <a:lstStyle/>
          <a:p>
            <a:pPr indent="0" marL="0">
              <a:buNone/>
            </a:pPr>
            <a:r>
              <a:rPr lang="en-US" sz="2000" b="1" dirty="0">
                <a:solidFill>
                  <a:srgbClr val="1B2333"/>
                </a:solidFill>
                <a:latin typeface="Cambria" pitchFamily="34" charset="0"/>
                <a:ea typeface="Cambria" pitchFamily="34" charset="-122"/>
                <a:cs typeface="Cambria" pitchFamily="34" charset="-120"/>
              </a:rPr>
              <a:t>L8</a:t>
            </a:r>
            <a:endParaRPr lang="en-US" sz="2000" dirty="0"/>
          </a:p>
        </p:txBody>
      </p:sp>
      <p:sp>
        <p:nvSpPr>
          <p:cNvPr id="63" name="a3_l11"/>
          <p:cNvSpPr txBox="1"/>
          <p:nvPr/>
        </p:nvSpPr>
        <p:spPr>
          <a:xfrm>
            <a:off x="10104120" y="4873752"/>
            <a:ext cx="1600200" cy="457200"/>
          </a:xfrm>
          <a:prstGeom prst="rect">
            <a:avLst/>
          </a:prstGeom>
          <a:noFill/>
          <a:ln/>
        </p:spPr>
        <p:txBody>
          <a:bodyPr wrap="square" lIns="0" tIns="0" rIns="0" bIns="0" rtlCol="0" anchor="ctr"/>
          <a:lstStyle/>
          <a:p>
            <a:pPr indent="0" marL="0">
              <a:buNone/>
            </a:pPr>
            <a:r>
              <a:rPr lang="en-US" sz="1400" dirty="0">
                <a:solidFill>
                  <a:srgbClr val="5B6577"/>
                </a:solidFill>
                <a:latin typeface="Calibri" pitchFamily="34" charset="0"/>
                <a:ea typeface="Calibri" pitchFamily="34" charset="-122"/>
                <a:cs typeface="Calibri" pitchFamily="34" charset="-120"/>
              </a:rPr>
              <a:t>Mémoire</a:t>
            </a:r>
            <a:endParaRPr lang="en-US" sz="1400" dirty="0"/>
          </a:p>
        </p:txBody>
      </p:sp>
      <p:sp>
        <p:nvSpPr>
          <p:cNvPr id="64" name="a4_lg0"/>
          <p:cNvSpPr/>
          <p:nvPr/>
        </p:nvSpPr>
        <p:spPr>
          <a:xfrm>
            <a:off x="640080" y="5897880"/>
            <a:ext cx="256032" cy="256032"/>
          </a:xfrm>
          <a:prstGeom prst="ellipse">
            <a:avLst/>
          </a:prstGeom>
          <a:solidFill>
            <a:srgbClr val="00A99D"/>
          </a:solidFill>
          <a:ln w="12700">
            <a:solidFill>
              <a:srgbClr val="00A99D"/>
            </a:solidFill>
            <a:prstDash val="solid"/>
          </a:ln>
        </p:spPr>
      </p:sp>
      <p:sp>
        <p:nvSpPr>
          <p:cNvPr id="65" name="a4_lt0"/>
          <p:cNvSpPr txBox="1"/>
          <p:nvPr/>
        </p:nvSpPr>
        <p:spPr>
          <a:xfrm>
            <a:off x="987552" y="5833872"/>
            <a:ext cx="1920240" cy="384048"/>
          </a:xfrm>
          <a:prstGeom prst="rect">
            <a:avLst/>
          </a:prstGeom>
          <a:noFill/>
          <a:ln/>
        </p:spPr>
        <p:txBody>
          <a:bodyPr wrap="square" lIns="0" tIns="0" rIns="0" bIns="0" rtlCol="0" anchor="ctr"/>
          <a:lstStyle/>
          <a:p>
            <a:pPr indent="0" marL="0">
              <a:buNone/>
            </a:pPr>
            <a:r>
              <a:rPr lang="en-US" sz="1400" dirty="0">
                <a:solidFill>
                  <a:srgbClr val="5B6577"/>
                </a:solidFill>
                <a:latin typeface="Calibri" pitchFamily="34" charset="0"/>
                <a:ea typeface="Calibri" pitchFamily="34" charset="-122"/>
                <a:cs typeface="Calibri" pitchFamily="34" charset="-120"/>
              </a:rPr>
              <a:t>fait</a:t>
            </a:r>
            <a:endParaRPr lang="en-US" sz="1400" dirty="0"/>
          </a:p>
        </p:txBody>
      </p:sp>
      <p:sp>
        <p:nvSpPr>
          <p:cNvPr id="66" name="a4_lg1"/>
          <p:cNvSpPr/>
          <p:nvPr/>
        </p:nvSpPr>
        <p:spPr>
          <a:xfrm>
            <a:off x="3017520" y="5897880"/>
            <a:ext cx="256032" cy="256032"/>
          </a:xfrm>
          <a:prstGeom prst="ellipse">
            <a:avLst/>
          </a:prstGeom>
          <a:solidFill>
            <a:srgbClr val="F5B700"/>
          </a:solidFill>
          <a:ln w="12700">
            <a:solidFill>
              <a:srgbClr val="F5B700"/>
            </a:solidFill>
            <a:prstDash val="solid"/>
          </a:ln>
        </p:spPr>
      </p:sp>
      <p:sp>
        <p:nvSpPr>
          <p:cNvPr id="67" name="a4_lt1"/>
          <p:cNvSpPr txBox="1"/>
          <p:nvPr/>
        </p:nvSpPr>
        <p:spPr>
          <a:xfrm>
            <a:off x="3364992" y="5833872"/>
            <a:ext cx="1920240" cy="384048"/>
          </a:xfrm>
          <a:prstGeom prst="rect">
            <a:avLst/>
          </a:prstGeom>
          <a:noFill/>
          <a:ln/>
        </p:spPr>
        <p:txBody>
          <a:bodyPr wrap="square" lIns="0" tIns="0" rIns="0" bIns="0" rtlCol="0" anchor="ctr"/>
          <a:lstStyle/>
          <a:p>
            <a:pPr indent="0" marL="0">
              <a:buNone/>
            </a:pPr>
            <a:r>
              <a:rPr lang="en-US" sz="1400" dirty="0">
                <a:solidFill>
                  <a:srgbClr val="5B6577"/>
                </a:solidFill>
                <a:latin typeface="Calibri" pitchFamily="34" charset="0"/>
                <a:ea typeface="Calibri" pitchFamily="34" charset="-122"/>
                <a:cs typeface="Calibri" pitchFamily="34" charset="-120"/>
              </a:rPr>
              <a:t>prêt, à publier</a:t>
            </a:r>
            <a:endParaRPr lang="en-US" sz="1400" dirty="0"/>
          </a:p>
        </p:txBody>
      </p:sp>
      <p:sp>
        <p:nvSpPr>
          <p:cNvPr id="68" name="a4_lg2"/>
          <p:cNvSpPr/>
          <p:nvPr/>
        </p:nvSpPr>
        <p:spPr>
          <a:xfrm>
            <a:off x="5394960" y="5897880"/>
            <a:ext cx="256032" cy="256032"/>
          </a:xfrm>
          <a:prstGeom prst="ellipse">
            <a:avLst/>
          </a:prstGeom>
          <a:solidFill>
            <a:srgbClr val="9AA7BD"/>
          </a:solidFill>
          <a:ln w="12700">
            <a:solidFill>
              <a:srgbClr val="9AA7BD"/>
            </a:solidFill>
            <a:prstDash val="solid"/>
          </a:ln>
        </p:spPr>
      </p:sp>
      <p:sp>
        <p:nvSpPr>
          <p:cNvPr id="69" name="a4_lt2"/>
          <p:cNvSpPr txBox="1"/>
          <p:nvPr/>
        </p:nvSpPr>
        <p:spPr>
          <a:xfrm>
            <a:off x="5742432" y="5833872"/>
            <a:ext cx="1920240" cy="384048"/>
          </a:xfrm>
          <a:prstGeom prst="rect">
            <a:avLst/>
          </a:prstGeom>
          <a:noFill/>
          <a:ln/>
        </p:spPr>
        <p:txBody>
          <a:bodyPr wrap="square" lIns="0" tIns="0" rIns="0" bIns="0" rtlCol="0" anchor="ctr"/>
          <a:lstStyle/>
          <a:p>
            <a:pPr indent="0" marL="0">
              <a:buNone/>
            </a:pPr>
            <a:r>
              <a:rPr lang="en-US" sz="1400" dirty="0">
                <a:solidFill>
                  <a:srgbClr val="5B6577"/>
                </a:solidFill>
                <a:latin typeface="Calibri" pitchFamily="34" charset="0"/>
                <a:ea typeface="Calibri" pitchFamily="34" charset="-122"/>
                <a:cs typeface="Calibri" pitchFamily="34" charset="-120"/>
              </a:rPr>
              <a:t>à venir</a:t>
            </a:r>
            <a:endParaRPr lang="en-US" sz="14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00"/>
                                        <p:tgtEl>
                                          <p:spTgt spid="13"/>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500"/>
                                        <p:tgtEl>
                                          <p:spTgt spid="1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00"/>
                                        <p:tgtEl>
                                          <p:spTgt spid="1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500"/>
                                        <p:tgtEl>
                                          <p:spTgt spid="1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500"/>
                                        <p:tgtEl>
                                          <p:spTgt spid="1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50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500"/>
                                        <p:tgtEl>
                                          <p:spTgt spid="2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fade">
                                      <p:cBhvr>
                                        <p:cTn id="58" dur="500"/>
                                        <p:tgtEl>
                                          <p:spTgt spid="21"/>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500"/>
                                        <p:tgtEl>
                                          <p:spTgt spid="22"/>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3"/>
                                        </p:tgtEl>
                                        <p:attrNameLst>
                                          <p:attrName>style.visibility</p:attrName>
                                        </p:attrNameLst>
                                      </p:cBhvr>
                                      <p:to>
                                        <p:strVal val="visible"/>
                                      </p:to>
                                    </p:set>
                                    <p:animEffect transition="in" filter="fade">
                                      <p:cBhvr>
                                        <p:cTn id="64" dur="500"/>
                                        <p:tgtEl>
                                          <p:spTgt spid="23"/>
                                        </p:tgtEl>
                                      </p:cBhvr>
                                    </p:animEffect>
                                  </p:childTnLst>
                                </p:cTn>
                              </p:par>
                            </p:childTnLst>
                          </p:cTn>
                        </p:par>
                        <p:par>
                          <p:cTn id="65" fill="hold">
                            <p:stCondLst>
                              <p:cond delay="350"/>
                            </p:stCondLst>
                            <p:childTnLst>
                              <p:par>
                                <p:cTn id="66" presetID="10" presetClass="entr" presetSubtype="0" fill="hold" grpId="0" nodeType="afterEffect">
                                  <p:stCondLst>
                                    <p:cond delay="0"/>
                                  </p:stCondLst>
                                  <p:childTnLst>
                                    <p:set>
                                      <p:cBhvr>
                                        <p:cTn id="67" dur="1" fill="hold">
                                          <p:stCondLst>
                                            <p:cond delay="0"/>
                                          </p:stCondLst>
                                        </p:cTn>
                                        <p:tgtEl>
                                          <p:spTgt spid="24"/>
                                        </p:tgtEl>
                                        <p:attrNameLst>
                                          <p:attrName>style.visibility</p:attrName>
                                        </p:attrNameLst>
                                      </p:cBhvr>
                                      <p:to>
                                        <p:strVal val="visible"/>
                                      </p:to>
                                    </p:set>
                                    <p:animEffect transition="in" filter="fade">
                                      <p:cBhvr>
                                        <p:cTn id="68" dur="500"/>
                                        <p:tgtEl>
                                          <p:spTgt spid="24"/>
                                        </p:tgtEl>
                                      </p:cBhvr>
                                    </p:animEffect>
                                  </p:childTnLst>
                                </p:cTn>
                              </p:par>
                              <p:par>
                                <p:cTn id="69" presetID="10" presetClass="entr" presetSubtype="0" fill="hold" grpId="0" nodeType="withEffect">
                                  <p:stCondLst>
                                    <p:cond delay="0"/>
                                  </p:stCondLst>
                                  <p:childTnLst>
                                    <p:set>
                                      <p:cBhvr>
                                        <p:cTn id="70" dur="1" fill="hold">
                                          <p:stCondLst>
                                            <p:cond delay="0"/>
                                          </p:stCondLst>
                                        </p:cTn>
                                        <p:tgtEl>
                                          <p:spTgt spid="25"/>
                                        </p:tgtEl>
                                        <p:attrNameLst>
                                          <p:attrName>style.visibility</p:attrName>
                                        </p:attrNameLst>
                                      </p:cBhvr>
                                      <p:to>
                                        <p:strVal val="visible"/>
                                      </p:to>
                                    </p:set>
                                    <p:animEffect transition="in" filter="fade">
                                      <p:cBhvr>
                                        <p:cTn id="71" dur="500"/>
                                        <p:tgtEl>
                                          <p:spTgt spid="25"/>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26"/>
                                        </p:tgtEl>
                                        <p:attrNameLst>
                                          <p:attrName>style.visibility</p:attrName>
                                        </p:attrNameLst>
                                      </p:cBhvr>
                                      <p:to>
                                        <p:strVal val="visible"/>
                                      </p:to>
                                    </p:set>
                                    <p:animEffect transition="in" filter="fade">
                                      <p:cBhvr>
                                        <p:cTn id="74" dur="500"/>
                                        <p:tgtEl>
                                          <p:spTgt spid="26"/>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27"/>
                                        </p:tgtEl>
                                        <p:attrNameLst>
                                          <p:attrName>style.visibility</p:attrName>
                                        </p:attrNameLst>
                                      </p:cBhvr>
                                      <p:to>
                                        <p:strVal val="visible"/>
                                      </p:to>
                                    </p:set>
                                    <p:animEffect transition="in" filter="fade">
                                      <p:cBhvr>
                                        <p:cTn id="77" dur="500"/>
                                        <p:tgtEl>
                                          <p:spTgt spid="27"/>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28"/>
                                        </p:tgtEl>
                                        <p:attrNameLst>
                                          <p:attrName>style.visibility</p:attrName>
                                        </p:attrNameLst>
                                      </p:cBhvr>
                                      <p:to>
                                        <p:strVal val="visible"/>
                                      </p:to>
                                    </p:set>
                                    <p:animEffect transition="in" filter="fade">
                                      <p:cBhvr>
                                        <p:cTn id="80" dur="500"/>
                                        <p:tgtEl>
                                          <p:spTgt spid="28"/>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9"/>
                                        </p:tgtEl>
                                        <p:attrNameLst>
                                          <p:attrName>style.visibility</p:attrName>
                                        </p:attrNameLst>
                                      </p:cBhvr>
                                      <p:to>
                                        <p:strVal val="visible"/>
                                      </p:to>
                                    </p:set>
                                    <p:animEffect transition="in" filter="fade">
                                      <p:cBhvr>
                                        <p:cTn id="83" dur="500"/>
                                        <p:tgtEl>
                                          <p:spTgt spid="29"/>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30"/>
                                        </p:tgtEl>
                                        <p:attrNameLst>
                                          <p:attrName>style.visibility</p:attrName>
                                        </p:attrNameLst>
                                      </p:cBhvr>
                                      <p:to>
                                        <p:strVal val="visible"/>
                                      </p:to>
                                    </p:set>
                                    <p:animEffect transition="in" filter="fade">
                                      <p:cBhvr>
                                        <p:cTn id="86" dur="500"/>
                                        <p:tgtEl>
                                          <p:spTgt spid="30"/>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31"/>
                                        </p:tgtEl>
                                        <p:attrNameLst>
                                          <p:attrName>style.visibility</p:attrName>
                                        </p:attrNameLst>
                                      </p:cBhvr>
                                      <p:to>
                                        <p:strVal val="visible"/>
                                      </p:to>
                                    </p:set>
                                    <p:animEffect transition="in" filter="fade">
                                      <p:cBhvr>
                                        <p:cTn id="89" dur="500"/>
                                        <p:tgtEl>
                                          <p:spTgt spid="31"/>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32"/>
                                        </p:tgtEl>
                                        <p:attrNameLst>
                                          <p:attrName>style.visibility</p:attrName>
                                        </p:attrNameLst>
                                      </p:cBhvr>
                                      <p:to>
                                        <p:strVal val="visible"/>
                                      </p:to>
                                    </p:set>
                                    <p:animEffect transition="in" filter="fade">
                                      <p:cBhvr>
                                        <p:cTn id="92" dur="500"/>
                                        <p:tgtEl>
                                          <p:spTgt spid="32"/>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3"/>
                                        </p:tgtEl>
                                        <p:attrNameLst>
                                          <p:attrName>style.visibility</p:attrName>
                                        </p:attrNameLst>
                                      </p:cBhvr>
                                      <p:to>
                                        <p:strVal val="visible"/>
                                      </p:to>
                                    </p:set>
                                    <p:animEffect transition="in" filter="fade">
                                      <p:cBhvr>
                                        <p:cTn id="95" dur="500"/>
                                        <p:tgtEl>
                                          <p:spTgt spid="33"/>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4"/>
                                        </p:tgtEl>
                                        <p:attrNameLst>
                                          <p:attrName>style.visibility</p:attrName>
                                        </p:attrNameLst>
                                      </p:cBhvr>
                                      <p:to>
                                        <p:strVal val="visible"/>
                                      </p:to>
                                    </p:set>
                                    <p:animEffect transition="in" filter="fade">
                                      <p:cBhvr>
                                        <p:cTn id="98" dur="500"/>
                                        <p:tgtEl>
                                          <p:spTgt spid="34"/>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5"/>
                                        </p:tgtEl>
                                        <p:attrNameLst>
                                          <p:attrName>style.visibility</p:attrName>
                                        </p:attrNameLst>
                                      </p:cBhvr>
                                      <p:to>
                                        <p:strVal val="visible"/>
                                      </p:to>
                                    </p:set>
                                    <p:animEffect transition="in" filter="fade">
                                      <p:cBhvr>
                                        <p:cTn id="101" dur="500"/>
                                        <p:tgtEl>
                                          <p:spTgt spid="35"/>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6"/>
                                        </p:tgtEl>
                                        <p:attrNameLst>
                                          <p:attrName>style.visibility</p:attrName>
                                        </p:attrNameLst>
                                      </p:cBhvr>
                                      <p:to>
                                        <p:strVal val="visible"/>
                                      </p:to>
                                    </p:set>
                                    <p:animEffect transition="in" filter="fade">
                                      <p:cBhvr>
                                        <p:cTn id="104" dur="500"/>
                                        <p:tgtEl>
                                          <p:spTgt spid="36"/>
                                        </p:tgtEl>
                                      </p:cBhvr>
                                    </p:animEffect>
                                  </p:childTnLst>
                                </p:cTn>
                              </p:par>
                              <p:par>
                                <p:cTn id="105" presetID="10" presetClass="entr" presetSubtype="0" fill="hold" grpId="0" nodeType="withEffect">
                                  <p:stCondLst>
                                    <p:cond delay="0"/>
                                  </p:stCondLst>
                                  <p:childTnLst>
                                    <p:set>
                                      <p:cBhvr>
                                        <p:cTn id="106" dur="1" fill="hold">
                                          <p:stCondLst>
                                            <p:cond delay="0"/>
                                          </p:stCondLst>
                                        </p:cTn>
                                        <p:tgtEl>
                                          <p:spTgt spid="37"/>
                                        </p:tgtEl>
                                        <p:attrNameLst>
                                          <p:attrName>style.visibility</p:attrName>
                                        </p:attrNameLst>
                                      </p:cBhvr>
                                      <p:to>
                                        <p:strVal val="visible"/>
                                      </p:to>
                                    </p:set>
                                    <p:animEffect transition="in" filter="fade">
                                      <p:cBhvr>
                                        <p:cTn id="107" dur="500"/>
                                        <p:tgtEl>
                                          <p:spTgt spid="37"/>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38"/>
                                        </p:tgtEl>
                                        <p:attrNameLst>
                                          <p:attrName>style.visibility</p:attrName>
                                        </p:attrNameLst>
                                      </p:cBhvr>
                                      <p:to>
                                        <p:strVal val="visible"/>
                                      </p:to>
                                    </p:set>
                                    <p:animEffect transition="in" filter="fade">
                                      <p:cBhvr>
                                        <p:cTn id="110" dur="500"/>
                                        <p:tgtEl>
                                          <p:spTgt spid="38"/>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39"/>
                                        </p:tgtEl>
                                        <p:attrNameLst>
                                          <p:attrName>style.visibility</p:attrName>
                                        </p:attrNameLst>
                                      </p:cBhvr>
                                      <p:to>
                                        <p:strVal val="visible"/>
                                      </p:to>
                                    </p:set>
                                    <p:animEffect transition="in" filter="fade">
                                      <p:cBhvr>
                                        <p:cTn id="113" dur="500"/>
                                        <p:tgtEl>
                                          <p:spTgt spid="39"/>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40"/>
                                        </p:tgtEl>
                                        <p:attrNameLst>
                                          <p:attrName>style.visibility</p:attrName>
                                        </p:attrNameLst>
                                      </p:cBhvr>
                                      <p:to>
                                        <p:strVal val="visible"/>
                                      </p:to>
                                    </p:set>
                                    <p:animEffect transition="in" filter="fade">
                                      <p:cBhvr>
                                        <p:cTn id="116" dur="500"/>
                                        <p:tgtEl>
                                          <p:spTgt spid="40"/>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41"/>
                                        </p:tgtEl>
                                        <p:attrNameLst>
                                          <p:attrName>style.visibility</p:attrName>
                                        </p:attrNameLst>
                                      </p:cBhvr>
                                      <p:to>
                                        <p:strVal val="visible"/>
                                      </p:to>
                                    </p:set>
                                    <p:animEffect transition="in" filter="fade">
                                      <p:cBhvr>
                                        <p:cTn id="119" dur="500"/>
                                        <p:tgtEl>
                                          <p:spTgt spid="41"/>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42"/>
                                        </p:tgtEl>
                                        <p:attrNameLst>
                                          <p:attrName>style.visibility</p:attrName>
                                        </p:attrNameLst>
                                      </p:cBhvr>
                                      <p:to>
                                        <p:strVal val="visible"/>
                                      </p:to>
                                    </p:set>
                                    <p:animEffect transition="in" filter="fade">
                                      <p:cBhvr>
                                        <p:cTn id="122" dur="500"/>
                                        <p:tgtEl>
                                          <p:spTgt spid="42"/>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43"/>
                                        </p:tgtEl>
                                        <p:attrNameLst>
                                          <p:attrName>style.visibility</p:attrName>
                                        </p:attrNameLst>
                                      </p:cBhvr>
                                      <p:to>
                                        <p:strVal val="visible"/>
                                      </p:to>
                                    </p:set>
                                    <p:animEffect transition="in" filter="fade">
                                      <p:cBhvr>
                                        <p:cTn id="125" dur="500"/>
                                        <p:tgtEl>
                                          <p:spTgt spid="43"/>
                                        </p:tgtEl>
                                      </p:cBhvr>
                                    </p:animEffect>
                                  </p:childTnLst>
                                </p:cTn>
                              </p:par>
                            </p:childTnLst>
                          </p:cTn>
                        </p:par>
                        <p:par>
                          <p:cTn id="126" fill="hold">
                            <p:stCondLst>
                              <p:cond delay="700"/>
                            </p:stCondLst>
                            <p:childTnLst>
                              <p:par>
                                <p:cTn id="127" presetID="10" presetClass="entr" presetSubtype="0" fill="hold" grpId="0" nodeType="afterEffect">
                                  <p:stCondLst>
                                    <p:cond delay="0"/>
                                  </p:stCondLst>
                                  <p:childTnLst>
                                    <p:set>
                                      <p:cBhvr>
                                        <p:cTn id="128" dur="1" fill="hold">
                                          <p:stCondLst>
                                            <p:cond delay="0"/>
                                          </p:stCondLst>
                                        </p:cTn>
                                        <p:tgtEl>
                                          <p:spTgt spid="44"/>
                                        </p:tgtEl>
                                        <p:attrNameLst>
                                          <p:attrName>style.visibility</p:attrName>
                                        </p:attrNameLst>
                                      </p:cBhvr>
                                      <p:to>
                                        <p:strVal val="visible"/>
                                      </p:to>
                                    </p:set>
                                    <p:animEffect transition="in" filter="fade">
                                      <p:cBhvr>
                                        <p:cTn id="129" dur="500"/>
                                        <p:tgtEl>
                                          <p:spTgt spid="44"/>
                                        </p:tgtEl>
                                      </p:cBhvr>
                                    </p:animEffect>
                                  </p:childTnLst>
                                </p:cTn>
                              </p:par>
                              <p:par>
                                <p:cTn id="130" presetID="10" presetClass="entr" presetSubtype="0" fill="hold" grpId="0" nodeType="withEffect">
                                  <p:stCondLst>
                                    <p:cond delay="0"/>
                                  </p:stCondLst>
                                  <p:childTnLst>
                                    <p:set>
                                      <p:cBhvr>
                                        <p:cTn id="131" dur="1" fill="hold">
                                          <p:stCondLst>
                                            <p:cond delay="0"/>
                                          </p:stCondLst>
                                        </p:cTn>
                                        <p:tgtEl>
                                          <p:spTgt spid="45"/>
                                        </p:tgtEl>
                                        <p:attrNameLst>
                                          <p:attrName>style.visibility</p:attrName>
                                        </p:attrNameLst>
                                      </p:cBhvr>
                                      <p:to>
                                        <p:strVal val="visible"/>
                                      </p:to>
                                    </p:set>
                                    <p:animEffect transition="in" filter="fade">
                                      <p:cBhvr>
                                        <p:cTn id="132" dur="500"/>
                                        <p:tgtEl>
                                          <p:spTgt spid="45"/>
                                        </p:tgtEl>
                                      </p:cBhvr>
                                    </p:animEffect>
                                  </p:childTnLst>
                                </p:cTn>
                              </p:par>
                              <p:par>
                                <p:cTn id="133" presetID="10" presetClass="entr" presetSubtype="0" fill="hold" grpId="0" nodeType="withEffect">
                                  <p:stCondLst>
                                    <p:cond delay="0"/>
                                  </p:stCondLst>
                                  <p:childTnLst>
                                    <p:set>
                                      <p:cBhvr>
                                        <p:cTn id="134" dur="1" fill="hold">
                                          <p:stCondLst>
                                            <p:cond delay="0"/>
                                          </p:stCondLst>
                                        </p:cTn>
                                        <p:tgtEl>
                                          <p:spTgt spid="46"/>
                                        </p:tgtEl>
                                        <p:attrNameLst>
                                          <p:attrName>style.visibility</p:attrName>
                                        </p:attrNameLst>
                                      </p:cBhvr>
                                      <p:to>
                                        <p:strVal val="visible"/>
                                      </p:to>
                                    </p:set>
                                    <p:animEffect transition="in" filter="fade">
                                      <p:cBhvr>
                                        <p:cTn id="135" dur="500"/>
                                        <p:tgtEl>
                                          <p:spTgt spid="46"/>
                                        </p:tgtEl>
                                      </p:cBhvr>
                                    </p:animEffect>
                                  </p:childTnLst>
                                </p:cTn>
                              </p:par>
                              <p:par>
                                <p:cTn id="136" presetID="10" presetClass="entr" presetSubtype="0" fill="hold" grpId="0" nodeType="withEffect">
                                  <p:stCondLst>
                                    <p:cond delay="0"/>
                                  </p:stCondLst>
                                  <p:childTnLst>
                                    <p:set>
                                      <p:cBhvr>
                                        <p:cTn id="137" dur="1" fill="hold">
                                          <p:stCondLst>
                                            <p:cond delay="0"/>
                                          </p:stCondLst>
                                        </p:cTn>
                                        <p:tgtEl>
                                          <p:spTgt spid="47"/>
                                        </p:tgtEl>
                                        <p:attrNameLst>
                                          <p:attrName>style.visibility</p:attrName>
                                        </p:attrNameLst>
                                      </p:cBhvr>
                                      <p:to>
                                        <p:strVal val="visible"/>
                                      </p:to>
                                    </p:set>
                                    <p:animEffect transition="in" filter="fade">
                                      <p:cBhvr>
                                        <p:cTn id="138" dur="500"/>
                                        <p:tgtEl>
                                          <p:spTgt spid="47"/>
                                        </p:tgtEl>
                                      </p:cBhvr>
                                    </p:animEffect>
                                  </p:childTnLst>
                                </p:cTn>
                              </p:par>
                              <p:par>
                                <p:cTn id="139" presetID="10" presetClass="entr" presetSubtype="0" fill="hold" grpId="0" nodeType="withEffect">
                                  <p:stCondLst>
                                    <p:cond delay="0"/>
                                  </p:stCondLst>
                                  <p:childTnLst>
                                    <p:set>
                                      <p:cBhvr>
                                        <p:cTn id="140" dur="1" fill="hold">
                                          <p:stCondLst>
                                            <p:cond delay="0"/>
                                          </p:stCondLst>
                                        </p:cTn>
                                        <p:tgtEl>
                                          <p:spTgt spid="48"/>
                                        </p:tgtEl>
                                        <p:attrNameLst>
                                          <p:attrName>style.visibility</p:attrName>
                                        </p:attrNameLst>
                                      </p:cBhvr>
                                      <p:to>
                                        <p:strVal val="visible"/>
                                      </p:to>
                                    </p:set>
                                    <p:animEffect transition="in" filter="fade">
                                      <p:cBhvr>
                                        <p:cTn id="141" dur="500"/>
                                        <p:tgtEl>
                                          <p:spTgt spid="48"/>
                                        </p:tgtEl>
                                      </p:cBhvr>
                                    </p:animEffect>
                                  </p:childTnLst>
                                </p:cTn>
                              </p:par>
                              <p:par>
                                <p:cTn id="142" presetID="10" presetClass="entr" presetSubtype="0" fill="hold" grpId="0" nodeType="withEffect">
                                  <p:stCondLst>
                                    <p:cond delay="0"/>
                                  </p:stCondLst>
                                  <p:childTnLst>
                                    <p:set>
                                      <p:cBhvr>
                                        <p:cTn id="143" dur="1" fill="hold">
                                          <p:stCondLst>
                                            <p:cond delay="0"/>
                                          </p:stCondLst>
                                        </p:cTn>
                                        <p:tgtEl>
                                          <p:spTgt spid="49"/>
                                        </p:tgtEl>
                                        <p:attrNameLst>
                                          <p:attrName>style.visibility</p:attrName>
                                        </p:attrNameLst>
                                      </p:cBhvr>
                                      <p:to>
                                        <p:strVal val="visible"/>
                                      </p:to>
                                    </p:set>
                                    <p:animEffect transition="in" filter="fade">
                                      <p:cBhvr>
                                        <p:cTn id="144" dur="500"/>
                                        <p:tgtEl>
                                          <p:spTgt spid="49"/>
                                        </p:tgtEl>
                                      </p:cBhvr>
                                    </p:animEffect>
                                  </p:childTnLst>
                                </p:cTn>
                              </p:par>
                              <p:par>
                                <p:cTn id="145" presetID="10" presetClass="entr" presetSubtype="0" fill="hold" grpId="0" nodeType="withEffect">
                                  <p:stCondLst>
                                    <p:cond delay="0"/>
                                  </p:stCondLst>
                                  <p:childTnLst>
                                    <p:set>
                                      <p:cBhvr>
                                        <p:cTn id="146" dur="1" fill="hold">
                                          <p:stCondLst>
                                            <p:cond delay="0"/>
                                          </p:stCondLst>
                                        </p:cTn>
                                        <p:tgtEl>
                                          <p:spTgt spid="50"/>
                                        </p:tgtEl>
                                        <p:attrNameLst>
                                          <p:attrName>style.visibility</p:attrName>
                                        </p:attrNameLst>
                                      </p:cBhvr>
                                      <p:to>
                                        <p:strVal val="visible"/>
                                      </p:to>
                                    </p:set>
                                    <p:animEffect transition="in" filter="fade">
                                      <p:cBhvr>
                                        <p:cTn id="147" dur="500"/>
                                        <p:tgtEl>
                                          <p:spTgt spid="50"/>
                                        </p:tgtEl>
                                      </p:cBhvr>
                                    </p:animEffect>
                                  </p:childTnLst>
                                </p:cTn>
                              </p:par>
                              <p:par>
                                <p:cTn id="148" presetID="10" presetClass="entr" presetSubtype="0" fill="hold" grpId="0" nodeType="withEffect">
                                  <p:stCondLst>
                                    <p:cond delay="0"/>
                                  </p:stCondLst>
                                  <p:childTnLst>
                                    <p:set>
                                      <p:cBhvr>
                                        <p:cTn id="149" dur="1" fill="hold">
                                          <p:stCondLst>
                                            <p:cond delay="0"/>
                                          </p:stCondLst>
                                        </p:cTn>
                                        <p:tgtEl>
                                          <p:spTgt spid="51"/>
                                        </p:tgtEl>
                                        <p:attrNameLst>
                                          <p:attrName>style.visibility</p:attrName>
                                        </p:attrNameLst>
                                      </p:cBhvr>
                                      <p:to>
                                        <p:strVal val="visible"/>
                                      </p:to>
                                    </p:set>
                                    <p:animEffect transition="in" filter="fade">
                                      <p:cBhvr>
                                        <p:cTn id="150" dur="500"/>
                                        <p:tgtEl>
                                          <p:spTgt spid="51"/>
                                        </p:tgtEl>
                                      </p:cBhvr>
                                    </p:animEffect>
                                  </p:childTnLst>
                                </p:cTn>
                              </p:par>
                              <p:par>
                                <p:cTn id="151" presetID="10" presetClass="entr" presetSubtype="0" fill="hold" grpId="0" nodeType="withEffect">
                                  <p:stCondLst>
                                    <p:cond delay="0"/>
                                  </p:stCondLst>
                                  <p:childTnLst>
                                    <p:set>
                                      <p:cBhvr>
                                        <p:cTn id="152" dur="1" fill="hold">
                                          <p:stCondLst>
                                            <p:cond delay="0"/>
                                          </p:stCondLst>
                                        </p:cTn>
                                        <p:tgtEl>
                                          <p:spTgt spid="52"/>
                                        </p:tgtEl>
                                        <p:attrNameLst>
                                          <p:attrName>style.visibility</p:attrName>
                                        </p:attrNameLst>
                                      </p:cBhvr>
                                      <p:to>
                                        <p:strVal val="visible"/>
                                      </p:to>
                                    </p:set>
                                    <p:animEffect transition="in" filter="fade">
                                      <p:cBhvr>
                                        <p:cTn id="153" dur="500"/>
                                        <p:tgtEl>
                                          <p:spTgt spid="52"/>
                                        </p:tgtEl>
                                      </p:cBhvr>
                                    </p:animEffect>
                                  </p:childTnLst>
                                </p:cTn>
                              </p:par>
                              <p:par>
                                <p:cTn id="154" presetID="10" presetClass="entr" presetSubtype="0" fill="hold" grpId="0" nodeType="withEffect">
                                  <p:stCondLst>
                                    <p:cond delay="0"/>
                                  </p:stCondLst>
                                  <p:childTnLst>
                                    <p:set>
                                      <p:cBhvr>
                                        <p:cTn id="155" dur="1" fill="hold">
                                          <p:stCondLst>
                                            <p:cond delay="0"/>
                                          </p:stCondLst>
                                        </p:cTn>
                                        <p:tgtEl>
                                          <p:spTgt spid="53"/>
                                        </p:tgtEl>
                                        <p:attrNameLst>
                                          <p:attrName>style.visibility</p:attrName>
                                        </p:attrNameLst>
                                      </p:cBhvr>
                                      <p:to>
                                        <p:strVal val="visible"/>
                                      </p:to>
                                    </p:set>
                                    <p:animEffect transition="in" filter="fade">
                                      <p:cBhvr>
                                        <p:cTn id="156" dur="500"/>
                                        <p:tgtEl>
                                          <p:spTgt spid="53"/>
                                        </p:tgtEl>
                                      </p:cBhvr>
                                    </p:animEffect>
                                  </p:childTnLst>
                                </p:cTn>
                              </p:par>
                              <p:par>
                                <p:cTn id="157" presetID="10" presetClass="entr" presetSubtype="0" fill="hold" grpId="0" nodeType="withEffect">
                                  <p:stCondLst>
                                    <p:cond delay="0"/>
                                  </p:stCondLst>
                                  <p:childTnLst>
                                    <p:set>
                                      <p:cBhvr>
                                        <p:cTn id="158" dur="1" fill="hold">
                                          <p:stCondLst>
                                            <p:cond delay="0"/>
                                          </p:stCondLst>
                                        </p:cTn>
                                        <p:tgtEl>
                                          <p:spTgt spid="54"/>
                                        </p:tgtEl>
                                        <p:attrNameLst>
                                          <p:attrName>style.visibility</p:attrName>
                                        </p:attrNameLst>
                                      </p:cBhvr>
                                      <p:to>
                                        <p:strVal val="visible"/>
                                      </p:to>
                                    </p:set>
                                    <p:animEffect transition="in" filter="fade">
                                      <p:cBhvr>
                                        <p:cTn id="159" dur="500"/>
                                        <p:tgtEl>
                                          <p:spTgt spid="54"/>
                                        </p:tgtEl>
                                      </p:cBhvr>
                                    </p:animEffect>
                                  </p:childTnLst>
                                </p:cTn>
                              </p:par>
                              <p:par>
                                <p:cTn id="160" presetID="10" presetClass="entr" presetSubtype="0" fill="hold" grpId="0" nodeType="withEffect">
                                  <p:stCondLst>
                                    <p:cond delay="0"/>
                                  </p:stCondLst>
                                  <p:childTnLst>
                                    <p:set>
                                      <p:cBhvr>
                                        <p:cTn id="161" dur="1" fill="hold">
                                          <p:stCondLst>
                                            <p:cond delay="0"/>
                                          </p:stCondLst>
                                        </p:cTn>
                                        <p:tgtEl>
                                          <p:spTgt spid="55"/>
                                        </p:tgtEl>
                                        <p:attrNameLst>
                                          <p:attrName>style.visibility</p:attrName>
                                        </p:attrNameLst>
                                      </p:cBhvr>
                                      <p:to>
                                        <p:strVal val="visible"/>
                                      </p:to>
                                    </p:set>
                                    <p:animEffect transition="in" filter="fade">
                                      <p:cBhvr>
                                        <p:cTn id="162" dur="500"/>
                                        <p:tgtEl>
                                          <p:spTgt spid="55"/>
                                        </p:tgtEl>
                                      </p:cBhvr>
                                    </p:animEffect>
                                  </p:childTnLst>
                                </p:cTn>
                              </p:par>
                              <p:par>
                                <p:cTn id="163" presetID="10" presetClass="entr" presetSubtype="0" fill="hold" grpId="0" nodeType="withEffect">
                                  <p:stCondLst>
                                    <p:cond delay="0"/>
                                  </p:stCondLst>
                                  <p:childTnLst>
                                    <p:set>
                                      <p:cBhvr>
                                        <p:cTn id="164" dur="1" fill="hold">
                                          <p:stCondLst>
                                            <p:cond delay="0"/>
                                          </p:stCondLst>
                                        </p:cTn>
                                        <p:tgtEl>
                                          <p:spTgt spid="56"/>
                                        </p:tgtEl>
                                        <p:attrNameLst>
                                          <p:attrName>style.visibility</p:attrName>
                                        </p:attrNameLst>
                                      </p:cBhvr>
                                      <p:to>
                                        <p:strVal val="visible"/>
                                      </p:to>
                                    </p:set>
                                    <p:animEffect transition="in" filter="fade">
                                      <p:cBhvr>
                                        <p:cTn id="165" dur="500"/>
                                        <p:tgtEl>
                                          <p:spTgt spid="56"/>
                                        </p:tgtEl>
                                      </p:cBhvr>
                                    </p:animEffect>
                                  </p:childTnLst>
                                </p:cTn>
                              </p:par>
                              <p:par>
                                <p:cTn id="166" presetID="10" presetClass="entr" presetSubtype="0" fill="hold" grpId="0" nodeType="withEffect">
                                  <p:stCondLst>
                                    <p:cond delay="0"/>
                                  </p:stCondLst>
                                  <p:childTnLst>
                                    <p:set>
                                      <p:cBhvr>
                                        <p:cTn id="167" dur="1" fill="hold">
                                          <p:stCondLst>
                                            <p:cond delay="0"/>
                                          </p:stCondLst>
                                        </p:cTn>
                                        <p:tgtEl>
                                          <p:spTgt spid="57"/>
                                        </p:tgtEl>
                                        <p:attrNameLst>
                                          <p:attrName>style.visibility</p:attrName>
                                        </p:attrNameLst>
                                      </p:cBhvr>
                                      <p:to>
                                        <p:strVal val="visible"/>
                                      </p:to>
                                    </p:set>
                                    <p:animEffect transition="in" filter="fade">
                                      <p:cBhvr>
                                        <p:cTn id="168" dur="500"/>
                                        <p:tgtEl>
                                          <p:spTgt spid="57"/>
                                        </p:tgtEl>
                                      </p:cBhvr>
                                    </p:animEffect>
                                  </p:childTnLst>
                                </p:cTn>
                              </p:par>
                              <p:par>
                                <p:cTn id="169" presetID="10" presetClass="entr" presetSubtype="0" fill="hold" grpId="0" nodeType="withEffect">
                                  <p:stCondLst>
                                    <p:cond delay="0"/>
                                  </p:stCondLst>
                                  <p:childTnLst>
                                    <p:set>
                                      <p:cBhvr>
                                        <p:cTn id="170" dur="1" fill="hold">
                                          <p:stCondLst>
                                            <p:cond delay="0"/>
                                          </p:stCondLst>
                                        </p:cTn>
                                        <p:tgtEl>
                                          <p:spTgt spid="58"/>
                                        </p:tgtEl>
                                        <p:attrNameLst>
                                          <p:attrName>style.visibility</p:attrName>
                                        </p:attrNameLst>
                                      </p:cBhvr>
                                      <p:to>
                                        <p:strVal val="visible"/>
                                      </p:to>
                                    </p:set>
                                    <p:animEffect transition="in" filter="fade">
                                      <p:cBhvr>
                                        <p:cTn id="171" dur="500"/>
                                        <p:tgtEl>
                                          <p:spTgt spid="58"/>
                                        </p:tgtEl>
                                      </p:cBhvr>
                                    </p:animEffect>
                                  </p:childTnLst>
                                </p:cTn>
                              </p:par>
                              <p:par>
                                <p:cTn id="172" presetID="10" presetClass="entr" presetSubtype="0" fill="hold" grpId="0" nodeType="withEffect">
                                  <p:stCondLst>
                                    <p:cond delay="0"/>
                                  </p:stCondLst>
                                  <p:childTnLst>
                                    <p:set>
                                      <p:cBhvr>
                                        <p:cTn id="173" dur="1" fill="hold">
                                          <p:stCondLst>
                                            <p:cond delay="0"/>
                                          </p:stCondLst>
                                        </p:cTn>
                                        <p:tgtEl>
                                          <p:spTgt spid="59"/>
                                        </p:tgtEl>
                                        <p:attrNameLst>
                                          <p:attrName>style.visibility</p:attrName>
                                        </p:attrNameLst>
                                      </p:cBhvr>
                                      <p:to>
                                        <p:strVal val="visible"/>
                                      </p:to>
                                    </p:set>
                                    <p:animEffect transition="in" filter="fade">
                                      <p:cBhvr>
                                        <p:cTn id="174" dur="500"/>
                                        <p:tgtEl>
                                          <p:spTgt spid="59"/>
                                        </p:tgtEl>
                                      </p:cBhvr>
                                    </p:animEffect>
                                  </p:childTnLst>
                                </p:cTn>
                              </p:par>
                              <p:par>
                                <p:cTn id="175" presetID="10" presetClass="entr" presetSubtype="0" fill="hold" grpId="0" nodeType="withEffect">
                                  <p:stCondLst>
                                    <p:cond delay="0"/>
                                  </p:stCondLst>
                                  <p:childTnLst>
                                    <p:set>
                                      <p:cBhvr>
                                        <p:cTn id="176" dur="1" fill="hold">
                                          <p:stCondLst>
                                            <p:cond delay="0"/>
                                          </p:stCondLst>
                                        </p:cTn>
                                        <p:tgtEl>
                                          <p:spTgt spid="60"/>
                                        </p:tgtEl>
                                        <p:attrNameLst>
                                          <p:attrName>style.visibility</p:attrName>
                                        </p:attrNameLst>
                                      </p:cBhvr>
                                      <p:to>
                                        <p:strVal val="visible"/>
                                      </p:to>
                                    </p:set>
                                    <p:animEffect transition="in" filter="fade">
                                      <p:cBhvr>
                                        <p:cTn id="177" dur="500"/>
                                        <p:tgtEl>
                                          <p:spTgt spid="60"/>
                                        </p:tgtEl>
                                      </p:cBhvr>
                                    </p:animEffect>
                                  </p:childTnLst>
                                </p:cTn>
                              </p:par>
                              <p:par>
                                <p:cTn id="178" presetID="10" presetClass="entr" presetSubtype="0" fill="hold" grpId="0" nodeType="withEffect">
                                  <p:stCondLst>
                                    <p:cond delay="0"/>
                                  </p:stCondLst>
                                  <p:childTnLst>
                                    <p:set>
                                      <p:cBhvr>
                                        <p:cTn id="179" dur="1" fill="hold">
                                          <p:stCondLst>
                                            <p:cond delay="0"/>
                                          </p:stCondLst>
                                        </p:cTn>
                                        <p:tgtEl>
                                          <p:spTgt spid="61"/>
                                        </p:tgtEl>
                                        <p:attrNameLst>
                                          <p:attrName>style.visibility</p:attrName>
                                        </p:attrNameLst>
                                      </p:cBhvr>
                                      <p:to>
                                        <p:strVal val="visible"/>
                                      </p:to>
                                    </p:set>
                                    <p:animEffect transition="in" filter="fade">
                                      <p:cBhvr>
                                        <p:cTn id="180" dur="500"/>
                                        <p:tgtEl>
                                          <p:spTgt spid="61"/>
                                        </p:tgtEl>
                                      </p:cBhvr>
                                    </p:animEffect>
                                  </p:childTnLst>
                                </p:cTn>
                              </p:par>
                              <p:par>
                                <p:cTn id="181" presetID="10" presetClass="entr" presetSubtype="0" fill="hold" grpId="0" nodeType="withEffect">
                                  <p:stCondLst>
                                    <p:cond delay="0"/>
                                  </p:stCondLst>
                                  <p:childTnLst>
                                    <p:set>
                                      <p:cBhvr>
                                        <p:cTn id="182" dur="1" fill="hold">
                                          <p:stCondLst>
                                            <p:cond delay="0"/>
                                          </p:stCondLst>
                                        </p:cTn>
                                        <p:tgtEl>
                                          <p:spTgt spid="62"/>
                                        </p:tgtEl>
                                        <p:attrNameLst>
                                          <p:attrName>style.visibility</p:attrName>
                                        </p:attrNameLst>
                                      </p:cBhvr>
                                      <p:to>
                                        <p:strVal val="visible"/>
                                      </p:to>
                                    </p:set>
                                    <p:animEffect transition="in" filter="fade">
                                      <p:cBhvr>
                                        <p:cTn id="183" dur="500"/>
                                        <p:tgtEl>
                                          <p:spTgt spid="62"/>
                                        </p:tgtEl>
                                      </p:cBhvr>
                                    </p:animEffect>
                                  </p:childTnLst>
                                </p:cTn>
                              </p:par>
                              <p:par>
                                <p:cTn id="184" presetID="10" presetClass="entr" presetSubtype="0" fill="hold" grpId="0" nodeType="withEffect">
                                  <p:stCondLst>
                                    <p:cond delay="0"/>
                                  </p:stCondLst>
                                  <p:childTnLst>
                                    <p:set>
                                      <p:cBhvr>
                                        <p:cTn id="185" dur="1" fill="hold">
                                          <p:stCondLst>
                                            <p:cond delay="0"/>
                                          </p:stCondLst>
                                        </p:cTn>
                                        <p:tgtEl>
                                          <p:spTgt spid="63"/>
                                        </p:tgtEl>
                                        <p:attrNameLst>
                                          <p:attrName>style.visibility</p:attrName>
                                        </p:attrNameLst>
                                      </p:cBhvr>
                                      <p:to>
                                        <p:strVal val="visible"/>
                                      </p:to>
                                    </p:set>
                                    <p:animEffect transition="in" filter="fade">
                                      <p:cBhvr>
                                        <p:cTn id="186" dur="500"/>
                                        <p:tgtEl>
                                          <p:spTgt spid="63"/>
                                        </p:tgtEl>
                                      </p:cBhvr>
                                    </p:animEffect>
                                  </p:childTnLst>
                                </p:cTn>
                              </p:par>
                            </p:childTnLst>
                          </p:cTn>
                        </p:par>
                        <p:par>
                          <p:cTn id="187" fill="hold">
                            <p:stCondLst>
                              <p:cond delay="1050"/>
                            </p:stCondLst>
                            <p:childTnLst>
                              <p:par>
                                <p:cTn id="188" presetID="10" presetClass="entr" presetSubtype="0" fill="hold" grpId="0" nodeType="afterEffect">
                                  <p:stCondLst>
                                    <p:cond delay="0"/>
                                  </p:stCondLst>
                                  <p:childTnLst>
                                    <p:set>
                                      <p:cBhvr>
                                        <p:cTn id="189" dur="1" fill="hold">
                                          <p:stCondLst>
                                            <p:cond delay="0"/>
                                          </p:stCondLst>
                                        </p:cTn>
                                        <p:tgtEl>
                                          <p:spTgt spid="64"/>
                                        </p:tgtEl>
                                        <p:attrNameLst>
                                          <p:attrName>style.visibility</p:attrName>
                                        </p:attrNameLst>
                                      </p:cBhvr>
                                      <p:to>
                                        <p:strVal val="visible"/>
                                      </p:to>
                                    </p:set>
                                    <p:animEffect transition="in" filter="fade">
                                      <p:cBhvr>
                                        <p:cTn id="190" dur="500"/>
                                        <p:tgtEl>
                                          <p:spTgt spid="64"/>
                                        </p:tgtEl>
                                      </p:cBhvr>
                                    </p:animEffect>
                                  </p:childTnLst>
                                </p:cTn>
                              </p:par>
                              <p:par>
                                <p:cTn id="191" presetID="10" presetClass="entr" presetSubtype="0" fill="hold" grpId="0" nodeType="withEffect">
                                  <p:stCondLst>
                                    <p:cond delay="0"/>
                                  </p:stCondLst>
                                  <p:childTnLst>
                                    <p:set>
                                      <p:cBhvr>
                                        <p:cTn id="192" dur="1" fill="hold">
                                          <p:stCondLst>
                                            <p:cond delay="0"/>
                                          </p:stCondLst>
                                        </p:cTn>
                                        <p:tgtEl>
                                          <p:spTgt spid="65"/>
                                        </p:tgtEl>
                                        <p:attrNameLst>
                                          <p:attrName>style.visibility</p:attrName>
                                        </p:attrNameLst>
                                      </p:cBhvr>
                                      <p:to>
                                        <p:strVal val="visible"/>
                                      </p:to>
                                    </p:set>
                                    <p:animEffect transition="in" filter="fade">
                                      <p:cBhvr>
                                        <p:cTn id="193" dur="500"/>
                                        <p:tgtEl>
                                          <p:spTgt spid="65"/>
                                        </p:tgtEl>
                                      </p:cBhvr>
                                    </p:animEffect>
                                  </p:childTnLst>
                                </p:cTn>
                              </p:par>
                              <p:par>
                                <p:cTn id="194" presetID="10" presetClass="entr" presetSubtype="0" fill="hold" grpId="0" nodeType="withEffect">
                                  <p:stCondLst>
                                    <p:cond delay="0"/>
                                  </p:stCondLst>
                                  <p:childTnLst>
                                    <p:set>
                                      <p:cBhvr>
                                        <p:cTn id="195" dur="1" fill="hold">
                                          <p:stCondLst>
                                            <p:cond delay="0"/>
                                          </p:stCondLst>
                                        </p:cTn>
                                        <p:tgtEl>
                                          <p:spTgt spid="66"/>
                                        </p:tgtEl>
                                        <p:attrNameLst>
                                          <p:attrName>style.visibility</p:attrName>
                                        </p:attrNameLst>
                                      </p:cBhvr>
                                      <p:to>
                                        <p:strVal val="visible"/>
                                      </p:to>
                                    </p:set>
                                    <p:animEffect transition="in" filter="fade">
                                      <p:cBhvr>
                                        <p:cTn id="196" dur="500"/>
                                        <p:tgtEl>
                                          <p:spTgt spid="66"/>
                                        </p:tgtEl>
                                      </p:cBhvr>
                                    </p:animEffect>
                                  </p:childTnLst>
                                </p:cTn>
                              </p:par>
                              <p:par>
                                <p:cTn id="197" presetID="10" presetClass="entr" presetSubtype="0" fill="hold" grpId="0" nodeType="withEffect">
                                  <p:stCondLst>
                                    <p:cond delay="0"/>
                                  </p:stCondLst>
                                  <p:childTnLst>
                                    <p:set>
                                      <p:cBhvr>
                                        <p:cTn id="198" dur="1" fill="hold">
                                          <p:stCondLst>
                                            <p:cond delay="0"/>
                                          </p:stCondLst>
                                        </p:cTn>
                                        <p:tgtEl>
                                          <p:spTgt spid="67"/>
                                        </p:tgtEl>
                                        <p:attrNameLst>
                                          <p:attrName>style.visibility</p:attrName>
                                        </p:attrNameLst>
                                      </p:cBhvr>
                                      <p:to>
                                        <p:strVal val="visible"/>
                                      </p:to>
                                    </p:set>
                                    <p:animEffect transition="in" filter="fade">
                                      <p:cBhvr>
                                        <p:cTn id="199" dur="500"/>
                                        <p:tgtEl>
                                          <p:spTgt spid="67"/>
                                        </p:tgtEl>
                                      </p:cBhvr>
                                    </p:animEffect>
                                  </p:childTnLst>
                                </p:cTn>
                              </p:par>
                              <p:par>
                                <p:cTn id="200" presetID="10" presetClass="entr" presetSubtype="0" fill="hold" grpId="0" nodeType="withEffect">
                                  <p:stCondLst>
                                    <p:cond delay="0"/>
                                  </p:stCondLst>
                                  <p:childTnLst>
                                    <p:set>
                                      <p:cBhvr>
                                        <p:cTn id="201" dur="1" fill="hold">
                                          <p:stCondLst>
                                            <p:cond delay="0"/>
                                          </p:stCondLst>
                                        </p:cTn>
                                        <p:tgtEl>
                                          <p:spTgt spid="68"/>
                                        </p:tgtEl>
                                        <p:attrNameLst>
                                          <p:attrName>style.visibility</p:attrName>
                                        </p:attrNameLst>
                                      </p:cBhvr>
                                      <p:to>
                                        <p:strVal val="visible"/>
                                      </p:to>
                                    </p:set>
                                    <p:animEffect transition="in" filter="fade">
                                      <p:cBhvr>
                                        <p:cTn id="202" dur="500"/>
                                        <p:tgtEl>
                                          <p:spTgt spid="68"/>
                                        </p:tgtEl>
                                      </p:cBhvr>
                                    </p:animEffect>
                                  </p:childTnLst>
                                </p:cTn>
                              </p:par>
                              <p:par>
                                <p:cTn id="203" presetID="10" presetClass="entr" presetSubtype="0" fill="hold" grpId="0" nodeType="withEffect">
                                  <p:stCondLst>
                                    <p:cond delay="0"/>
                                  </p:stCondLst>
                                  <p:childTnLst>
                                    <p:set>
                                      <p:cBhvr>
                                        <p:cTn id="204" dur="1" fill="hold">
                                          <p:stCondLst>
                                            <p:cond delay="0"/>
                                          </p:stCondLst>
                                        </p:cTn>
                                        <p:tgtEl>
                                          <p:spTgt spid="69"/>
                                        </p:tgtEl>
                                        <p:attrNameLst>
                                          <p:attrName>style.visibility</p:attrName>
                                        </p:attrNameLst>
                                      </p:cBhvr>
                                      <p:to>
                                        <p:strVal val="visible"/>
                                      </p:to>
                                    </p:set>
                                    <p:animEffect transition="in" filter="fade">
                                      <p:cBhvr>
                                        <p:cTn id="205" dur="500"/>
                                        <p:tgtEl>
                                          <p:spTgt spid="6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0" grpId="0" animBg="1"/>
      <p:bldP spid="12" grpId="0" animBg="1"/>
      <p:bldP spid="13" grpId="0" animBg="1"/>
      <p:bldP spid="14" grpId="0" animBg="1"/>
      <p:bldP spid="15" grpId="0" animBg="1"/>
      <p:bldP spid="17" grpId="0" animBg="1"/>
      <p:bldP spid="18" grpId="0" animBg="1"/>
      <p:bldP spid="19" grpId="0" animBg="1"/>
      <p:bldP spid="20" grpId="0" animBg="1"/>
      <p:bldP spid="22" grpId="0" animBg="1"/>
      <p:bldP spid="23" grpId="0" animBg="1"/>
      <p:bldP spid="24" grpId="0" animBg="1"/>
      <p:bldP spid="25" grpId="0" animBg="1"/>
      <p:bldP spid="27" grpId="0" animBg="1"/>
      <p:bldP spid="28" grpId="0" animBg="1"/>
      <p:bldP spid="29" grpId="0" animBg="1"/>
      <p:bldP spid="30" grpId="0" animBg="1"/>
      <p:bldP spid="32" grpId="0" animBg="1"/>
      <p:bldP spid="33" grpId="0" animBg="1"/>
      <p:bldP spid="34" grpId="0" animBg="1"/>
      <p:bldP spid="35" grpId="0" animBg="1"/>
      <p:bldP spid="37" grpId="0" animBg="1"/>
      <p:bldP spid="38" grpId="0" animBg="1"/>
      <p:bldP spid="39" grpId="0" animBg="1"/>
      <p:bldP spid="40" grpId="0" animBg="1"/>
      <p:bldP spid="42" grpId="0" animBg="1"/>
      <p:bldP spid="43" grpId="0" animBg="1"/>
      <p:bldP spid="44" grpId="0" animBg="1"/>
      <p:bldP spid="45" grpId="0" animBg="1"/>
      <p:bldP spid="47" grpId="0" animBg="1"/>
      <p:bldP spid="48" grpId="0" animBg="1"/>
      <p:bldP spid="49" grpId="0" animBg="1"/>
      <p:bldP spid="50" grpId="0" animBg="1"/>
      <p:bldP spid="52" grpId="0" animBg="1"/>
      <p:bldP spid="53" grpId="0" animBg="1"/>
      <p:bldP spid="54" grpId="0" animBg="1"/>
      <p:bldP spid="55" grpId="0" animBg="1"/>
      <p:bldP spid="57" grpId="0" animBg="1"/>
      <p:bldP spid="58" grpId="0" animBg="1"/>
      <p:bldP spid="59" grpId="0" animBg="1"/>
      <p:bldP spid="60" grpId="0" animBg="1"/>
      <p:bldP spid="62" grpId="0" animBg="1"/>
      <p:bldP spid="63" grpId="0" animBg="1"/>
      <p:bldP spid="64" grpId="0" animBg="1"/>
      <p:bldP spid="65" grpId="0" animBg="1"/>
      <p:bldP spid="66" grpId="0" animBg="1"/>
      <p:bldP spid="67" grpId="0" animBg="1"/>
      <p:bldP spid="68" grpId="0" animBg="1"/>
      <p:bldP spid="6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itle"/>
          <p:cNvSpPr txBox="1"/>
          <p:nvPr/>
        </p:nvSpPr>
        <p:spPr>
          <a:xfrm>
            <a:off x="548640" y="320040"/>
            <a:ext cx="11094415" cy="777240"/>
          </a:xfrm>
          <a:prstGeom prst="rect">
            <a:avLst/>
          </a:prstGeom>
          <a:noFill/>
          <a:ln/>
        </p:spPr>
        <p:txBody>
          <a:bodyPr wrap="square" lIns="0" tIns="0" rIns="0" bIns="0" rtlCol="0" anchor="ctr"/>
          <a:lstStyle/>
          <a:p>
            <a:pPr indent="0" marL="0">
              <a:buNone/>
            </a:pPr>
            <a:r>
              <a:rPr lang="en-US" sz="3400" b="1" dirty="0">
                <a:solidFill>
                  <a:srgbClr val="1B2333"/>
                </a:solidFill>
                <a:latin typeface="Cambria" pitchFamily="34" charset="0"/>
                <a:ea typeface="Cambria" pitchFamily="34" charset="-122"/>
                <a:cs typeface="Cambria" pitchFamily="34" charset="-120"/>
              </a:rPr>
              <a:t>Limites et perspectives</a:t>
            </a:r>
            <a:endParaRPr lang="en-US" sz="3400" dirty="0"/>
          </a:p>
        </p:txBody>
      </p:sp>
      <p:sp>
        <p:nvSpPr>
          <p:cNvPr id="3" name="page"/>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100" dirty="0">
                <a:solidFill>
                  <a:srgbClr val="5B6577"/>
                </a:solidFill>
                <a:latin typeface="Calibri" pitchFamily="34" charset="0"/>
                <a:ea typeface="Calibri" pitchFamily="34" charset="-122"/>
                <a:cs typeface="Calibri" pitchFamily="34" charset="-120"/>
              </a:rPr>
              <a:t>15</a:t>
            </a:r>
            <a:endParaRPr lang="en-US" sz="1100" dirty="0"/>
          </a:p>
        </p:txBody>
      </p:sp>
      <p:sp>
        <p:nvSpPr>
          <p:cNvPr id="4" name="a1_h"/>
          <p:cNvSpPr txBox="1"/>
          <p:nvPr/>
        </p:nvSpPr>
        <p:spPr>
          <a:xfrm>
            <a:off x="640080" y="1280160"/>
            <a:ext cx="5120640" cy="457200"/>
          </a:xfrm>
          <a:prstGeom prst="rect">
            <a:avLst/>
          </a:prstGeom>
          <a:noFill/>
          <a:ln/>
        </p:spPr>
        <p:txBody>
          <a:bodyPr wrap="square" lIns="0" tIns="0" rIns="0" bIns="0" rtlCol="0" anchor="ctr"/>
          <a:lstStyle/>
          <a:p>
            <a:pPr indent="0" marL="0">
              <a:buNone/>
            </a:pPr>
            <a:r>
              <a:rPr lang="en-US" sz="2200" b="1" dirty="0">
                <a:solidFill>
                  <a:srgbClr val="F2545B"/>
                </a:solidFill>
                <a:latin typeface="Cambria" pitchFamily="34" charset="0"/>
                <a:ea typeface="Cambria" pitchFamily="34" charset="-122"/>
                <a:cs typeface="Cambria" pitchFamily="34" charset="-120"/>
              </a:rPr>
              <a:t>Limites</a:t>
            </a:r>
            <a:endParaRPr lang="en-US" sz="2200" dirty="0"/>
          </a:p>
        </p:txBody>
      </p:sp>
      <p:sp>
        <p:nvSpPr>
          <p:cNvPr id="5" name="a2_i_disc"/>
          <p:cNvSpPr/>
          <p:nvPr/>
        </p:nvSpPr>
        <p:spPr>
          <a:xfrm>
            <a:off x="640080" y="1920240"/>
            <a:ext cx="777240" cy="777240"/>
          </a:xfrm>
          <a:prstGeom prst="ellipse">
            <a:avLst/>
          </a:prstGeom>
          <a:solidFill>
            <a:srgbClr val="F2545B"/>
          </a:solidFill>
          <a:ln w="12700">
            <a:solidFill>
              <a:srgbClr val="F2545B"/>
            </a:solidFill>
            <a:prstDash val="solid"/>
          </a:ln>
        </p:spPr>
      </p:sp>
      <p:pic>
        <p:nvPicPr>
          <p:cNvPr id="6" name="a2_i_icon" descr="preencoded.png">    </p:cNvPr>
          <p:cNvPicPr>
            <a:picLocks noChangeAspect="1"/>
          </p:cNvPicPr>
          <p:nvPr/>
        </p:nvPicPr>
        <p:blipFill>
          <a:blip r:embed="rId1"/>
          <a:stretch>
            <a:fillRect/>
          </a:stretch>
        </p:blipFill>
        <p:spPr>
          <a:xfrm>
            <a:off x="826618" y="2106778"/>
            <a:ext cx="404165" cy="404165"/>
          </a:xfrm>
          <a:prstGeom prst="rect">
            <a:avLst/>
          </a:prstGeom>
        </p:spPr>
      </p:pic>
      <p:sp>
        <p:nvSpPr>
          <p:cNvPr id="7" name="a2_t"/>
          <p:cNvSpPr txBox="1"/>
          <p:nvPr/>
        </p:nvSpPr>
        <p:spPr>
          <a:xfrm>
            <a:off x="1600200" y="1920240"/>
            <a:ext cx="4297680" cy="411480"/>
          </a:xfrm>
          <a:prstGeom prst="rect">
            <a:avLst/>
          </a:prstGeom>
          <a:noFill/>
          <a:ln/>
        </p:spPr>
        <p:txBody>
          <a:bodyPr wrap="square" lIns="0" tIns="0" rIns="0" bIns="0" rtlCol="0" anchor="ctr"/>
          <a:lstStyle/>
          <a:p>
            <a:pPr indent="0" marL="0">
              <a:buNone/>
            </a:pPr>
            <a:r>
              <a:rPr lang="en-US" sz="1800" b="1" dirty="0">
                <a:solidFill>
                  <a:srgbClr val="1B2333"/>
                </a:solidFill>
                <a:latin typeface="Calibri" pitchFamily="34" charset="0"/>
                <a:ea typeface="Calibri" pitchFamily="34" charset="-122"/>
                <a:cs typeface="Calibri" pitchFamily="34" charset="-120"/>
              </a:rPr>
              <a:t>Données simulées</a:t>
            </a:r>
            <a:endParaRPr lang="en-US" sz="1800" dirty="0"/>
          </a:p>
        </p:txBody>
      </p:sp>
      <p:sp>
        <p:nvSpPr>
          <p:cNvPr id="8" name="a2_d"/>
          <p:cNvSpPr txBox="1"/>
          <p:nvPr/>
        </p:nvSpPr>
        <p:spPr>
          <a:xfrm>
            <a:off x="1600200" y="2331720"/>
            <a:ext cx="4297680" cy="548640"/>
          </a:xfrm>
          <a:prstGeom prst="rect">
            <a:avLst/>
          </a:prstGeom>
          <a:noFill/>
          <a:ln/>
        </p:spPr>
        <p:txBody>
          <a:bodyPr wrap="square" lIns="0" tIns="0" rIns="0" bIns="0" rtlCol="0" anchor="ctr"/>
          <a:lstStyle/>
          <a:p>
            <a:pPr indent="0" marL="0">
              <a:buNone/>
            </a:pPr>
            <a:r>
              <a:rPr lang="en-US" sz="1500" dirty="0">
                <a:solidFill>
                  <a:srgbClr val="5B6577"/>
                </a:solidFill>
                <a:latin typeface="Calibri" pitchFamily="34" charset="0"/>
                <a:ea typeface="Calibri" pitchFamily="34" charset="-122"/>
                <a:cs typeface="Calibri" pitchFamily="34" charset="-120"/>
              </a:rPr>
              <a:t>les scores mesurent la capacité à retrouver les motifs du générateur</a:t>
            </a:r>
            <a:endParaRPr lang="en-US" sz="1500" dirty="0"/>
          </a:p>
        </p:txBody>
      </p:sp>
      <p:sp>
        <p:nvSpPr>
          <p:cNvPr id="9" name="a3_i_disc"/>
          <p:cNvSpPr/>
          <p:nvPr/>
        </p:nvSpPr>
        <p:spPr>
          <a:xfrm>
            <a:off x="640080" y="3291840"/>
            <a:ext cx="777240" cy="777240"/>
          </a:xfrm>
          <a:prstGeom prst="ellipse">
            <a:avLst/>
          </a:prstGeom>
          <a:solidFill>
            <a:srgbClr val="F2545B"/>
          </a:solidFill>
          <a:ln w="12700">
            <a:solidFill>
              <a:srgbClr val="F2545B"/>
            </a:solidFill>
            <a:prstDash val="solid"/>
          </a:ln>
        </p:spPr>
      </p:sp>
      <p:pic>
        <p:nvPicPr>
          <p:cNvPr id="10" name="a3_i_icon" descr="preencoded.png">    </p:cNvPr>
          <p:cNvPicPr>
            <a:picLocks noChangeAspect="1"/>
          </p:cNvPicPr>
          <p:nvPr/>
        </p:nvPicPr>
        <p:blipFill>
          <a:blip r:embed="rId2"/>
          <a:stretch>
            <a:fillRect/>
          </a:stretch>
        </p:blipFill>
        <p:spPr>
          <a:xfrm>
            <a:off x="826618" y="3478378"/>
            <a:ext cx="404165" cy="404165"/>
          </a:xfrm>
          <a:prstGeom prst="rect">
            <a:avLst/>
          </a:prstGeom>
        </p:spPr>
      </p:pic>
      <p:sp>
        <p:nvSpPr>
          <p:cNvPr id="11" name="a3_t"/>
          <p:cNvSpPr txBox="1"/>
          <p:nvPr/>
        </p:nvSpPr>
        <p:spPr>
          <a:xfrm>
            <a:off x="1600200" y="3291840"/>
            <a:ext cx="4297680" cy="411480"/>
          </a:xfrm>
          <a:prstGeom prst="rect">
            <a:avLst/>
          </a:prstGeom>
          <a:noFill/>
          <a:ln/>
        </p:spPr>
        <p:txBody>
          <a:bodyPr wrap="square" lIns="0" tIns="0" rIns="0" bIns="0" rtlCol="0" anchor="ctr"/>
          <a:lstStyle/>
          <a:p>
            <a:pPr indent="0" marL="0">
              <a:buNone/>
            </a:pPr>
            <a:r>
              <a:rPr lang="en-US" sz="1800" b="1" dirty="0">
                <a:solidFill>
                  <a:srgbClr val="1B2333"/>
                </a:solidFill>
                <a:latin typeface="Calibri" pitchFamily="34" charset="0"/>
                <a:ea typeface="Calibri" pitchFamily="34" charset="-122"/>
                <a:cs typeface="Calibri" pitchFamily="34" charset="-120"/>
              </a:rPr>
              <a:t>Règles propres à IBM</a:t>
            </a:r>
            <a:endParaRPr lang="en-US" sz="1800" dirty="0"/>
          </a:p>
        </p:txBody>
      </p:sp>
      <p:sp>
        <p:nvSpPr>
          <p:cNvPr id="12" name="a3_d"/>
          <p:cNvSpPr txBox="1"/>
          <p:nvPr/>
        </p:nvSpPr>
        <p:spPr>
          <a:xfrm>
            <a:off x="1600200" y="3703320"/>
            <a:ext cx="4297680" cy="548640"/>
          </a:xfrm>
          <a:prstGeom prst="rect">
            <a:avLst/>
          </a:prstGeom>
          <a:noFill/>
          <a:ln/>
        </p:spPr>
        <p:txBody>
          <a:bodyPr wrap="square" lIns="0" tIns="0" rIns="0" bIns="0" rtlCol="0" anchor="ctr"/>
          <a:lstStyle/>
          <a:p>
            <a:pPr indent="0" marL="0">
              <a:buNone/>
            </a:pPr>
            <a:r>
              <a:rPr lang="en-US" sz="1500" dirty="0">
                <a:solidFill>
                  <a:srgbClr val="5B6577"/>
                </a:solidFill>
                <a:latin typeface="Calibri" pitchFamily="34" charset="0"/>
                <a:ea typeface="Calibri" pitchFamily="34" charset="-122"/>
                <a:cs typeface="Calibri" pitchFamily="34" charset="-120"/>
              </a:rPr>
              <a:t>ACH seul, pas de multi-devises : à revoir sur données réelles</a:t>
            </a:r>
            <a:endParaRPr lang="en-US" sz="1500" dirty="0"/>
          </a:p>
        </p:txBody>
      </p:sp>
      <p:sp>
        <p:nvSpPr>
          <p:cNvPr id="13" name="a4_i_disc"/>
          <p:cNvSpPr/>
          <p:nvPr/>
        </p:nvSpPr>
        <p:spPr>
          <a:xfrm>
            <a:off x="640080" y="4663440"/>
            <a:ext cx="777240" cy="777240"/>
          </a:xfrm>
          <a:prstGeom prst="ellipse">
            <a:avLst/>
          </a:prstGeom>
          <a:solidFill>
            <a:srgbClr val="F2545B"/>
          </a:solidFill>
          <a:ln w="12700">
            <a:solidFill>
              <a:srgbClr val="F2545B"/>
            </a:solidFill>
            <a:prstDash val="solid"/>
          </a:ln>
        </p:spPr>
      </p:sp>
      <p:pic>
        <p:nvPicPr>
          <p:cNvPr id="14" name="a4_i_icon" descr="preencoded.png">    </p:cNvPr>
          <p:cNvPicPr>
            <a:picLocks noChangeAspect="1"/>
          </p:cNvPicPr>
          <p:nvPr/>
        </p:nvPicPr>
        <p:blipFill>
          <a:blip r:embed="rId3"/>
          <a:stretch>
            <a:fillRect/>
          </a:stretch>
        </p:blipFill>
        <p:spPr>
          <a:xfrm>
            <a:off x="826618" y="4849978"/>
            <a:ext cx="404165" cy="404165"/>
          </a:xfrm>
          <a:prstGeom prst="rect">
            <a:avLst/>
          </a:prstGeom>
        </p:spPr>
      </p:pic>
      <p:sp>
        <p:nvSpPr>
          <p:cNvPr id="15" name="a4_t"/>
          <p:cNvSpPr txBox="1"/>
          <p:nvPr/>
        </p:nvSpPr>
        <p:spPr>
          <a:xfrm>
            <a:off x="1600200" y="4663440"/>
            <a:ext cx="4297680" cy="411480"/>
          </a:xfrm>
          <a:prstGeom prst="rect">
            <a:avLst/>
          </a:prstGeom>
          <a:noFill/>
          <a:ln/>
        </p:spPr>
        <p:txBody>
          <a:bodyPr wrap="square" lIns="0" tIns="0" rIns="0" bIns="0" rtlCol="0" anchor="ctr"/>
          <a:lstStyle/>
          <a:p>
            <a:pPr indent="0" marL="0">
              <a:buNone/>
            </a:pPr>
            <a:r>
              <a:rPr lang="en-US" sz="1800" b="1" dirty="0">
                <a:solidFill>
                  <a:srgbClr val="1B2333"/>
                </a:solidFill>
                <a:latin typeface="Calibri" pitchFamily="34" charset="0"/>
                <a:ea typeface="Calibri" pitchFamily="34" charset="-122"/>
                <a:cs typeface="Calibri" pitchFamily="34" charset="-120"/>
              </a:rPr>
              <a:t>36 % hors motif</a:t>
            </a:r>
            <a:endParaRPr lang="en-US" sz="1800" dirty="0"/>
          </a:p>
        </p:txBody>
      </p:sp>
      <p:sp>
        <p:nvSpPr>
          <p:cNvPr id="16" name="a4_d"/>
          <p:cNvSpPr txBox="1"/>
          <p:nvPr/>
        </p:nvSpPr>
        <p:spPr>
          <a:xfrm>
            <a:off x="1600200" y="5074920"/>
            <a:ext cx="4297680" cy="548640"/>
          </a:xfrm>
          <a:prstGeom prst="rect">
            <a:avLst/>
          </a:prstGeom>
          <a:noFill/>
          <a:ln/>
        </p:spPr>
        <p:txBody>
          <a:bodyPr wrap="square" lIns="0" tIns="0" rIns="0" bIns="0" rtlCol="0" anchor="ctr"/>
          <a:lstStyle/>
          <a:p>
            <a:pPr indent="0" marL="0">
              <a:buNone/>
            </a:pPr>
            <a:r>
              <a:rPr lang="en-US" sz="1500" dirty="0">
                <a:solidFill>
                  <a:srgbClr val="5B6577"/>
                </a:solidFill>
                <a:latin typeface="Calibri" pitchFamily="34" charset="0"/>
                <a:ea typeface="Calibri" pitchFamily="34" charset="-122"/>
                <a:cs typeface="Calibri" pitchFamily="34" charset="-120"/>
              </a:rPr>
              <a:t>aucune règle ne peut voir ce blanchiment</a:t>
            </a:r>
            <a:endParaRPr lang="en-US" sz="1500" dirty="0"/>
          </a:p>
        </p:txBody>
      </p:sp>
      <p:sp>
        <p:nvSpPr>
          <p:cNvPr id="17" name="a5_h"/>
          <p:cNvSpPr txBox="1"/>
          <p:nvPr/>
        </p:nvSpPr>
        <p:spPr>
          <a:xfrm>
            <a:off x="6309360" y="1280160"/>
            <a:ext cx="5120640" cy="457200"/>
          </a:xfrm>
          <a:prstGeom prst="rect">
            <a:avLst/>
          </a:prstGeom>
          <a:noFill/>
          <a:ln/>
        </p:spPr>
        <p:txBody>
          <a:bodyPr wrap="square" lIns="0" tIns="0" rIns="0" bIns="0" rtlCol="0" anchor="ctr"/>
          <a:lstStyle/>
          <a:p>
            <a:pPr indent="0" marL="0">
              <a:buNone/>
            </a:pPr>
            <a:r>
              <a:rPr lang="en-US" sz="2200" b="1" dirty="0">
                <a:solidFill>
                  <a:srgbClr val="00A99D"/>
                </a:solidFill>
                <a:latin typeface="Cambria" pitchFamily="34" charset="0"/>
                <a:ea typeface="Cambria" pitchFamily="34" charset="-122"/>
                <a:cs typeface="Cambria" pitchFamily="34" charset="-120"/>
              </a:rPr>
              <a:t>Perspectives</a:t>
            </a:r>
            <a:endParaRPr lang="en-US" sz="2200" dirty="0"/>
          </a:p>
        </p:txBody>
      </p:sp>
      <p:sp>
        <p:nvSpPr>
          <p:cNvPr id="18" name="a6_i_disc"/>
          <p:cNvSpPr/>
          <p:nvPr/>
        </p:nvSpPr>
        <p:spPr>
          <a:xfrm>
            <a:off x="6309360" y="1920240"/>
            <a:ext cx="777240" cy="777240"/>
          </a:xfrm>
          <a:prstGeom prst="ellipse">
            <a:avLst/>
          </a:prstGeom>
          <a:solidFill>
            <a:srgbClr val="00A99D"/>
          </a:solidFill>
          <a:ln w="12700">
            <a:solidFill>
              <a:srgbClr val="00A99D"/>
            </a:solidFill>
            <a:prstDash val="solid"/>
          </a:ln>
        </p:spPr>
      </p:sp>
      <p:pic>
        <p:nvPicPr>
          <p:cNvPr id="19" name="a6_i_icon" descr="preencoded.png">    </p:cNvPr>
          <p:cNvPicPr>
            <a:picLocks noChangeAspect="1"/>
          </p:cNvPicPr>
          <p:nvPr/>
        </p:nvPicPr>
        <p:blipFill>
          <a:blip r:embed="rId4"/>
          <a:stretch>
            <a:fillRect/>
          </a:stretch>
        </p:blipFill>
        <p:spPr>
          <a:xfrm>
            <a:off x="6495898" y="2106778"/>
            <a:ext cx="404165" cy="404165"/>
          </a:xfrm>
          <a:prstGeom prst="rect">
            <a:avLst/>
          </a:prstGeom>
        </p:spPr>
      </p:pic>
      <p:sp>
        <p:nvSpPr>
          <p:cNvPr id="20" name="a6_t"/>
          <p:cNvSpPr txBox="1"/>
          <p:nvPr/>
        </p:nvSpPr>
        <p:spPr>
          <a:xfrm>
            <a:off x="7269480" y="1920240"/>
            <a:ext cx="4297680" cy="411480"/>
          </a:xfrm>
          <a:prstGeom prst="rect">
            <a:avLst/>
          </a:prstGeom>
          <a:noFill/>
          <a:ln/>
        </p:spPr>
        <p:txBody>
          <a:bodyPr wrap="square" lIns="0" tIns="0" rIns="0" bIns="0" rtlCol="0" anchor="ctr"/>
          <a:lstStyle/>
          <a:p>
            <a:pPr indent="0" marL="0">
              <a:buNone/>
            </a:pPr>
            <a:r>
              <a:rPr lang="en-US" sz="1800" b="1" dirty="0">
                <a:solidFill>
                  <a:srgbClr val="1B2333"/>
                </a:solidFill>
                <a:latin typeface="Calibri" pitchFamily="34" charset="0"/>
                <a:ea typeface="Calibri" pitchFamily="34" charset="-122"/>
                <a:cs typeface="Calibri" pitchFamily="34" charset="-120"/>
              </a:rPr>
              <a:t>GNN temporels et hétérogènes</a:t>
            </a:r>
            <a:endParaRPr lang="en-US" sz="1800" dirty="0"/>
          </a:p>
        </p:txBody>
      </p:sp>
      <p:sp>
        <p:nvSpPr>
          <p:cNvPr id="21" name="a6_d"/>
          <p:cNvSpPr txBox="1"/>
          <p:nvPr/>
        </p:nvSpPr>
        <p:spPr>
          <a:xfrm>
            <a:off x="7269480" y="2331720"/>
            <a:ext cx="4297680" cy="548640"/>
          </a:xfrm>
          <a:prstGeom prst="rect">
            <a:avLst/>
          </a:prstGeom>
          <a:noFill/>
          <a:ln/>
        </p:spPr>
        <p:txBody>
          <a:bodyPr wrap="square" lIns="0" tIns="0" rIns="0" bIns="0" rtlCol="0" anchor="ctr"/>
          <a:lstStyle/>
          <a:p>
            <a:pPr indent="0" marL="0">
              <a:buNone/>
            </a:pPr>
            <a:r>
              <a:rPr lang="en-US" sz="1500" dirty="0">
                <a:solidFill>
                  <a:srgbClr val="5B6577"/>
                </a:solidFill>
                <a:latin typeface="Calibri" pitchFamily="34" charset="0"/>
                <a:ea typeface="Calibri" pitchFamily="34" charset="-122"/>
                <a:cs typeface="Calibri" pitchFamily="34" charset="-120"/>
              </a:rPr>
              <a:t>suivre l'évolution des comptes</a:t>
            </a:r>
            <a:endParaRPr lang="en-US" sz="1500" dirty="0"/>
          </a:p>
        </p:txBody>
      </p:sp>
      <p:sp>
        <p:nvSpPr>
          <p:cNvPr id="22" name="a7_i_disc"/>
          <p:cNvSpPr/>
          <p:nvPr/>
        </p:nvSpPr>
        <p:spPr>
          <a:xfrm>
            <a:off x="6309360" y="3291840"/>
            <a:ext cx="777240" cy="777240"/>
          </a:xfrm>
          <a:prstGeom prst="ellipse">
            <a:avLst/>
          </a:prstGeom>
          <a:solidFill>
            <a:srgbClr val="00A99D"/>
          </a:solidFill>
          <a:ln w="12700">
            <a:solidFill>
              <a:srgbClr val="00A99D"/>
            </a:solidFill>
            <a:prstDash val="solid"/>
          </a:ln>
        </p:spPr>
      </p:sp>
      <p:pic>
        <p:nvPicPr>
          <p:cNvPr id="23" name="a7_i_icon" descr="preencoded.png">    </p:cNvPr>
          <p:cNvPicPr>
            <a:picLocks noChangeAspect="1"/>
          </p:cNvPicPr>
          <p:nvPr/>
        </p:nvPicPr>
        <p:blipFill>
          <a:blip r:embed="rId5"/>
          <a:stretch>
            <a:fillRect/>
          </a:stretch>
        </p:blipFill>
        <p:spPr>
          <a:xfrm>
            <a:off x="6495898" y="3478378"/>
            <a:ext cx="404165" cy="404165"/>
          </a:xfrm>
          <a:prstGeom prst="rect">
            <a:avLst/>
          </a:prstGeom>
        </p:spPr>
      </p:pic>
      <p:sp>
        <p:nvSpPr>
          <p:cNvPr id="24" name="a7_t"/>
          <p:cNvSpPr txBox="1"/>
          <p:nvPr/>
        </p:nvSpPr>
        <p:spPr>
          <a:xfrm>
            <a:off x="7269480" y="3291840"/>
            <a:ext cx="4297680" cy="411480"/>
          </a:xfrm>
          <a:prstGeom prst="rect">
            <a:avLst/>
          </a:prstGeom>
          <a:noFill/>
          <a:ln/>
        </p:spPr>
        <p:txBody>
          <a:bodyPr wrap="square" lIns="0" tIns="0" rIns="0" bIns="0" rtlCol="0" anchor="ctr"/>
          <a:lstStyle/>
          <a:p>
            <a:pPr indent="0" marL="0">
              <a:buNone/>
            </a:pPr>
            <a:r>
              <a:rPr lang="en-US" sz="1800" b="1" dirty="0">
                <a:solidFill>
                  <a:srgbClr val="1B2333"/>
                </a:solidFill>
                <a:latin typeface="Calibri" pitchFamily="34" charset="0"/>
                <a:ea typeface="Calibri" pitchFamily="34" charset="-122"/>
                <a:cs typeface="Calibri" pitchFamily="34" charset="-120"/>
              </a:rPr>
              <a:t>Apprentissage fédéré</a:t>
            </a:r>
            <a:endParaRPr lang="en-US" sz="1800" dirty="0"/>
          </a:p>
        </p:txBody>
      </p:sp>
      <p:sp>
        <p:nvSpPr>
          <p:cNvPr id="25" name="a7_d"/>
          <p:cNvSpPr txBox="1"/>
          <p:nvPr/>
        </p:nvSpPr>
        <p:spPr>
          <a:xfrm>
            <a:off x="7269480" y="3703320"/>
            <a:ext cx="4297680" cy="548640"/>
          </a:xfrm>
          <a:prstGeom prst="rect">
            <a:avLst/>
          </a:prstGeom>
          <a:noFill/>
          <a:ln/>
        </p:spPr>
        <p:txBody>
          <a:bodyPr wrap="square" lIns="0" tIns="0" rIns="0" bIns="0" rtlCol="0" anchor="ctr"/>
          <a:lstStyle/>
          <a:p>
            <a:pPr indent="0" marL="0">
              <a:buNone/>
            </a:pPr>
            <a:r>
              <a:rPr lang="en-US" sz="1500" dirty="0">
                <a:solidFill>
                  <a:srgbClr val="5B6577"/>
                </a:solidFill>
                <a:latin typeface="Calibri" pitchFamily="34" charset="0"/>
                <a:ea typeface="Calibri" pitchFamily="34" charset="-122"/>
                <a:cs typeface="Calibri" pitchFamily="34" charset="-120"/>
              </a:rPr>
              <a:t>plusieurs banques sans partager leurs données</a:t>
            </a:r>
            <a:endParaRPr lang="en-US" sz="1500" dirty="0"/>
          </a:p>
        </p:txBody>
      </p:sp>
      <p:sp>
        <p:nvSpPr>
          <p:cNvPr id="26" name="a8_i_disc"/>
          <p:cNvSpPr/>
          <p:nvPr/>
        </p:nvSpPr>
        <p:spPr>
          <a:xfrm>
            <a:off x="6309360" y="4663440"/>
            <a:ext cx="777240" cy="777240"/>
          </a:xfrm>
          <a:prstGeom prst="ellipse">
            <a:avLst/>
          </a:prstGeom>
          <a:solidFill>
            <a:srgbClr val="00A99D"/>
          </a:solidFill>
          <a:ln w="12700">
            <a:solidFill>
              <a:srgbClr val="00A99D"/>
            </a:solidFill>
            <a:prstDash val="solid"/>
          </a:ln>
        </p:spPr>
      </p:sp>
      <p:pic>
        <p:nvPicPr>
          <p:cNvPr id="27" name="a8_i_icon" descr="preencoded.png">    </p:cNvPr>
          <p:cNvPicPr>
            <a:picLocks noChangeAspect="1"/>
          </p:cNvPicPr>
          <p:nvPr/>
        </p:nvPicPr>
        <p:blipFill>
          <a:blip r:embed="rId6"/>
          <a:stretch>
            <a:fillRect/>
          </a:stretch>
        </p:blipFill>
        <p:spPr>
          <a:xfrm>
            <a:off x="6495898" y="4849978"/>
            <a:ext cx="404165" cy="404165"/>
          </a:xfrm>
          <a:prstGeom prst="rect">
            <a:avLst/>
          </a:prstGeom>
        </p:spPr>
      </p:pic>
      <p:sp>
        <p:nvSpPr>
          <p:cNvPr id="28" name="a8_t"/>
          <p:cNvSpPr txBox="1"/>
          <p:nvPr/>
        </p:nvSpPr>
        <p:spPr>
          <a:xfrm>
            <a:off x="7269480" y="4663440"/>
            <a:ext cx="4297680" cy="411480"/>
          </a:xfrm>
          <a:prstGeom prst="rect">
            <a:avLst/>
          </a:prstGeom>
          <a:noFill/>
          <a:ln/>
        </p:spPr>
        <p:txBody>
          <a:bodyPr wrap="square" lIns="0" tIns="0" rIns="0" bIns="0" rtlCol="0" anchor="ctr"/>
          <a:lstStyle/>
          <a:p>
            <a:pPr indent="0" marL="0">
              <a:buNone/>
            </a:pPr>
            <a:r>
              <a:rPr lang="en-US" sz="1800" b="1" dirty="0">
                <a:solidFill>
                  <a:srgbClr val="1B2333"/>
                </a:solidFill>
                <a:latin typeface="Calibri" pitchFamily="34" charset="0"/>
                <a:ea typeface="Calibri" pitchFamily="34" charset="-122"/>
                <a:cs typeface="Calibri" pitchFamily="34" charset="-120"/>
              </a:rPr>
              <a:t>Données réelles</a:t>
            </a:r>
            <a:endParaRPr lang="en-US" sz="1800" dirty="0"/>
          </a:p>
        </p:txBody>
      </p:sp>
      <p:sp>
        <p:nvSpPr>
          <p:cNvPr id="29" name="a8_d"/>
          <p:cNvSpPr txBox="1"/>
          <p:nvPr/>
        </p:nvSpPr>
        <p:spPr>
          <a:xfrm>
            <a:off x="7269480" y="5074920"/>
            <a:ext cx="4297680" cy="548640"/>
          </a:xfrm>
          <a:prstGeom prst="rect">
            <a:avLst/>
          </a:prstGeom>
          <a:noFill/>
          <a:ln/>
        </p:spPr>
        <p:txBody>
          <a:bodyPr wrap="square" lIns="0" tIns="0" rIns="0" bIns="0" rtlCol="0" anchor="ctr"/>
          <a:lstStyle/>
          <a:p>
            <a:pPr indent="0" marL="0">
              <a:buNone/>
            </a:pPr>
            <a:r>
              <a:rPr lang="en-US" sz="1500" dirty="0">
                <a:solidFill>
                  <a:srgbClr val="5B6577"/>
                </a:solidFill>
                <a:latin typeface="Calibri" pitchFamily="34" charset="0"/>
                <a:ea typeface="Calibri" pitchFamily="34" charset="-122"/>
                <a:cs typeface="Calibri" pitchFamily="34" charset="-120"/>
              </a:rPr>
              <a:t>validation avec une institution partenaire</a:t>
            </a:r>
            <a:endParaRPr lang="en-US" sz="15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childTnLst>
                          </p:cTn>
                        </p:par>
                        <p:par>
                          <p:cTn id="8" fill="hold">
                            <p:stCondLst>
                              <p:cond delay="350"/>
                            </p:stCondLst>
                            <p:childTnLst>
                              <p:par>
                                <p:cTn id="9" presetID="10" presetClass="entr" presetSubtype="0" fill="hold" grpId="0"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childTnLst>
                                </p:cTn>
                              </p:par>
                              <p:par>
                                <p:cTn id="12" presetID="10" presetClass="entr" presetSubtype="0" fill="hold" grpId="0" nodeType="with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500"/>
                                        <p:tgtEl>
                                          <p:spTgt spid="6"/>
                                        </p:tgtEl>
                                      </p:cBhvr>
                                    </p:animEffect>
                                  </p:childTnLst>
                                </p:cTn>
                              </p:par>
                              <p:par>
                                <p:cTn id="15" presetID="10" presetClass="entr" presetSubtype="0" fill="hold" grpId="0"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500"/>
                                        <p:tgtEl>
                                          <p:spTgt spid="7"/>
                                        </p:tgtEl>
                                      </p:cBhvr>
                                    </p:animEffect>
                                  </p:childTnLst>
                                </p:cTn>
                              </p:par>
                              <p:par>
                                <p:cTn id="18" presetID="10" presetClass="entr" presetSubtype="0" fill="hold" grpId="0" nodeType="with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500"/>
                                        <p:tgtEl>
                                          <p:spTgt spid="8"/>
                                        </p:tgtEl>
                                      </p:cBhvr>
                                    </p:animEffect>
                                  </p:childTnLst>
                                </p:cTn>
                              </p:par>
                            </p:childTnLst>
                          </p:cTn>
                        </p:par>
                        <p:par>
                          <p:cTn id="21" fill="hold">
                            <p:stCondLst>
                              <p:cond delay="700"/>
                            </p:stCondLst>
                            <p:childTnLst>
                              <p:par>
                                <p:cTn id="22" presetID="10" presetClass="entr" presetSubtype="0" fill="hold" grpId="0" nodeType="after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childTnLst>
                          </p:cTn>
                        </p:par>
                        <p:par>
                          <p:cTn id="34" fill="hold">
                            <p:stCondLst>
                              <p:cond delay="1050"/>
                            </p:stCondLst>
                            <p:childTnLst>
                              <p:par>
                                <p:cTn id="35" presetID="10" presetClass="entr" presetSubtype="0" fill="hold" grpId="0" nodeType="afterEffect">
                                  <p:stCondLst>
                                    <p:cond delay="0"/>
                                  </p:stCondLst>
                                  <p:childTnLst>
                                    <p:set>
                                      <p:cBhvr>
                                        <p:cTn id="36" dur="1" fill="hold">
                                          <p:stCondLst>
                                            <p:cond delay="0"/>
                                          </p:stCondLst>
                                        </p:cTn>
                                        <p:tgtEl>
                                          <p:spTgt spid="13"/>
                                        </p:tgtEl>
                                        <p:attrNameLst>
                                          <p:attrName>style.visibility</p:attrName>
                                        </p:attrNameLst>
                                      </p:cBhvr>
                                      <p:to>
                                        <p:strVal val="visible"/>
                                      </p:to>
                                    </p:set>
                                    <p:animEffect transition="in" filter="fade">
                                      <p:cBhvr>
                                        <p:cTn id="37" dur="500"/>
                                        <p:tgtEl>
                                          <p:spTgt spid="13"/>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4"/>
                                        </p:tgtEl>
                                        <p:attrNameLst>
                                          <p:attrName>style.visibility</p:attrName>
                                        </p:attrNameLst>
                                      </p:cBhvr>
                                      <p:to>
                                        <p:strVal val="visible"/>
                                      </p:to>
                                    </p:set>
                                    <p:animEffect transition="in" filter="fade">
                                      <p:cBhvr>
                                        <p:cTn id="40" dur="500"/>
                                        <p:tgtEl>
                                          <p:spTgt spid="14"/>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500"/>
                                        <p:tgtEl>
                                          <p:spTgt spid="15"/>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500"/>
                                        <p:tgtEl>
                                          <p:spTgt spid="16"/>
                                        </p:tgtEl>
                                      </p:cBhvr>
                                    </p:animEffect>
                                  </p:childTnLst>
                                </p:cTn>
                              </p:par>
                            </p:childTnLst>
                          </p:cTn>
                        </p:par>
                        <p:par>
                          <p:cTn id="47" fill="hold">
                            <p:stCondLst>
                              <p:cond delay="1400"/>
                            </p:stCondLst>
                            <p:childTnLst>
                              <p:par>
                                <p:cTn id="48" presetID="10" presetClass="entr" presetSubtype="0" fill="hold" grpId="0" nodeType="after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childTnLst>
                          </p:cTn>
                        </p:par>
                        <p:par>
                          <p:cTn id="51" fill="hold">
                            <p:stCondLst>
                              <p:cond delay="1750"/>
                            </p:stCondLst>
                            <p:childTnLst>
                              <p:par>
                                <p:cTn id="52" presetID="10" presetClass="entr" presetSubtype="0" fill="hold" grpId="0" nodeType="afterEffect">
                                  <p:stCondLst>
                                    <p:cond delay="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500"/>
                                        <p:tgtEl>
                                          <p:spTgt spid="18"/>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5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5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500"/>
                                        <p:tgtEl>
                                          <p:spTgt spid="21"/>
                                        </p:tgtEl>
                                      </p:cBhvr>
                                    </p:animEffect>
                                  </p:childTnLst>
                                </p:cTn>
                              </p:par>
                            </p:childTnLst>
                          </p:cTn>
                        </p:par>
                        <p:par>
                          <p:cTn id="64" fill="hold">
                            <p:stCondLst>
                              <p:cond delay="2100"/>
                            </p:stCondLst>
                            <p:childTnLst>
                              <p:par>
                                <p:cTn id="65" presetID="10" presetClass="entr" presetSubtype="0" fill="hold" grpId="0" nodeType="after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500"/>
                                        <p:tgtEl>
                                          <p:spTgt spid="24"/>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5"/>
                                        </p:tgtEl>
                                        <p:attrNameLst>
                                          <p:attrName>style.visibility</p:attrName>
                                        </p:attrNameLst>
                                      </p:cBhvr>
                                      <p:to>
                                        <p:strVal val="visible"/>
                                      </p:to>
                                    </p:set>
                                    <p:animEffect transition="in" filter="fade">
                                      <p:cBhvr>
                                        <p:cTn id="76" dur="500"/>
                                        <p:tgtEl>
                                          <p:spTgt spid="25"/>
                                        </p:tgtEl>
                                      </p:cBhvr>
                                    </p:animEffect>
                                  </p:childTnLst>
                                </p:cTn>
                              </p:par>
                            </p:childTnLst>
                          </p:cTn>
                        </p:par>
                        <p:par>
                          <p:cTn id="77" fill="hold">
                            <p:stCondLst>
                              <p:cond delay="2450"/>
                            </p:stCondLst>
                            <p:childTnLst>
                              <p:par>
                                <p:cTn id="78" presetID="10" presetClass="entr" presetSubtype="0" fill="hold" grpId="0" nodeType="afterEffect">
                                  <p:stCondLst>
                                    <p:cond delay="0"/>
                                  </p:stCondLst>
                                  <p:childTnLst>
                                    <p:set>
                                      <p:cBhvr>
                                        <p:cTn id="79" dur="1" fill="hold">
                                          <p:stCondLst>
                                            <p:cond delay="0"/>
                                          </p:stCondLst>
                                        </p:cTn>
                                        <p:tgtEl>
                                          <p:spTgt spid="26"/>
                                        </p:tgtEl>
                                        <p:attrNameLst>
                                          <p:attrName>style.visibility</p:attrName>
                                        </p:attrNameLst>
                                      </p:cBhvr>
                                      <p:to>
                                        <p:strVal val="visible"/>
                                      </p:to>
                                    </p:set>
                                    <p:animEffect transition="in" filter="fade">
                                      <p:cBhvr>
                                        <p:cTn id="80" dur="500"/>
                                        <p:tgtEl>
                                          <p:spTgt spid="26"/>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27"/>
                                        </p:tgtEl>
                                        <p:attrNameLst>
                                          <p:attrName>style.visibility</p:attrName>
                                        </p:attrNameLst>
                                      </p:cBhvr>
                                      <p:to>
                                        <p:strVal val="visible"/>
                                      </p:to>
                                    </p:set>
                                    <p:animEffect transition="in" filter="fade">
                                      <p:cBhvr>
                                        <p:cTn id="83" dur="500"/>
                                        <p:tgtEl>
                                          <p:spTgt spid="27"/>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28"/>
                                        </p:tgtEl>
                                        <p:attrNameLst>
                                          <p:attrName>style.visibility</p:attrName>
                                        </p:attrNameLst>
                                      </p:cBhvr>
                                      <p:to>
                                        <p:strVal val="visible"/>
                                      </p:to>
                                    </p:set>
                                    <p:animEffect transition="in" filter="fade">
                                      <p:cBhvr>
                                        <p:cTn id="86" dur="500"/>
                                        <p:tgtEl>
                                          <p:spTgt spid="28"/>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29"/>
                                        </p:tgtEl>
                                        <p:attrNameLst>
                                          <p:attrName>style.visibility</p:attrName>
                                        </p:attrNameLst>
                                      </p:cBhvr>
                                      <p:to>
                                        <p:strVal val="visible"/>
                                      </p:to>
                                    </p:set>
                                    <p:animEffect transition="in" filter="fade">
                                      <p:cBhvr>
                                        <p:cTn id="89"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P spid="8" grpId="0" animBg="1"/>
      <p:bldP spid="9" grpId="0" animBg="1"/>
      <p:bldP spid="11" grpId="0" animBg="1"/>
      <p:bldP spid="12" grpId="0" animBg="1"/>
      <p:bldP spid="13" grpId="0" animBg="1"/>
      <p:bldP spid="15" grpId="0" animBg="1"/>
      <p:bldP spid="16" grpId="0" animBg="1"/>
      <p:bldP spid="17" grpId="0" animBg="1"/>
      <p:bldP spid="18" grpId="0" animBg="1"/>
      <p:bldP spid="20" grpId="0" animBg="1"/>
      <p:bldP spid="21" grpId="0" animBg="1"/>
      <p:bldP spid="22" grpId="0" animBg="1"/>
      <p:bldP spid="24" grpId="0" animBg="1"/>
      <p:bldP spid="25" grpId="0" animBg="1"/>
      <p:bldP spid="26" grpId="0" animBg="1"/>
      <p:bldP spid="28" grpId="0" animBg="1"/>
      <p:bldP spid="29"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D3A"/>
        </a:solidFill>
      </p:bgPr>
    </p:bg>
    <p:spTree>
      <p:nvGrpSpPr>
        <p:cNvPr id="1" name=""/>
        <p:cNvGrpSpPr/>
        <p:nvPr/>
      </p:nvGrpSpPr>
      <p:grpSpPr>
        <a:xfrm>
          <a:off x="0" y="0"/>
          <a:ext cx="0" cy="0"/>
          <a:chOff x="0" y="0"/>
          <a:chExt cx="0" cy="0"/>
        </a:xfrm>
      </p:grpSpPr>
      <p:sp>
        <p:nvSpPr>
          <p:cNvPr id="2" name="page"/>
          <p:cNvSpPr txBox="1"/>
          <p:nvPr/>
        </p:nvSpPr>
        <p:spPr>
          <a:xfrm>
            <a:off x="11368735" y="6400800"/>
            <a:ext cx="457200" cy="274320"/>
          </a:xfrm>
          <a:prstGeom prst="rect">
            <a:avLst/>
          </a:prstGeom>
          <a:noFill/>
          <a:ln/>
        </p:spPr>
        <p:txBody>
          <a:bodyPr wrap="square" lIns="0" tIns="0" rIns="0" bIns="0" rtlCol="0" anchor="ctr"/>
          <a:lstStyle/>
          <a:p>
            <a:pPr algn="r" indent="0" marL="0">
              <a:buNone/>
            </a:pPr>
            <a:r>
              <a:rPr lang="en-US" sz="1100" dirty="0">
                <a:solidFill>
                  <a:srgbClr val="C9D3E6"/>
                </a:solidFill>
                <a:latin typeface="Calibri" pitchFamily="34" charset="0"/>
                <a:ea typeface="Calibri" pitchFamily="34" charset="-122"/>
                <a:cs typeface="Calibri" pitchFamily="34" charset="-120"/>
              </a:rPr>
              <a:t>16</a:t>
            </a:r>
            <a:endParaRPr lang="en-US" sz="1100" dirty="0"/>
          </a:p>
        </p:txBody>
      </p:sp>
      <p:sp>
        <p:nvSpPr>
          <p:cNvPr id="3" name="a1_loop_e0"/>
          <p:cNvSpPr/>
          <p:nvPr/>
        </p:nvSpPr>
        <p:spPr>
          <a:xfrm flipV="1">
            <a:off x="8829013" y="1049833"/>
            <a:ext cx="1084760" cy="723173"/>
          </a:xfrm>
          <a:prstGeom prst="line">
            <a:avLst/>
          </a:prstGeom>
          <a:noFill/>
          <a:ln w="22225">
            <a:solidFill>
              <a:srgbClr val="8A95A8"/>
            </a:solidFill>
            <a:prstDash val="solid"/>
            <a:tailEnd type="triangle"/>
          </a:ln>
        </p:spPr>
      </p:sp>
      <p:sp>
        <p:nvSpPr>
          <p:cNvPr id="4" name="a1_loop_e1"/>
          <p:cNvSpPr/>
          <p:nvPr/>
        </p:nvSpPr>
        <p:spPr>
          <a:xfrm>
            <a:off x="10096371" y="1039688"/>
            <a:ext cx="1084760" cy="723173"/>
          </a:xfrm>
          <a:prstGeom prst="line">
            <a:avLst/>
          </a:prstGeom>
          <a:noFill/>
          <a:ln w="22225">
            <a:solidFill>
              <a:srgbClr val="8A95A8"/>
            </a:solidFill>
            <a:prstDash val="solid"/>
            <a:tailEnd type="triangle"/>
          </a:ln>
        </p:spPr>
      </p:sp>
      <p:sp>
        <p:nvSpPr>
          <p:cNvPr id="5" name="a1_loop_e2"/>
          <p:cNvSpPr/>
          <p:nvPr/>
        </p:nvSpPr>
        <p:spPr>
          <a:xfrm flipH="1">
            <a:off x="10111587" y="1884594"/>
            <a:ext cx="1084760" cy="723173"/>
          </a:xfrm>
          <a:prstGeom prst="line">
            <a:avLst/>
          </a:prstGeom>
          <a:noFill/>
          <a:ln w="22225">
            <a:solidFill>
              <a:srgbClr val="8A95A8"/>
            </a:solidFill>
            <a:prstDash val="solid"/>
            <a:tailEnd type="triangle"/>
          </a:ln>
        </p:spPr>
      </p:sp>
      <p:sp>
        <p:nvSpPr>
          <p:cNvPr id="6" name="a1_loop_e3"/>
          <p:cNvSpPr/>
          <p:nvPr/>
        </p:nvSpPr>
        <p:spPr>
          <a:xfrm flipH="1" flipV="1">
            <a:off x="8844229" y="1894738"/>
            <a:ext cx="1084760" cy="723173"/>
          </a:xfrm>
          <a:prstGeom prst="line">
            <a:avLst/>
          </a:prstGeom>
          <a:noFill/>
          <a:ln w="22225">
            <a:solidFill>
              <a:srgbClr val="8A95A8"/>
            </a:solidFill>
            <a:prstDash val="solid"/>
            <a:tailEnd type="triangle"/>
          </a:ln>
        </p:spPr>
      </p:sp>
      <p:sp>
        <p:nvSpPr>
          <p:cNvPr id="7" name="a1_loop_n0"/>
          <p:cNvSpPr/>
          <p:nvPr/>
        </p:nvSpPr>
        <p:spPr>
          <a:xfrm>
            <a:off x="8644738" y="1728216"/>
            <a:ext cx="201168" cy="201168"/>
          </a:xfrm>
          <a:prstGeom prst="ellipse">
            <a:avLst/>
          </a:prstGeom>
          <a:solidFill>
            <a:srgbClr val="F2545B"/>
          </a:solidFill>
          <a:ln w="19050">
            <a:solidFill>
              <a:srgbClr val="FFFFFF"/>
            </a:solidFill>
            <a:prstDash val="solid"/>
          </a:ln>
        </p:spPr>
      </p:sp>
      <p:sp>
        <p:nvSpPr>
          <p:cNvPr id="8" name="a1_loop_n1"/>
          <p:cNvSpPr/>
          <p:nvPr/>
        </p:nvSpPr>
        <p:spPr>
          <a:xfrm>
            <a:off x="9912096" y="883310"/>
            <a:ext cx="201168" cy="201168"/>
          </a:xfrm>
          <a:prstGeom prst="ellipse">
            <a:avLst/>
          </a:prstGeom>
          <a:solidFill>
            <a:srgbClr val="F2545B"/>
          </a:solidFill>
          <a:ln w="19050">
            <a:solidFill>
              <a:srgbClr val="FFFFFF"/>
            </a:solidFill>
            <a:prstDash val="solid"/>
          </a:ln>
        </p:spPr>
      </p:sp>
      <p:sp>
        <p:nvSpPr>
          <p:cNvPr id="9" name="a1_loop_n2"/>
          <p:cNvSpPr/>
          <p:nvPr/>
        </p:nvSpPr>
        <p:spPr>
          <a:xfrm>
            <a:off x="11179454" y="1728216"/>
            <a:ext cx="201168" cy="201168"/>
          </a:xfrm>
          <a:prstGeom prst="ellipse">
            <a:avLst/>
          </a:prstGeom>
          <a:solidFill>
            <a:srgbClr val="F2545B"/>
          </a:solidFill>
          <a:ln w="19050">
            <a:solidFill>
              <a:srgbClr val="FFFFFF"/>
            </a:solidFill>
            <a:prstDash val="solid"/>
          </a:ln>
        </p:spPr>
      </p:sp>
      <p:sp>
        <p:nvSpPr>
          <p:cNvPr id="10" name="a1_loop_n3"/>
          <p:cNvSpPr/>
          <p:nvPr/>
        </p:nvSpPr>
        <p:spPr>
          <a:xfrm>
            <a:off x="9912096" y="2573122"/>
            <a:ext cx="201168" cy="201168"/>
          </a:xfrm>
          <a:prstGeom prst="ellipse">
            <a:avLst/>
          </a:prstGeom>
          <a:solidFill>
            <a:srgbClr val="F5B700"/>
          </a:solidFill>
          <a:ln w="19050">
            <a:solidFill>
              <a:srgbClr val="FFFFFF"/>
            </a:solidFill>
            <a:prstDash val="solid"/>
          </a:ln>
        </p:spPr>
      </p:sp>
      <p:sp>
        <p:nvSpPr>
          <p:cNvPr id="11" name="a2_t"/>
          <p:cNvSpPr txBox="1"/>
          <p:nvPr/>
        </p:nvSpPr>
        <p:spPr>
          <a:xfrm>
            <a:off x="640080" y="1828800"/>
            <a:ext cx="7315200" cy="1188720"/>
          </a:xfrm>
          <a:prstGeom prst="rect">
            <a:avLst/>
          </a:prstGeom>
          <a:noFill/>
          <a:ln/>
        </p:spPr>
        <p:txBody>
          <a:bodyPr wrap="square" lIns="0" tIns="0" rIns="0" bIns="0" rtlCol="0" anchor="ctr"/>
          <a:lstStyle/>
          <a:p>
            <a:pPr indent="0" marL="0">
              <a:buNone/>
            </a:pPr>
            <a:r>
              <a:rPr lang="en-US" sz="6600" b="1" dirty="0">
                <a:solidFill>
                  <a:srgbClr val="FFFFFF"/>
                </a:solidFill>
                <a:latin typeface="Cambria" pitchFamily="34" charset="0"/>
                <a:ea typeface="Cambria" pitchFamily="34" charset="-122"/>
                <a:cs typeface="Cambria" pitchFamily="34" charset="-120"/>
              </a:rPr>
              <a:t>Merci</a:t>
            </a:r>
            <a:endParaRPr lang="en-US" sz="6600" dirty="0"/>
          </a:p>
        </p:txBody>
      </p:sp>
      <p:sp>
        <p:nvSpPr>
          <p:cNvPr id="12" name="a3_q"/>
          <p:cNvSpPr txBox="1"/>
          <p:nvPr/>
        </p:nvSpPr>
        <p:spPr>
          <a:xfrm>
            <a:off x="640080" y="3017520"/>
            <a:ext cx="7315200" cy="822960"/>
          </a:xfrm>
          <a:prstGeom prst="rect">
            <a:avLst/>
          </a:prstGeom>
          <a:noFill/>
          <a:ln/>
        </p:spPr>
        <p:txBody>
          <a:bodyPr wrap="square" lIns="0" tIns="0" rIns="0" bIns="0" rtlCol="0" anchor="ctr"/>
          <a:lstStyle/>
          <a:p>
            <a:pPr indent="0" marL="0">
              <a:buNone/>
            </a:pPr>
            <a:r>
              <a:rPr lang="en-US" sz="3200" dirty="0">
                <a:solidFill>
                  <a:srgbClr val="7FE3D8"/>
                </a:solidFill>
                <a:latin typeface="Calibri" pitchFamily="34" charset="0"/>
                <a:ea typeface="Calibri" pitchFamily="34" charset="-122"/>
                <a:cs typeface="Calibri" pitchFamily="34" charset="-120"/>
              </a:rPr>
              <a:t>Questions ?</a:t>
            </a:r>
            <a:endParaRPr lang="en-US" sz="3200" dirty="0"/>
          </a:p>
        </p:txBody>
      </p:sp>
      <p:sp>
        <p:nvSpPr>
          <p:cNvPr id="13" name="a4_c"/>
          <p:cNvSpPr/>
          <p:nvPr/>
        </p:nvSpPr>
        <p:spPr>
          <a:xfrm>
            <a:off x="640080" y="4480560"/>
            <a:ext cx="7498080" cy="914400"/>
          </a:xfrm>
          <a:prstGeom prst="roundRect">
            <a:avLst>
              <a:gd name="adj" fmla="val 12000"/>
            </a:avLst>
          </a:prstGeom>
          <a:solidFill>
            <a:srgbClr val="16305C"/>
          </a:solidFill>
          <a:ln w="12700">
            <a:solidFill>
              <a:srgbClr val="16305C"/>
            </a:solidFill>
            <a:prstDash val="solid"/>
          </a:ln>
          <a:effectLst>
            <a:outerShdw sx="100000" sy="100000" kx="0" ky="0" algn="bl" rotWithShape="0" blurRad="76200" dist="25400" dir="5400000">
              <a:srgbClr val="9AA7BD">
                <a:alpha val="35000"/>
              </a:srgbClr>
            </a:outerShdw>
          </a:effectLst>
        </p:spPr>
      </p:sp>
      <p:sp>
        <p:nvSpPr>
          <p:cNvPr id="14" name="a4_cmd"/>
          <p:cNvSpPr txBox="1"/>
          <p:nvPr/>
        </p:nvSpPr>
        <p:spPr>
          <a:xfrm>
            <a:off x="868680" y="4480560"/>
            <a:ext cx="7132320" cy="914400"/>
          </a:xfrm>
          <a:prstGeom prst="rect">
            <a:avLst/>
          </a:prstGeom>
          <a:noFill/>
          <a:ln/>
        </p:spPr>
        <p:txBody>
          <a:bodyPr wrap="square" lIns="0" tIns="0" rIns="0" bIns="0" rtlCol="0" anchor="ctr"/>
          <a:lstStyle/>
          <a:p>
            <a:pPr indent="0" marL="0">
              <a:buNone/>
            </a:pPr>
            <a:r>
              <a:rPr lang="en-US" sz="2200" dirty="0">
                <a:solidFill>
                  <a:srgbClr val="F5B700"/>
                </a:solidFill>
                <a:latin typeface="Courier New" pitchFamily="34" charset="0"/>
                <a:ea typeface="Courier New" pitchFamily="34" charset="-122"/>
                <a:cs typeface="Courier New" pitchFamily="34" charset="-120"/>
              </a:rPr>
              <a:t>amlgm serve --demo --open-browser</a:t>
            </a:r>
            <a:endParaRPr lang="en-US" sz="2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childTnLst>
                          </p:cTn>
                        </p:par>
                        <p:par>
                          <p:cTn id="29" fill="hold">
                            <p:stCondLst>
                              <p:cond delay="350"/>
                            </p:stCondLst>
                            <p:childTnLst>
                              <p:par>
                                <p:cTn id="30" presetID="10" presetClass="entr" presetSubtype="0" fill="hold" grpId="0" nodeType="after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childTnLst>
                                </p:cTn>
                              </p:par>
                            </p:childTnLst>
                          </p:cTn>
                        </p:par>
                        <p:par>
                          <p:cTn id="33" fill="hold">
                            <p:stCondLst>
                              <p:cond delay="700"/>
                            </p:stCondLst>
                            <p:childTnLst>
                              <p:par>
                                <p:cTn id="34" presetID="10" presetClass="entr" presetSubtype="0" fill="hold" grpId="0" nodeType="after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00"/>
                                        <p:tgtEl>
                                          <p:spTgt spid="12"/>
                                        </p:tgtEl>
                                      </p:cBhvr>
                                    </p:animEffect>
                                  </p:childTnLst>
                                </p:cTn>
                              </p:par>
                            </p:childTnLst>
                          </p:cTn>
                        </p:par>
                        <p:par>
                          <p:cTn id="37" fill="hold">
                            <p:stCondLst>
                              <p:cond delay="1050"/>
                            </p:stCondLst>
                            <p:childTnLst>
                              <p:par>
                                <p:cTn id="38" presetID="10" presetClass="entr" presetSubtype="0" fill="hold" grpId="0" nodeType="after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P spid="6" grpId="0" animBg="1"/>
      <p:bldP spid="7" grpId="0" animBg="1"/>
      <p:bldP spid="8" grpId="0" animBg="1"/>
      <p:bldP spid="9" grpId="0" animBg="1"/>
      <p:bldP spid="10" grpId="0" animBg="1"/>
      <p:bldP spid="11" grpId="0" animBg="1"/>
      <p:bldP spid="12" grpId="0" animBg="1"/>
      <p:bldP spid="13" grpId="0" animBg="1"/>
      <p:bldP spid="14"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AML-GraphMiner — soutenance</dc:title>
  <dc:subject>PptxGenJS Presentation</dc:subject>
  <dc:creator>AML-GraphMiner</dc:creator>
  <cp:lastModifiedBy>AML-GraphMiner</cp:lastModifiedBy>
  <cp:revision>1</cp:revision>
  <dcterms:created xsi:type="dcterms:W3CDTF">2026-10-29T01:38:16Z</dcterms:created>
  <dcterms:modified xsi:type="dcterms:W3CDTF">2026-10-29T01:38:16Z</dcterms:modified>
</cp:coreProperties>
</file>